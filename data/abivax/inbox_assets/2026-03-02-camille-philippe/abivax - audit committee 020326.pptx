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103_95A24BDF.xml" ContentType="application/vnd.ms-powerpoint.comments+xml"/>
  <Override PartName="/ppt/notesSlides/notesSlide7.xml" ContentType="application/vnd.openxmlformats-officedocument.presentationml.notesSlide+xml"/>
  <Override PartName="/ppt/comments/modernComment_100_D362163.xml" ContentType="application/vnd.ms-powerpoint.comments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9" r:id="rId5"/>
  </p:sldMasterIdLst>
  <p:notesMasterIdLst>
    <p:notesMasterId r:id="rId20"/>
  </p:notesMasterIdLst>
  <p:sldIdLst>
    <p:sldId id="481" r:id="rId6"/>
    <p:sldId id="317" r:id="rId7"/>
    <p:sldId id="2147483635" r:id="rId8"/>
    <p:sldId id="2147483632" r:id="rId9"/>
    <p:sldId id="258" r:id="rId10"/>
    <p:sldId id="2147483642" r:id="rId11"/>
    <p:sldId id="2147483647" r:id="rId12"/>
    <p:sldId id="2147483646" r:id="rId13"/>
    <p:sldId id="2147483641" r:id="rId14"/>
    <p:sldId id="259" r:id="rId15"/>
    <p:sldId id="256" r:id="rId16"/>
    <p:sldId id="267" r:id="rId17"/>
    <p:sldId id="261" r:id="rId18"/>
    <p:sldId id="257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BEB662-3BEF-2FF7-D5D3-676661A3CDD0}" name="Girard, Camille" initials="CG" userId="S::camillegirard@kpmg.fr::63925eb6-c654-4533-8598-4b02ef07fa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233C"/>
    <a:srgbClr val="6956D4"/>
    <a:srgbClr val="FFFFFF"/>
    <a:srgbClr val="00338D"/>
    <a:srgbClr val="A89EE6"/>
    <a:srgbClr val="000000"/>
    <a:srgbClr val="624ED4"/>
    <a:srgbClr val="EDEDED"/>
    <a:srgbClr val="E2EFDA"/>
    <a:srgbClr val="DD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55E24A-5B34-4713-95B8-BE673B936668}" v="1268" dt="2026-03-02T17:14:40.399"/>
    <p1510:client id="{8103D832-D3F9-4199-BC81-D13ACE56FA7C}" v="3639" dt="2026-03-02T17:20:34.7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comments/modernComment_100_D36216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F96545C-2645-4A9C-BEC7-2C7F9E4BAD8F}" authorId="{79BEB662-3BEF-2FF7-D5D3-676661A3CDD0}" status="resolved" created="2026-03-02T10:57:19.787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21651299" sldId="256"/>
      <ac:graphicFrameMk id="6" creationId="{990DC399-4975-AF45-8F59-019F2B5ED834}"/>
    </ac:deMkLst>
    <p188:txBody>
      <a:bodyPr/>
      <a:lstStyle/>
      <a:p>
        <a:r>
          <a:rPr lang="fr-FR"/>
          <a:t>Ajouter note pour travel expenses en disant que ça doit être revu + note générae sur le fait que c’e n’est pas une vision finale de l’offre et que certains sujets doivent etre clarifies, notamment l’implémentation co^té e-invoicing</a:t>
        </a:r>
      </a:p>
    </p188:txBody>
  </p188:cm>
</p188:cmLst>
</file>

<file path=ppt/comments/modernComment_103_95A24BD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3D3F91-095E-4D6E-83EB-A23C1781071F}" authorId="{79BEB662-3BEF-2FF7-D5D3-676661A3CDD0}" status="resolved" created="2026-03-02T11:47:04.117" complete="100000">
    <pc:sldMkLst xmlns:pc="http://schemas.microsoft.com/office/powerpoint/2013/main/command">
      <pc:docMk/>
      <pc:sldMk cId="2510441439" sldId="259"/>
    </pc:sldMkLst>
    <p188:txBody>
      <a:bodyPr/>
      <a:lstStyle/>
      <a:p>
        <a:r>
          <a:rPr lang="fr-FR"/>
          <a:t>D’abord slide overview avec ce tableau + total run rotal Build nb de jours intégrateur et TJM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67914-8795-4E50-AC76-2A27A1BE5DBF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7A5726-22F0-4A9E-A273-1BFA1198C12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2198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F5F9A4-423F-4847-9D99-4A8B8B8C90D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9317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F5F9A4-423F-4847-9D99-4A8B8B8C90D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0793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3B556F-206A-4804-9AD4-50875417F87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793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Thelma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F5F9A4-423F-4847-9D99-4A8B8B8C90D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96863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E693E-4178-3281-7FD6-0BF797A17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1534ED-725D-4010-1530-716E7609A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B54672-7D1D-0C96-658C-105F76297F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CF4BE-1C7A-9B3B-81E1-0766CC295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3B556F-206A-4804-9AD4-50875417F87D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08642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96B16-08BF-94F7-EAC6-AD5850772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1DBAC08-23C6-E49E-7075-F2164A626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0BC1C8D-0223-1C99-7708-10C178631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Thelma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5B0941-ABD7-3B1B-74C7-B1C4ABFEF3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F5F9A4-423F-4847-9D99-4A8B8B8C90D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6912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1A46F-88EB-4C8D-05A0-9336F9773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2C0AF5B-2C68-1C46-DCAC-E921F0FEF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72AC73A-D89A-8C21-EFAC-A9D668406B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Camille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5499737-CAD9-A7ED-60EB-5DFDF8E16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F5F9A4-423F-4847-9D99-4A8B8B8C90D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7223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82ECC-D773-AB2F-D39B-B5652BFE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F9DCAFB-A12A-2326-4373-59D2611EC7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FB85F05-F27D-6B6E-3234-740ED56C3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Camille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D416E23-9DCA-C260-D751-FB0BF4925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F5F9A4-423F-4847-9D99-4A8B8B8C90D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3015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/>
          </p:cNvSpPr>
          <p:nvPr userDrawn="1"/>
        </p:nvSpPr>
        <p:spPr>
          <a:xfrm>
            <a:off x="998476" y="1485244"/>
            <a:ext cx="6277559" cy="4360622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74841" y="1764699"/>
            <a:ext cx="5719338" cy="2880000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KPMG Blue | </a:t>
            </a:r>
            <a:br>
              <a:rPr lang="en-GB"/>
            </a:br>
            <a:r>
              <a:rPr lang="en-GB"/>
              <a:t>Title slide text only</a:t>
            </a:r>
            <a:endParaRPr lang="en-US"/>
          </a:p>
        </p:txBody>
      </p:sp>
      <p:sp>
        <p:nvSpPr>
          <p:cNvPr id="7" name="Freeform 19">
            <a:extLst>
              <a:ext uri="{FF2B5EF4-FFF2-40B4-BE49-F238E27FC236}">
                <a16:creationId xmlns:a16="http://schemas.microsoft.com/office/drawing/2014/main" id="{A5A5FA9B-A901-4A1F-9358-436BDE66E0B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371311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274841" y="4752153"/>
            <a:ext cx="571933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0">
                <a:solidFill>
                  <a:schemeClr val="bg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32149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4449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6" name="Freeform 19">
            <a:extLst>
              <a:ext uri="{FF2B5EF4-FFF2-40B4-BE49-F238E27FC236}">
                <a16:creationId xmlns:a16="http://schemas.microsoft.com/office/drawing/2014/main" id="{989CBA86-3836-4832-B1AE-9FEA1A8FB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1" y="6266997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15E64-AC13-4D9A-A160-F698CCA8C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5" y="6266997"/>
            <a:ext cx="462306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© 2024 KPMG ADVISORY, société par actions simplifiée, membre français de l’organisation mondiale </a:t>
            </a:r>
            <a:b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</a:b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KPMG constituée de cabinets indépendants affiliés à KPMG International Limited, une société de droit </a:t>
            </a:r>
            <a:b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</a:b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anglais (« private </a:t>
            </a:r>
            <a:r>
              <a:rPr lang="fr-FR" sz="600" spc="-5" err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company</a:t>
            </a: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 </a:t>
            </a:r>
            <a:r>
              <a:rPr lang="fr-FR" sz="600" spc="-5" err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limited</a:t>
            </a: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 by </a:t>
            </a:r>
            <a:r>
              <a:rPr lang="fr-FR" sz="600" spc="-5" err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guarantee</a:t>
            </a: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 »). Tous droits réservés. Le nom et le logo KPMG sont </a:t>
            </a:r>
            <a:b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</a:b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des marques utilisées sous licence par les cabinets indépendants membres de l’organisation mondiale KPMG.</a:t>
            </a:r>
            <a:endParaRPr lang="en-US" sz="400" kern="1200" noProof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6A5C29-C797-4C37-9F34-9C206DC1B640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163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98400" y="1330126"/>
            <a:ext cx="10195200" cy="4546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59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dark Gradient">
    <p:bg>
      <p:bgPr>
        <a:gradFill>
          <a:gsLst>
            <a:gs pos="100000">
              <a:schemeClr val="accent1"/>
            </a:gs>
            <a:gs pos="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19">
            <a:extLst>
              <a:ext uri="{FF2B5EF4-FFF2-40B4-BE49-F238E27FC236}">
                <a16:creationId xmlns:a16="http://schemas.microsoft.com/office/drawing/2014/main" id="{C5124DCF-42F4-4BBE-BCAC-C24058AAE43A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371311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1E9CC-2A2B-4C75-8522-60824F3AC7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9012" y="3702050"/>
            <a:ext cx="6660000" cy="1843088"/>
          </a:xfrm>
        </p:spPr>
        <p:txBody>
          <a:bodyPr anchor="b"/>
          <a:lstStyle>
            <a:lvl1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8E01CBC1-FC71-43BD-845D-21EEEFA256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9012" y="3351965"/>
            <a:ext cx="2411738" cy="119064"/>
          </a:xfrm>
        </p:spPr>
        <p:txBody>
          <a:bodyPr/>
          <a:lstStyle>
            <a:lvl1pPr>
              <a:buFontTx/>
              <a:buNone/>
              <a:defRPr sz="1200" b="1">
                <a:solidFill>
                  <a:schemeClr val="bg1"/>
                </a:solidFill>
              </a:defRPr>
            </a:lvl1pPr>
            <a:lvl2pPr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2pPr>
            <a:lvl3pPr marL="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3pPr>
            <a:lvl4pPr marL="3456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4pPr>
            <a:lvl5pPr marL="5400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119696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1">
    <p:bg>
      <p:bgPr>
        <a:solidFill>
          <a:srgbClr val="003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499EBB9-9F37-4E4F-A46E-A453E970D66A}"/>
              </a:ext>
            </a:extLst>
          </p:cNvPr>
          <p:cNvSpPr/>
          <p:nvPr userDrawn="1"/>
        </p:nvSpPr>
        <p:spPr>
          <a:xfrm>
            <a:off x="1004888" y="762000"/>
            <a:ext cx="7524000" cy="534924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lvl="0"/>
            <a:endParaRPr lang="en-GB" sz="1500" err="1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40BCF3-D817-4EAC-8866-C2530BBB02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38925" y="2325831"/>
            <a:ext cx="6263956" cy="2300407"/>
          </a:xfrm>
        </p:spPr>
        <p:txBody>
          <a:bodyPr anchor="t" anchorCtr="0"/>
          <a:lstStyle>
            <a:lvl1pPr algn="l">
              <a:defRPr sz="88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Divider copy </a:t>
            </a:r>
            <a:br>
              <a:rPr lang="en-GB"/>
            </a:br>
            <a:r>
              <a:rPr lang="en-GB"/>
              <a:t>goes here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3CE8DB4-A186-4059-9C81-D90597F800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38925" y="5233260"/>
            <a:ext cx="6263956" cy="216000"/>
          </a:xfrm>
        </p:spPr>
        <p:txBody>
          <a:bodyPr/>
          <a:lstStyle>
            <a:lvl1pPr>
              <a:defRPr sz="1600" b="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0CEBDA0-4368-4F6C-8352-18BF87F8F0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38924" y="1339850"/>
            <a:ext cx="876300" cy="690562"/>
          </a:xfrm>
        </p:spPr>
        <p:txBody>
          <a:bodyPr/>
          <a:lstStyle>
            <a:lvl1pPr>
              <a:lnSpc>
                <a:spcPct val="70000"/>
              </a:lnSpc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GB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15EB5FA9-D117-4324-A3D4-5F62C3F1B10A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3" name="Freeform 19">
            <a:extLst>
              <a:ext uri="{FF2B5EF4-FFF2-40B4-BE49-F238E27FC236}">
                <a16:creationId xmlns:a16="http://schemas.microsoft.com/office/drawing/2014/main" id="{57ED9708-511F-4342-AFA6-8AD96CBF057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1" y="6266997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4261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343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ublications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E20D102-B539-8324-A9E2-0E2F6DCD9873}"/>
              </a:ext>
            </a:extLst>
          </p:cNvPr>
          <p:cNvSpPr/>
          <p:nvPr userDrawn="1"/>
        </p:nvSpPr>
        <p:spPr>
          <a:xfrm>
            <a:off x="409358" y="2917596"/>
            <a:ext cx="5565288" cy="326803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541" tIns="49541" rIns="49541" bIns="49541" rtlCol="0" anchor="ctr"/>
          <a:lstStyle/>
          <a:p>
            <a:pPr algn="l"/>
            <a:endParaRPr lang="fr-FR" sz="1361" err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D87B02-7CF7-4117-9A1B-AF20C9A914E9}"/>
              </a:ext>
            </a:extLst>
          </p:cNvPr>
          <p:cNvSpPr/>
          <p:nvPr userDrawn="1"/>
        </p:nvSpPr>
        <p:spPr>
          <a:xfrm>
            <a:off x="6171114" y="418249"/>
            <a:ext cx="5611529" cy="643975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5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471" tIns="53471" rIns="53471" bIns="53471" anchor="ctr"/>
          <a:lstStyle/>
          <a:p>
            <a:pPr defTabSz="90309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69" err="1">
              <a:solidFill>
                <a:schemeClr val="bg1"/>
              </a:solidFill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4905E83-B56F-7046-AAF1-CCFA8D767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673" y="936702"/>
            <a:ext cx="5275024" cy="88825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</a:t>
            </a:r>
            <a:br>
              <a:rPr lang="fr-FR"/>
            </a:br>
            <a:r>
              <a:rPr lang="fr-FR"/>
              <a:t>le style du titre</a:t>
            </a:r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62D797E-E8E7-A6C3-4A5D-CE4BB0B4CF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3673" y="1898583"/>
            <a:ext cx="5275024" cy="1491725"/>
          </a:xfrm>
          <a:prstGeom prst="rect">
            <a:avLst/>
          </a:prstGeom>
          <a:ln w="3175">
            <a:noFill/>
            <a:prstDash val="lgDash"/>
          </a:ln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907">
                <a:solidFill>
                  <a:schemeClr val="tx2"/>
                </a:solidFill>
              </a:defRPr>
            </a:lvl1pPr>
            <a:lvl2pPr>
              <a:spcBef>
                <a:spcPts val="544"/>
              </a:spcBef>
              <a:spcAft>
                <a:spcPts val="0"/>
              </a:spcAft>
              <a:defRPr sz="816">
                <a:solidFill>
                  <a:schemeClr val="tx1"/>
                </a:solidFill>
              </a:defRPr>
            </a:lvl2pPr>
            <a:lvl3pPr marL="241950" indent="-112334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726">
                <a:solidFill>
                  <a:schemeClr val="tx1"/>
                </a:solidFill>
              </a:defRPr>
            </a:lvl3pPr>
            <a:lvl4pPr>
              <a:buClr>
                <a:schemeClr val="bg1"/>
              </a:buClr>
              <a:defRPr sz="1077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77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niveau2</a:t>
            </a:r>
          </a:p>
        </p:txBody>
      </p:sp>
      <p:sp>
        <p:nvSpPr>
          <p:cNvPr id="3" name="Rectangle à coins arrondis 86">
            <a:extLst>
              <a:ext uri="{FF2B5EF4-FFF2-40B4-BE49-F238E27FC236}">
                <a16:creationId xmlns:a16="http://schemas.microsoft.com/office/drawing/2014/main" id="{A1156F94-50A6-FF57-3B0A-9756D31B9FF6}"/>
              </a:ext>
            </a:extLst>
          </p:cNvPr>
          <p:cNvSpPr/>
          <p:nvPr userDrawn="1"/>
        </p:nvSpPr>
        <p:spPr>
          <a:xfrm>
            <a:off x="613674" y="2962621"/>
            <a:ext cx="3476178" cy="16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1516"/>
            <a:r>
              <a:rPr lang="fr-FR" sz="1089" b="1" spc="91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PUBLICATIONS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7BD3CCEB-6650-5B2D-BD07-69540AEF2D03}"/>
              </a:ext>
            </a:extLst>
          </p:cNvPr>
          <p:cNvCxnSpPr>
            <a:cxnSpLocks/>
          </p:cNvCxnSpPr>
          <p:nvPr userDrawn="1"/>
        </p:nvCxnSpPr>
        <p:spPr>
          <a:xfrm>
            <a:off x="605826" y="3151903"/>
            <a:ext cx="266165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88AE51A3-8159-9D46-F4EE-32A12B64699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4535" y="3892729"/>
            <a:ext cx="3794531" cy="162737"/>
          </a:xfrm>
        </p:spPr>
        <p:txBody>
          <a:bodyPr/>
          <a:lstStyle>
            <a:lvl1pPr>
              <a:defRPr sz="726" b="0" cap="all" baseline="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4" name="Espace réservé du texte 34">
            <a:extLst>
              <a:ext uri="{FF2B5EF4-FFF2-40B4-BE49-F238E27FC236}">
                <a16:creationId xmlns:a16="http://schemas.microsoft.com/office/drawing/2014/main" id="{FC25B4B2-4D08-1F0E-3F59-DC5B008352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84072" y="1602354"/>
            <a:ext cx="896071" cy="457968"/>
          </a:xfrm>
        </p:spPr>
        <p:txBody>
          <a:bodyPr anchor="b"/>
          <a:lstStyle>
            <a:lvl1pPr>
              <a:spcAft>
                <a:spcPts val="0"/>
              </a:spcAft>
              <a:defRPr sz="2177">
                <a:solidFill>
                  <a:schemeClr val="bg1"/>
                </a:solidFill>
                <a:latin typeface="+mj-lt"/>
              </a:defRPr>
            </a:lvl1pPr>
            <a:lvl2pPr>
              <a:defRPr sz="635">
                <a:solidFill>
                  <a:schemeClr val="bg1"/>
                </a:solidFill>
              </a:defRPr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00000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6" name="Espace réservé du texte 34">
            <a:extLst>
              <a:ext uri="{FF2B5EF4-FFF2-40B4-BE49-F238E27FC236}">
                <a16:creationId xmlns:a16="http://schemas.microsoft.com/office/drawing/2014/main" id="{59D49A93-79D0-3A5A-DE6E-AA1D3A487C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29487" y="1602354"/>
            <a:ext cx="896071" cy="457968"/>
          </a:xfrm>
        </p:spPr>
        <p:txBody>
          <a:bodyPr anchor="b"/>
          <a:lstStyle>
            <a:lvl1pPr>
              <a:spcAft>
                <a:spcPts val="0"/>
              </a:spcAft>
              <a:defRPr sz="2177">
                <a:solidFill>
                  <a:schemeClr val="bg1"/>
                </a:solidFill>
                <a:latin typeface="+mj-lt"/>
              </a:defRPr>
            </a:lvl1pPr>
            <a:lvl2pPr>
              <a:defRPr sz="635">
                <a:solidFill>
                  <a:schemeClr val="bg1"/>
                </a:solidFill>
              </a:defRPr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00000</a:t>
            </a:r>
          </a:p>
          <a:p>
            <a:pPr lvl="1"/>
            <a:r>
              <a:rPr lang="fr-FR"/>
              <a:t>Deuxième niveau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57EAC4EC-5A4C-A39F-3113-8BD870D60930}"/>
              </a:ext>
            </a:extLst>
          </p:cNvPr>
          <p:cNvCxnSpPr/>
          <p:nvPr userDrawn="1"/>
        </p:nvCxnSpPr>
        <p:spPr>
          <a:xfrm>
            <a:off x="8309963" y="1602354"/>
            <a:ext cx="0" cy="457968"/>
          </a:xfrm>
          <a:prstGeom prst="line">
            <a:avLst/>
          </a:prstGeom>
          <a:ln w="63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8FE77A04-10B2-EAE1-2FCE-5AB3751DB91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29188" y="936099"/>
            <a:ext cx="5038275" cy="666255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814" spc="27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2" name="Espace réservé du texte 50">
            <a:extLst>
              <a:ext uri="{FF2B5EF4-FFF2-40B4-BE49-F238E27FC236}">
                <a16:creationId xmlns:a16="http://schemas.microsoft.com/office/drawing/2014/main" id="{0E7183FD-C141-721D-E11C-36C38D10D7A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29188" y="2311433"/>
            <a:ext cx="5038275" cy="45796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814" spc="27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3" name="Espace réservé du texte 50">
            <a:extLst>
              <a:ext uri="{FF2B5EF4-FFF2-40B4-BE49-F238E27FC236}">
                <a16:creationId xmlns:a16="http://schemas.microsoft.com/office/drawing/2014/main" id="{EBE21D71-8D6E-D200-15B5-116085D7731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29188" y="2873966"/>
            <a:ext cx="5038275" cy="1832858"/>
          </a:xfrm>
        </p:spPr>
        <p:txBody>
          <a:bodyPr numCol="2" spcCol="108000"/>
          <a:lstStyle>
            <a:lvl1pPr>
              <a:lnSpc>
                <a:spcPct val="90000"/>
              </a:lnSpc>
              <a:spcAft>
                <a:spcPts val="0"/>
              </a:spcAft>
              <a:defRPr sz="907">
                <a:solidFill>
                  <a:schemeClr val="bg1"/>
                </a:solidFill>
                <a:latin typeface="+mn-lt"/>
              </a:defRPr>
            </a:lvl1pPr>
            <a:lvl2pPr>
              <a:spcBef>
                <a:spcPts val="363"/>
              </a:spcBef>
              <a:spcAft>
                <a:spcPts val="181"/>
              </a:spcAft>
              <a:defRPr sz="816" b="1">
                <a:solidFill>
                  <a:schemeClr val="bg1"/>
                </a:solidFill>
              </a:defRPr>
            </a:lvl2pPr>
            <a:lvl3pPr marL="123855" indent="-79210">
              <a:spcAft>
                <a:spcPts val="181"/>
              </a:spcAft>
              <a:buFont typeface="Arial" panose="020B0604020202020204" pitchFamily="34" charset="0"/>
              <a:buChar char="•"/>
              <a:tabLst/>
              <a:defRPr sz="816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 err="1"/>
              <a:t>gggg</a:t>
            </a:r>
            <a:endParaRPr lang="fr-FR"/>
          </a:p>
        </p:txBody>
      </p:sp>
      <p:sp>
        <p:nvSpPr>
          <p:cNvPr id="54" name="Espace réservé du texte 50">
            <a:extLst>
              <a:ext uri="{FF2B5EF4-FFF2-40B4-BE49-F238E27FC236}">
                <a16:creationId xmlns:a16="http://schemas.microsoft.com/office/drawing/2014/main" id="{AD2A89DE-3583-6C83-1E82-AC47ABA7C1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29188" y="5633951"/>
            <a:ext cx="5038275" cy="45796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814" spc="27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" name="Forme libre 5">
            <a:extLst>
              <a:ext uri="{FF2B5EF4-FFF2-40B4-BE49-F238E27FC236}">
                <a16:creationId xmlns:a16="http://schemas.microsoft.com/office/drawing/2014/main" id="{61CEC8BF-0762-CED3-DF3D-1F0C587D829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623745" y="4071435"/>
            <a:ext cx="977860" cy="925932"/>
          </a:xfrm>
          <a:custGeom>
            <a:avLst/>
            <a:gdLst>
              <a:gd name="connsiteX0" fmla="*/ 0 w 857537"/>
              <a:gd name="connsiteY0" fmla="*/ 0 h 1020669"/>
              <a:gd name="connsiteX1" fmla="*/ 857537 w 857537"/>
              <a:gd name="connsiteY1" fmla="*/ 0 h 1020669"/>
              <a:gd name="connsiteX2" fmla="*/ 857537 w 857537"/>
              <a:gd name="connsiteY2" fmla="*/ 1020669 h 1020669"/>
              <a:gd name="connsiteX3" fmla="*/ 0 w 857537"/>
              <a:gd name="connsiteY3" fmla="*/ 1020669 h 102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7537" h="1020669">
                <a:moveTo>
                  <a:pt x="0" y="0"/>
                </a:moveTo>
                <a:lnTo>
                  <a:pt x="857537" y="0"/>
                </a:lnTo>
                <a:lnTo>
                  <a:pt x="857537" y="1020669"/>
                </a:lnTo>
                <a:lnTo>
                  <a:pt x="0" y="10206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DDD58C22-2ACF-73DE-813E-AFFAAD5EFE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3426726" y="4071435"/>
            <a:ext cx="992340" cy="925932"/>
          </a:xfrm>
          <a:custGeom>
            <a:avLst/>
            <a:gdLst>
              <a:gd name="connsiteX0" fmla="*/ 0 w 870236"/>
              <a:gd name="connsiteY0" fmla="*/ 0 h 1020669"/>
              <a:gd name="connsiteX1" fmla="*/ 870236 w 870236"/>
              <a:gd name="connsiteY1" fmla="*/ 0 h 1020669"/>
              <a:gd name="connsiteX2" fmla="*/ 870236 w 870236"/>
              <a:gd name="connsiteY2" fmla="*/ 1020669 h 1020669"/>
              <a:gd name="connsiteX3" fmla="*/ 0 w 870236"/>
              <a:gd name="connsiteY3" fmla="*/ 1020669 h 102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0236" h="1020669">
                <a:moveTo>
                  <a:pt x="0" y="0"/>
                </a:moveTo>
                <a:lnTo>
                  <a:pt x="870236" y="0"/>
                </a:lnTo>
                <a:lnTo>
                  <a:pt x="870236" y="1020669"/>
                </a:lnTo>
                <a:lnTo>
                  <a:pt x="0" y="10206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F0CA81EE-DF97-9F9A-D740-40F379CA81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auto">
          <a:xfrm>
            <a:off x="623745" y="5305272"/>
            <a:ext cx="2085569" cy="925932"/>
          </a:xfrm>
          <a:custGeom>
            <a:avLst/>
            <a:gdLst>
              <a:gd name="connsiteX0" fmla="*/ 0 w 857537"/>
              <a:gd name="connsiteY0" fmla="*/ 0 h 1020669"/>
              <a:gd name="connsiteX1" fmla="*/ 857537 w 857537"/>
              <a:gd name="connsiteY1" fmla="*/ 0 h 1020669"/>
              <a:gd name="connsiteX2" fmla="*/ 857537 w 857537"/>
              <a:gd name="connsiteY2" fmla="*/ 1020669 h 1020669"/>
              <a:gd name="connsiteX3" fmla="*/ 0 w 857537"/>
              <a:gd name="connsiteY3" fmla="*/ 1020669 h 102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7537" h="1020669">
                <a:moveTo>
                  <a:pt x="0" y="0"/>
                </a:moveTo>
                <a:lnTo>
                  <a:pt x="857537" y="0"/>
                </a:lnTo>
                <a:lnTo>
                  <a:pt x="857537" y="1020669"/>
                </a:lnTo>
                <a:lnTo>
                  <a:pt x="0" y="10206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9" name="Espace réservé du texte 34">
            <a:extLst>
              <a:ext uri="{FF2B5EF4-FFF2-40B4-BE49-F238E27FC236}">
                <a16:creationId xmlns:a16="http://schemas.microsoft.com/office/drawing/2014/main" id="{DE775849-5F33-F813-E110-0180E18AB2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97187" y="5773236"/>
            <a:ext cx="1292664" cy="457968"/>
          </a:xfrm>
        </p:spPr>
        <p:txBody>
          <a:bodyPr anchor="b"/>
          <a:lstStyle>
            <a:lvl1pPr>
              <a:defRPr sz="635" b="0"/>
            </a:lvl1pPr>
            <a:lvl2pPr>
              <a:defRPr sz="635"/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34">
            <a:extLst>
              <a:ext uri="{FF2B5EF4-FFF2-40B4-BE49-F238E27FC236}">
                <a16:creationId xmlns:a16="http://schemas.microsoft.com/office/drawing/2014/main" id="{587F2DB5-453D-6EAA-E8E1-DD185B2365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63616" y="4545200"/>
            <a:ext cx="1292664" cy="457968"/>
          </a:xfrm>
        </p:spPr>
        <p:txBody>
          <a:bodyPr anchor="b"/>
          <a:lstStyle>
            <a:lvl1pPr>
              <a:defRPr lang="fr-FR" sz="635" b="0" kern="1200" dirty="0" smtClean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 sz="635"/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 algn="l" defTabSz="894352" rtl="0" eaLnBrk="0" fontAlgn="base" hangingPunct="0">
              <a:spcBef>
                <a:spcPct val="0"/>
              </a:spcBef>
              <a:spcAft>
                <a:spcPts val="590"/>
              </a:spcAft>
            </a:pPr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1" name="Espace réservé du texte 34">
            <a:extLst>
              <a:ext uri="{FF2B5EF4-FFF2-40B4-BE49-F238E27FC236}">
                <a16:creationId xmlns:a16="http://schemas.microsoft.com/office/drawing/2014/main" id="{A707801A-C831-E5D8-D3BE-4AC6142DEB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92574" y="4545200"/>
            <a:ext cx="1292664" cy="457968"/>
          </a:xfrm>
        </p:spPr>
        <p:txBody>
          <a:bodyPr anchor="b"/>
          <a:lstStyle>
            <a:lvl1pPr>
              <a:defRPr sz="635" b="0"/>
            </a:lvl1pPr>
            <a:lvl2pPr>
              <a:defRPr sz="635"/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556134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Left Horizontal Window_KPMG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96C774-8B31-4EC8-BF6C-ACF71C2F0C15}"/>
              </a:ext>
            </a:extLst>
          </p:cNvPr>
          <p:cNvSpPr>
            <a:spLocks/>
          </p:cNvSpPr>
          <p:nvPr userDrawn="1"/>
        </p:nvSpPr>
        <p:spPr>
          <a:xfrm>
            <a:off x="998476" y="1485244"/>
            <a:ext cx="6277559" cy="4360622"/>
          </a:xfrm>
          <a:prstGeom prst="rect">
            <a:avLst/>
          </a:prstGeom>
          <a:gradFill>
            <a:gsLst>
              <a:gs pos="100000">
                <a:schemeClr val="accent1"/>
              </a:gs>
              <a:gs pos="0">
                <a:schemeClr val="accent5"/>
              </a:gs>
            </a:gsLst>
            <a:lin ang="0" scaled="0"/>
          </a:gradFill>
        </p:spPr>
        <p:txBody>
          <a:bodyPr vert="horz" lIns="180000" tIns="180000" rIns="180000" bIns="180000" rtlCol="0" anchor="t" anchorCtr="0">
            <a:noAutofit/>
          </a:bodyPr>
          <a:lstStyle/>
          <a:p>
            <a:pPr lvl="0">
              <a:lnSpc>
                <a:spcPct val="70000"/>
              </a:lnSpc>
              <a:spcBef>
                <a:spcPct val="0"/>
              </a:spcBef>
              <a:buNone/>
            </a:pPr>
            <a:endParaRPr lang="en-US" sz="8800" baseline="0">
              <a:solidFill>
                <a:schemeClr val="bg1"/>
              </a:solidFill>
              <a:latin typeface="KPMG Bold" panose="020B0803030202040204" pitchFamily="34" charset="0"/>
              <a:ea typeface="+mj-ea"/>
              <a:cs typeface="+mj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274841" y="1764699"/>
            <a:ext cx="5719338" cy="2880000"/>
          </a:xfrm>
          <a:noFill/>
          <a:ln w="3175">
            <a:noFill/>
            <a:prstDash val="lgDash"/>
          </a:ln>
        </p:spPr>
        <p:txBody>
          <a:bodyPr lIns="0" tIns="0" rIns="0" bIns="0" anchor="t" anchorCtr="0">
            <a:noAutofit/>
          </a:bodyPr>
          <a:lstStyle>
            <a:lvl1pPr algn="l"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KPMG Blue | </a:t>
            </a:r>
            <a:br>
              <a:rPr lang="en-GB"/>
            </a:br>
            <a:r>
              <a:rPr lang="en-GB"/>
              <a:t>Title slide text only</a:t>
            </a:r>
            <a:endParaRPr lang="en-US"/>
          </a:p>
        </p:txBody>
      </p:sp>
      <p:sp>
        <p:nvSpPr>
          <p:cNvPr id="7" name="Freeform 19">
            <a:extLst>
              <a:ext uri="{FF2B5EF4-FFF2-40B4-BE49-F238E27FC236}">
                <a16:creationId xmlns:a16="http://schemas.microsoft.com/office/drawing/2014/main" id="{A5A5FA9B-A901-4A1F-9358-436BDE66E0B5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371311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274841" y="4752153"/>
            <a:ext cx="5719338" cy="810000"/>
          </a:xfrm>
          <a:ln w="3175">
            <a:noFill/>
            <a:prstDash val="lgDash"/>
          </a:ln>
        </p:spPr>
        <p:txBody>
          <a:bodyPr wrap="square" anchor="b">
            <a:noAutofit/>
          </a:bodyPr>
          <a:lstStyle>
            <a:lvl1pPr>
              <a:defRPr sz="1400" b="0">
                <a:solidFill>
                  <a:schemeClr val="bg1"/>
                </a:solidFill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</p:spTree>
    <p:extLst>
      <p:ext uri="{BB962C8B-B14F-4D97-AF65-F5344CB8AC3E}">
        <p14:creationId xmlns:p14="http://schemas.microsoft.com/office/powerpoint/2010/main" val="2560385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59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Dark BG colou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FEACBC9C-FDC2-4718-A261-6371F0F60DE3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6" name="Freeform 19">
            <a:extLst>
              <a:ext uri="{FF2B5EF4-FFF2-40B4-BE49-F238E27FC236}">
                <a16:creationId xmlns:a16="http://schemas.microsoft.com/office/drawing/2014/main" id="{989CBA86-3836-4832-B1AE-9FEA1A8FB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1" y="6266997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15E64-AC13-4D9A-A160-F698CCA8C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885685" y="6266997"/>
            <a:ext cx="462306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© 2024 KPMG ADVISORY, société par actions simplifiée, membre français de l’organisation mondiale </a:t>
            </a:r>
            <a:b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</a:b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KPMG constituée de cabinets indépendants affiliés à KPMG International Limited, une société de droit </a:t>
            </a:r>
            <a:b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</a:b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anglais (« private </a:t>
            </a:r>
            <a:r>
              <a:rPr lang="fr-FR" sz="600" spc="-5" err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company</a:t>
            </a: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 </a:t>
            </a:r>
            <a:r>
              <a:rPr lang="fr-FR" sz="600" spc="-5" err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limited</a:t>
            </a: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 by </a:t>
            </a:r>
            <a:r>
              <a:rPr lang="fr-FR" sz="600" spc="-5" err="1">
                <a:solidFill>
                  <a:schemeClr val="bg1"/>
                </a:solidFill>
                <a:latin typeface="+mn-lt"/>
                <a:ea typeface="+mn-ea"/>
                <a:cs typeface="Arial"/>
              </a:rPr>
              <a:t>guarantee</a:t>
            </a: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 »). Tous droits réservés. Le nom et le logo KPMG sont </a:t>
            </a:r>
            <a:b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</a:br>
            <a:r>
              <a:rPr lang="fr-FR" sz="600" spc="-5">
                <a:solidFill>
                  <a:schemeClr val="bg1"/>
                </a:solidFill>
                <a:latin typeface="+mn-lt"/>
                <a:ea typeface="+mn-ea"/>
                <a:cs typeface="Arial"/>
              </a:rPr>
              <a:t>des marques utilisées sous licence par les cabinets indépendants membres de l’organisation mondiale KPMG.</a:t>
            </a:r>
            <a:endParaRPr lang="en-US" sz="400" kern="1200" noProof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6A5C29-C797-4C37-9F34-9C206DC1B640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669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998400" y="1330126"/>
            <a:ext cx="10195200" cy="4546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2142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 Cover dark Gradient">
    <p:bg>
      <p:bgPr>
        <a:gradFill>
          <a:gsLst>
            <a:gs pos="100000">
              <a:schemeClr val="accent1"/>
            </a:gs>
            <a:gs pos="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 19">
            <a:extLst>
              <a:ext uri="{FF2B5EF4-FFF2-40B4-BE49-F238E27FC236}">
                <a16:creationId xmlns:a16="http://schemas.microsoft.com/office/drawing/2014/main" id="{C5124DCF-42F4-4BBE-BCAC-C24058AAE43A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998476" y="371311"/>
            <a:ext cx="911399" cy="371311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71E9CC-2A2B-4C75-8522-60824F3AC7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89012" y="3702050"/>
            <a:ext cx="6660000" cy="1843088"/>
          </a:xfrm>
        </p:spPr>
        <p:txBody>
          <a:bodyPr anchor="b"/>
          <a:lstStyle>
            <a:lvl1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 sz="9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8E01CBC1-FC71-43BD-845D-21EEEFA2566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89012" y="3351965"/>
            <a:ext cx="2411738" cy="119064"/>
          </a:xfrm>
        </p:spPr>
        <p:txBody>
          <a:bodyPr/>
          <a:lstStyle>
            <a:lvl1pPr>
              <a:buFontTx/>
              <a:buNone/>
              <a:defRPr sz="1200" b="1">
                <a:solidFill>
                  <a:schemeClr val="bg1"/>
                </a:solidFill>
              </a:defRPr>
            </a:lvl1pPr>
            <a:lvl2pPr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2pPr>
            <a:lvl3pPr marL="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3pPr>
            <a:lvl4pPr marL="3456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4pPr>
            <a:lvl5pPr marL="540000" indent="0">
              <a:buFontTx/>
              <a:buNone/>
              <a:defRPr sz="900" b="0"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3226452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3 COLUMN CHART TEXT">
    <p:bg>
      <p:bgPr>
        <a:solidFill>
          <a:srgbClr val="003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200" y="432000"/>
            <a:ext cx="10185600" cy="518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0C6C1EC6-E117-4B69-89BE-088A74E79D72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6" name="Freeform 19">
            <a:extLst>
              <a:ext uri="{FF2B5EF4-FFF2-40B4-BE49-F238E27FC236}">
                <a16:creationId xmlns:a16="http://schemas.microsoft.com/office/drawing/2014/main" id="{F1AE8424-C313-47C0-8629-5E6CDFEE831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1" y="6266997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9103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VIDER 1">
    <p:bg>
      <p:bgPr>
        <a:solidFill>
          <a:srgbClr val="00338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499EBB9-9F37-4E4F-A46E-A453E970D66A}"/>
              </a:ext>
            </a:extLst>
          </p:cNvPr>
          <p:cNvSpPr/>
          <p:nvPr userDrawn="1"/>
        </p:nvSpPr>
        <p:spPr>
          <a:xfrm>
            <a:off x="1004888" y="762000"/>
            <a:ext cx="7524000" cy="5349240"/>
          </a:xfrm>
          <a:prstGeom prst="rect">
            <a:avLst/>
          </a:prstGeom>
          <a:gradFill>
            <a:gsLst>
              <a:gs pos="0">
                <a:schemeClr val="accent5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lvl="0"/>
            <a:endParaRPr lang="en-GB" sz="1500" err="1">
              <a:solidFill>
                <a:schemeClr val="bg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840BCF3-D817-4EAC-8866-C2530BBB02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38925" y="2325831"/>
            <a:ext cx="6263956" cy="2300407"/>
          </a:xfrm>
        </p:spPr>
        <p:txBody>
          <a:bodyPr anchor="t" anchorCtr="0"/>
          <a:lstStyle>
            <a:lvl1pPr algn="l">
              <a:defRPr sz="88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Divider copy </a:t>
            </a:r>
            <a:br>
              <a:rPr lang="en-GB"/>
            </a:br>
            <a:r>
              <a:rPr lang="en-GB"/>
              <a:t>goes here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3CE8DB4-A186-4059-9C81-D90597F800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38925" y="5233260"/>
            <a:ext cx="6263956" cy="216000"/>
          </a:xfrm>
        </p:spPr>
        <p:txBody>
          <a:bodyPr/>
          <a:lstStyle>
            <a:lvl1pPr>
              <a:defRPr sz="1600" b="0">
                <a:solidFill>
                  <a:schemeClr val="bg1"/>
                </a:solidFill>
              </a:defRPr>
            </a:lvl1pPr>
            <a:lvl2pPr>
              <a:defRPr sz="11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1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1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0CEBDA0-4368-4F6C-8352-18BF87F8F0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38924" y="1339850"/>
            <a:ext cx="876300" cy="690562"/>
          </a:xfrm>
        </p:spPr>
        <p:txBody>
          <a:bodyPr/>
          <a:lstStyle>
            <a:lvl1pPr>
              <a:lnSpc>
                <a:spcPct val="70000"/>
              </a:lnSpc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GB"/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15EB5FA9-D117-4324-A3D4-5F62C3F1B10A}"/>
              </a:ext>
            </a:extLst>
          </p:cNvPr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bg1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bg1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sp>
        <p:nvSpPr>
          <p:cNvPr id="23" name="Freeform 19">
            <a:extLst>
              <a:ext uri="{FF2B5EF4-FFF2-40B4-BE49-F238E27FC236}">
                <a16:creationId xmlns:a16="http://schemas.microsoft.com/office/drawing/2014/main" id="{57ED9708-511F-4342-AFA6-8AD96CBF057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03201" y="6266997"/>
            <a:ext cx="484029" cy="196893"/>
          </a:xfrm>
          <a:custGeom>
            <a:avLst/>
            <a:gdLst>
              <a:gd name="T0" fmla="*/ 269 w 283"/>
              <a:gd name="T1" fmla="*/ 77 h 114"/>
              <a:gd name="T2" fmla="*/ 222 w 283"/>
              <a:gd name="T3" fmla="*/ 87 h 114"/>
              <a:gd name="T4" fmla="*/ 244 w 283"/>
              <a:gd name="T5" fmla="*/ 60 h 114"/>
              <a:gd name="T6" fmla="*/ 269 w 283"/>
              <a:gd name="T7" fmla="*/ 56 h 114"/>
              <a:gd name="T8" fmla="*/ 222 w 283"/>
              <a:gd name="T9" fmla="*/ 2 h 114"/>
              <a:gd name="T10" fmla="*/ 281 w 283"/>
              <a:gd name="T11" fmla="*/ 87 h 114"/>
              <a:gd name="T12" fmla="*/ 222 w 283"/>
              <a:gd name="T13" fmla="*/ 89 h 114"/>
              <a:gd name="T14" fmla="*/ 246 w 283"/>
              <a:gd name="T15" fmla="*/ 101 h 114"/>
              <a:gd name="T16" fmla="*/ 205 w 283"/>
              <a:gd name="T17" fmla="*/ 82 h 114"/>
              <a:gd name="T18" fmla="*/ 203 w 283"/>
              <a:gd name="T19" fmla="*/ 52 h 114"/>
              <a:gd name="T20" fmla="*/ 154 w 283"/>
              <a:gd name="T21" fmla="*/ 87 h 114"/>
              <a:gd name="T22" fmla="*/ 213 w 283"/>
              <a:gd name="T23" fmla="*/ 53 h 114"/>
              <a:gd name="T24" fmla="*/ 171 w 283"/>
              <a:gd name="T25" fmla="*/ 87 h 114"/>
              <a:gd name="T26" fmla="*/ 180 w 283"/>
              <a:gd name="T27" fmla="*/ 87 h 114"/>
              <a:gd name="T28" fmla="*/ 120 w 283"/>
              <a:gd name="T29" fmla="*/ 87 h 114"/>
              <a:gd name="T30" fmla="*/ 117 w 283"/>
              <a:gd name="T31" fmla="*/ 56 h 114"/>
              <a:gd name="T32" fmla="*/ 86 w 283"/>
              <a:gd name="T33" fmla="*/ 2 h 114"/>
              <a:gd name="T34" fmla="*/ 145 w 283"/>
              <a:gd name="T35" fmla="*/ 52 h 114"/>
              <a:gd name="T36" fmla="*/ 142 w 283"/>
              <a:gd name="T37" fmla="*/ 87 h 114"/>
              <a:gd name="T38" fmla="*/ 93 w 283"/>
              <a:gd name="T39" fmla="*/ 79 h 114"/>
              <a:gd name="T40" fmla="*/ 89 w 283"/>
              <a:gd name="T41" fmla="*/ 79 h 114"/>
              <a:gd name="T42" fmla="*/ 87 w 283"/>
              <a:gd name="T43" fmla="*/ 69 h 114"/>
              <a:gd name="T44" fmla="*/ 95 w 283"/>
              <a:gd name="T45" fmla="*/ 62 h 114"/>
              <a:gd name="T46" fmla="*/ 93 w 283"/>
              <a:gd name="T47" fmla="*/ 79 h 114"/>
              <a:gd name="T48" fmla="*/ 67 w 283"/>
              <a:gd name="T49" fmla="*/ 86 h 114"/>
              <a:gd name="T50" fmla="*/ 37 w 283"/>
              <a:gd name="T51" fmla="*/ 82 h 114"/>
              <a:gd name="T52" fmla="*/ 25 w 283"/>
              <a:gd name="T53" fmla="*/ 77 h 114"/>
              <a:gd name="T54" fmla="*/ 18 w 283"/>
              <a:gd name="T55" fmla="*/ 2 h 114"/>
              <a:gd name="T56" fmla="*/ 76 w 283"/>
              <a:gd name="T57" fmla="*/ 55 h 114"/>
              <a:gd name="T58" fmla="*/ 22 w 283"/>
              <a:gd name="T59" fmla="*/ 87 h 114"/>
              <a:gd name="T60" fmla="*/ 220 w 283"/>
              <a:gd name="T61" fmla="*/ 0 h 114"/>
              <a:gd name="T62" fmla="*/ 215 w 283"/>
              <a:gd name="T63" fmla="*/ 0 h 114"/>
              <a:gd name="T64" fmla="*/ 147 w 283"/>
              <a:gd name="T65" fmla="*/ 52 h 114"/>
              <a:gd name="T66" fmla="*/ 84 w 283"/>
              <a:gd name="T67" fmla="*/ 52 h 114"/>
              <a:gd name="T68" fmla="*/ 16 w 283"/>
              <a:gd name="T69" fmla="*/ 0 h 114"/>
              <a:gd name="T70" fmla="*/ 14 w 283"/>
              <a:gd name="T71" fmla="*/ 113 h 114"/>
              <a:gd name="T72" fmla="*/ 35 w 283"/>
              <a:gd name="T73" fmla="*/ 113 h 114"/>
              <a:gd name="T74" fmla="*/ 66 w 283"/>
              <a:gd name="T75" fmla="*/ 89 h 114"/>
              <a:gd name="T76" fmla="*/ 81 w 283"/>
              <a:gd name="T77" fmla="*/ 89 h 114"/>
              <a:gd name="T78" fmla="*/ 90 w 283"/>
              <a:gd name="T79" fmla="*/ 89 h 114"/>
              <a:gd name="T80" fmla="*/ 112 w 283"/>
              <a:gd name="T81" fmla="*/ 113 h 114"/>
              <a:gd name="T82" fmla="*/ 142 w 283"/>
              <a:gd name="T83" fmla="*/ 89 h 114"/>
              <a:gd name="T84" fmla="*/ 170 w 283"/>
              <a:gd name="T85" fmla="*/ 89 h 114"/>
              <a:gd name="T86" fmla="*/ 190 w 283"/>
              <a:gd name="T87" fmla="*/ 113 h 114"/>
              <a:gd name="T88" fmla="*/ 210 w 283"/>
              <a:gd name="T89" fmla="*/ 108 h 114"/>
              <a:gd name="T90" fmla="*/ 266 w 283"/>
              <a:gd name="T91" fmla="*/ 89 h 114"/>
              <a:gd name="T92" fmla="*/ 220 w 283"/>
              <a:gd name="T93" fmla="*/ 0 h 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283" h="114">
                <a:moveTo>
                  <a:pt x="281" y="87"/>
                </a:moveTo>
                <a:cubicBezTo>
                  <a:pt x="266" y="87"/>
                  <a:pt x="266" y="87"/>
                  <a:pt x="266" y="8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239" y="77"/>
                  <a:pt x="239" y="77"/>
                  <a:pt x="239" y="77"/>
                </a:cubicBezTo>
                <a:cubicBezTo>
                  <a:pt x="237" y="87"/>
                  <a:pt x="237" y="87"/>
                  <a:pt x="237" y="87"/>
                </a:cubicBezTo>
                <a:cubicBezTo>
                  <a:pt x="222" y="87"/>
                  <a:pt x="222" y="87"/>
                  <a:pt x="222" y="87"/>
                </a:cubicBezTo>
                <a:cubicBezTo>
                  <a:pt x="222" y="85"/>
                  <a:pt x="222" y="85"/>
                  <a:pt x="222" y="85"/>
                </a:cubicBezTo>
                <a:cubicBezTo>
                  <a:pt x="223" y="84"/>
                  <a:pt x="223" y="83"/>
                  <a:pt x="223" y="81"/>
                </a:cubicBezTo>
                <a:cubicBezTo>
                  <a:pt x="226" y="71"/>
                  <a:pt x="233" y="60"/>
                  <a:pt x="244" y="60"/>
                </a:cubicBezTo>
                <a:cubicBezTo>
                  <a:pt x="249" y="60"/>
                  <a:pt x="254" y="62"/>
                  <a:pt x="253" y="69"/>
                </a:cubicBezTo>
                <a:cubicBezTo>
                  <a:pt x="271" y="69"/>
                  <a:pt x="271" y="69"/>
                  <a:pt x="271" y="69"/>
                </a:cubicBezTo>
                <a:cubicBezTo>
                  <a:pt x="272" y="66"/>
                  <a:pt x="273" y="61"/>
                  <a:pt x="269" y="56"/>
                </a:cubicBezTo>
                <a:cubicBezTo>
                  <a:pt x="266" y="51"/>
                  <a:pt x="258" y="48"/>
                  <a:pt x="248" y="48"/>
                </a:cubicBezTo>
                <a:cubicBezTo>
                  <a:pt x="241" y="48"/>
                  <a:pt x="231" y="50"/>
                  <a:pt x="222" y="55"/>
                </a:cubicBezTo>
                <a:cubicBezTo>
                  <a:pt x="222" y="2"/>
                  <a:pt x="222" y="2"/>
                  <a:pt x="222" y="2"/>
                </a:cubicBezTo>
                <a:cubicBezTo>
                  <a:pt x="281" y="2"/>
                  <a:pt x="281" y="2"/>
                  <a:pt x="281" y="2"/>
                </a:cubicBezTo>
                <a:cubicBezTo>
                  <a:pt x="281" y="87"/>
                  <a:pt x="281" y="87"/>
                  <a:pt x="281" y="87"/>
                </a:cubicBezTo>
                <a:cubicBezTo>
                  <a:pt x="281" y="87"/>
                  <a:pt x="281" y="87"/>
                  <a:pt x="281" y="87"/>
                </a:cubicBezTo>
                <a:close/>
                <a:moveTo>
                  <a:pt x="246" y="101"/>
                </a:moveTo>
                <a:cubicBezTo>
                  <a:pt x="243" y="102"/>
                  <a:pt x="240" y="102"/>
                  <a:pt x="237" y="102"/>
                </a:cubicBezTo>
                <a:cubicBezTo>
                  <a:pt x="228" y="102"/>
                  <a:pt x="222" y="98"/>
                  <a:pt x="222" y="89"/>
                </a:cubicBezTo>
                <a:cubicBezTo>
                  <a:pt x="249" y="89"/>
                  <a:pt x="249" y="89"/>
                  <a:pt x="249" y="89"/>
                </a:cubicBezTo>
                <a:cubicBezTo>
                  <a:pt x="246" y="101"/>
                  <a:pt x="246" y="101"/>
                  <a:pt x="246" y="101"/>
                </a:cubicBezTo>
                <a:cubicBezTo>
                  <a:pt x="246" y="101"/>
                  <a:pt x="246" y="101"/>
                  <a:pt x="246" y="101"/>
                </a:cubicBezTo>
                <a:close/>
                <a:moveTo>
                  <a:pt x="213" y="53"/>
                </a:moveTo>
                <a:cubicBezTo>
                  <a:pt x="213" y="65"/>
                  <a:pt x="213" y="65"/>
                  <a:pt x="213" y="65"/>
                </a:cubicBezTo>
                <a:cubicBezTo>
                  <a:pt x="209" y="71"/>
                  <a:pt x="206" y="77"/>
                  <a:pt x="205" y="82"/>
                </a:cubicBezTo>
                <a:cubicBezTo>
                  <a:pt x="204" y="83"/>
                  <a:pt x="204" y="85"/>
                  <a:pt x="204" y="87"/>
                </a:cubicBezTo>
                <a:cubicBezTo>
                  <a:pt x="195" y="87"/>
                  <a:pt x="195" y="87"/>
                  <a:pt x="195" y="87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178" y="52"/>
                  <a:pt x="178" y="52"/>
                  <a:pt x="178" y="52"/>
                </a:cubicBezTo>
                <a:cubicBezTo>
                  <a:pt x="156" y="87"/>
                  <a:pt x="156" y="87"/>
                  <a:pt x="156" y="87"/>
                </a:cubicBezTo>
                <a:cubicBezTo>
                  <a:pt x="154" y="87"/>
                  <a:pt x="154" y="87"/>
                  <a:pt x="154" y="87"/>
                </a:cubicBezTo>
                <a:cubicBezTo>
                  <a:pt x="154" y="2"/>
                  <a:pt x="154" y="2"/>
                  <a:pt x="154" y="2"/>
                </a:cubicBezTo>
                <a:cubicBezTo>
                  <a:pt x="213" y="2"/>
                  <a:pt x="213" y="2"/>
                  <a:pt x="213" y="2"/>
                </a:cubicBezTo>
                <a:cubicBezTo>
                  <a:pt x="213" y="53"/>
                  <a:pt x="213" y="53"/>
                  <a:pt x="213" y="53"/>
                </a:cubicBezTo>
                <a:cubicBezTo>
                  <a:pt x="213" y="53"/>
                  <a:pt x="213" y="53"/>
                  <a:pt x="213" y="53"/>
                </a:cubicBezTo>
                <a:close/>
                <a:moveTo>
                  <a:pt x="180" y="87"/>
                </a:moveTo>
                <a:cubicBezTo>
                  <a:pt x="171" y="87"/>
                  <a:pt x="171" y="87"/>
                  <a:pt x="171" y="87"/>
                </a:cubicBezTo>
                <a:cubicBezTo>
                  <a:pt x="185" y="66"/>
                  <a:pt x="185" y="66"/>
                  <a:pt x="185" y="66"/>
                </a:cubicBezTo>
                <a:cubicBezTo>
                  <a:pt x="180" y="87"/>
                  <a:pt x="180" y="87"/>
                  <a:pt x="180" y="87"/>
                </a:cubicBezTo>
                <a:cubicBezTo>
                  <a:pt x="180" y="87"/>
                  <a:pt x="180" y="87"/>
                  <a:pt x="180" y="87"/>
                </a:cubicBezTo>
                <a:close/>
                <a:moveTo>
                  <a:pt x="145" y="52"/>
                </a:moveTo>
                <a:cubicBezTo>
                  <a:pt x="130" y="52"/>
                  <a:pt x="130" y="52"/>
                  <a:pt x="130" y="52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04" y="87"/>
                  <a:pt x="104" y="87"/>
                  <a:pt x="104" y="87"/>
                </a:cubicBezTo>
                <a:cubicBezTo>
                  <a:pt x="112" y="84"/>
                  <a:pt x="117" y="78"/>
                  <a:pt x="119" y="70"/>
                </a:cubicBezTo>
                <a:cubicBezTo>
                  <a:pt x="120" y="64"/>
                  <a:pt x="119" y="59"/>
                  <a:pt x="117" y="56"/>
                </a:cubicBezTo>
                <a:cubicBezTo>
                  <a:pt x="113" y="51"/>
                  <a:pt x="105" y="52"/>
                  <a:pt x="98" y="52"/>
                </a:cubicBezTo>
                <a:cubicBezTo>
                  <a:pt x="97" y="52"/>
                  <a:pt x="86" y="52"/>
                  <a:pt x="86" y="52"/>
                </a:cubicBezTo>
                <a:cubicBezTo>
                  <a:pt x="86" y="2"/>
                  <a:pt x="86" y="2"/>
                  <a:pt x="86" y="2"/>
                </a:cubicBezTo>
                <a:cubicBezTo>
                  <a:pt x="145" y="2"/>
                  <a:pt x="145" y="2"/>
                  <a:pt x="145" y="2"/>
                </a:cubicBezTo>
                <a:cubicBezTo>
                  <a:pt x="145" y="52"/>
                  <a:pt x="145" y="52"/>
                  <a:pt x="145" y="52"/>
                </a:cubicBezTo>
                <a:cubicBezTo>
                  <a:pt x="145" y="52"/>
                  <a:pt x="145" y="52"/>
                  <a:pt x="145" y="52"/>
                </a:cubicBezTo>
                <a:close/>
                <a:moveTo>
                  <a:pt x="135" y="87"/>
                </a:moveTo>
                <a:cubicBezTo>
                  <a:pt x="141" y="65"/>
                  <a:pt x="141" y="65"/>
                  <a:pt x="141" y="65"/>
                </a:cubicBezTo>
                <a:cubicBezTo>
                  <a:pt x="142" y="87"/>
                  <a:pt x="142" y="87"/>
                  <a:pt x="142" y="87"/>
                </a:cubicBezTo>
                <a:cubicBezTo>
                  <a:pt x="135" y="87"/>
                  <a:pt x="135" y="87"/>
                  <a:pt x="135" y="87"/>
                </a:cubicBezTo>
                <a:cubicBezTo>
                  <a:pt x="135" y="87"/>
                  <a:pt x="135" y="87"/>
                  <a:pt x="135" y="87"/>
                </a:cubicBezTo>
                <a:close/>
                <a:moveTo>
                  <a:pt x="93" y="79"/>
                </a:moveTo>
                <a:cubicBezTo>
                  <a:pt x="93" y="79"/>
                  <a:pt x="93" y="79"/>
                  <a:pt x="93" y="79"/>
                </a:cubicBezTo>
                <a:cubicBezTo>
                  <a:pt x="92" y="79"/>
                  <a:pt x="91" y="79"/>
                  <a:pt x="91" y="79"/>
                </a:cubicBezTo>
                <a:cubicBezTo>
                  <a:pt x="90" y="79"/>
                  <a:pt x="89" y="79"/>
                  <a:pt x="89" y="79"/>
                </a:cubicBezTo>
                <a:cubicBezTo>
                  <a:pt x="85" y="79"/>
                  <a:pt x="85" y="79"/>
                  <a:pt x="85" y="79"/>
                </a:cubicBezTo>
                <a:cubicBezTo>
                  <a:pt x="87" y="72"/>
                  <a:pt x="87" y="72"/>
                  <a:pt x="87" y="72"/>
                </a:cubicBezTo>
                <a:cubicBezTo>
                  <a:pt x="87" y="69"/>
                  <a:pt x="87" y="69"/>
                  <a:pt x="87" y="69"/>
                </a:cubicBezTo>
                <a:cubicBezTo>
                  <a:pt x="89" y="62"/>
                  <a:pt x="89" y="62"/>
                  <a:pt x="89" y="62"/>
                </a:cubicBezTo>
                <a:cubicBezTo>
                  <a:pt x="90" y="62"/>
                  <a:pt x="91" y="62"/>
                  <a:pt x="92" y="62"/>
                </a:cubicBezTo>
                <a:cubicBezTo>
                  <a:pt x="95" y="62"/>
                  <a:pt x="95" y="62"/>
                  <a:pt x="95" y="62"/>
                </a:cubicBezTo>
                <a:cubicBezTo>
                  <a:pt x="100" y="62"/>
                  <a:pt x="103" y="62"/>
                  <a:pt x="104" y="63"/>
                </a:cubicBezTo>
                <a:cubicBezTo>
                  <a:pt x="105" y="65"/>
                  <a:pt x="105" y="67"/>
                  <a:pt x="104" y="70"/>
                </a:cubicBezTo>
                <a:cubicBezTo>
                  <a:pt x="102" y="75"/>
                  <a:pt x="100" y="78"/>
                  <a:pt x="93" y="79"/>
                </a:cubicBezTo>
                <a:moveTo>
                  <a:pt x="76" y="55"/>
                </a:moveTo>
                <a:cubicBezTo>
                  <a:pt x="75" y="58"/>
                  <a:pt x="75" y="58"/>
                  <a:pt x="75" y="58"/>
                </a:cubicBezTo>
                <a:cubicBezTo>
                  <a:pt x="67" y="86"/>
                  <a:pt x="67" y="86"/>
                  <a:pt x="67" y="86"/>
                </a:cubicBezTo>
                <a:cubicBezTo>
                  <a:pt x="67" y="87"/>
                  <a:pt x="67" y="87"/>
                  <a:pt x="67" y="87"/>
                </a:cubicBezTo>
                <a:cubicBezTo>
                  <a:pt x="39" y="87"/>
                  <a:pt x="39" y="87"/>
                  <a:pt x="39" y="87"/>
                </a:cubicBezTo>
                <a:cubicBezTo>
                  <a:pt x="37" y="82"/>
                  <a:pt x="37" y="82"/>
                  <a:pt x="37" y="82"/>
                </a:cubicBezTo>
                <a:cubicBezTo>
                  <a:pt x="67" y="52"/>
                  <a:pt x="67" y="52"/>
                  <a:pt x="67" y="52"/>
                </a:cubicBezTo>
                <a:cubicBezTo>
                  <a:pt x="48" y="52"/>
                  <a:pt x="48" y="52"/>
                  <a:pt x="48" y="52"/>
                </a:cubicBezTo>
                <a:cubicBezTo>
                  <a:pt x="25" y="77"/>
                  <a:pt x="25" y="77"/>
                  <a:pt x="25" y="77"/>
                </a:cubicBezTo>
                <a:cubicBezTo>
                  <a:pt x="32" y="52"/>
                  <a:pt x="32" y="52"/>
                  <a:pt x="32" y="52"/>
                </a:cubicBezTo>
                <a:cubicBezTo>
                  <a:pt x="18" y="52"/>
                  <a:pt x="18" y="52"/>
                  <a:pt x="18" y="52"/>
                </a:cubicBezTo>
                <a:cubicBezTo>
                  <a:pt x="18" y="2"/>
                  <a:pt x="18" y="2"/>
                  <a:pt x="18" y="2"/>
                </a:cubicBezTo>
                <a:cubicBezTo>
                  <a:pt x="76" y="2"/>
                  <a:pt x="76" y="2"/>
                  <a:pt x="76" y="2"/>
                </a:cubicBezTo>
                <a:cubicBezTo>
                  <a:pt x="76" y="55"/>
                  <a:pt x="76" y="55"/>
                  <a:pt x="76" y="55"/>
                </a:cubicBezTo>
                <a:cubicBezTo>
                  <a:pt x="76" y="55"/>
                  <a:pt x="76" y="55"/>
                  <a:pt x="76" y="55"/>
                </a:cubicBezTo>
                <a:close/>
                <a:moveTo>
                  <a:pt x="22" y="87"/>
                </a:move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ubicBezTo>
                  <a:pt x="22" y="87"/>
                  <a:pt x="22" y="87"/>
                  <a:pt x="22" y="87"/>
                </a:cubicBezTo>
                <a:close/>
                <a:moveTo>
                  <a:pt x="220" y="0"/>
                </a:moveTo>
                <a:cubicBezTo>
                  <a:pt x="220" y="57"/>
                  <a:pt x="220" y="57"/>
                  <a:pt x="220" y="57"/>
                </a:cubicBezTo>
                <a:cubicBezTo>
                  <a:pt x="218" y="59"/>
                  <a:pt x="216" y="60"/>
                  <a:pt x="215" y="62"/>
                </a:cubicBezTo>
                <a:cubicBezTo>
                  <a:pt x="215" y="0"/>
                  <a:pt x="215" y="0"/>
                  <a:pt x="215" y="0"/>
                </a:cubicBezTo>
                <a:cubicBezTo>
                  <a:pt x="152" y="0"/>
                  <a:pt x="152" y="0"/>
                  <a:pt x="152" y="0"/>
                </a:cubicBezTo>
                <a:cubicBezTo>
                  <a:pt x="152" y="52"/>
                  <a:pt x="152" y="52"/>
                  <a:pt x="152" y="52"/>
                </a:cubicBezTo>
                <a:cubicBezTo>
                  <a:pt x="147" y="52"/>
                  <a:pt x="147" y="52"/>
                  <a:pt x="147" y="52"/>
                </a:cubicBezTo>
                <a:cubicBezTo>
                  <a:pt x="147" y="0"/>
                  <a:pt x="147" y="0"/>
                  <a:pt x="147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84" y="52"/>
                  <a:pt x="84" y="52"/>
                  <a:pt x="84" y="52"/>
                </a:cubicBezTo>
                <a:cubicBezTo>
                  <a:pt x="79" y="52"/>
                  <a:pt x="79" y="52"/>
                  <a:pt x="79" y="52"/>
                </a:cubicBezTo>
                <a:cubicBezTo>
                  <a:pt x="79" y="0"/>
                  <a:pt x="79" y="0"/>
                  <a:pt x="79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16" y="59"/>
                  <a:pt x="16" y="59"/>
                  <a:pt x="16" y="59"/>
                </a:cubicBezTo>
                <a:cubicBezTo>
                  <a:pt x="0" y="113"/>
                  <a:pt x="0" y="113"/>
                  <a:pt x="0" y="113"/>
                </a:cubicBezTo>
                <a:cubicBezTo>
                  <a:pt x="14" y="113"/>
                  <a:pt x="14" y="113"/>
                  <a:pt x="14" y="113"/>
                </a:cubicBezTo>
                <a:cubicBezTo>
                  <a:pt x="21" y="89"/>
                  <a:pt x="21" y="89"/>
                  <a:pt x="21" y="89"/>
                </a:cubicBezTo>
                <a:cubicBezTo>
                  <a:pt x="23" y="89"/>
                  <a:pt x="23" y="89"/>
                  <a:pt x="23" y="89"/>
                </a:cubicBezTo>
                <a:cubicBezTo>
                  <a:pt x="35" y="113"/>
                  <a:pt x="35" y="113"/>
                  <a:pt x="35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40" y="89"/>
                  <a:pt x="40" y="89"/>
                  <a:pt x="40" y="89"/>
                </a:cubicBezTo>
                <a:cubicBezTo>
                  <a:pt x="66" y="89"/>
                  <a:pt x="66" y="89"/>
                  <a:pt x="66" y="89"/>
                </a:cubicBezTo>
                <a:cubicBezTo>
                  <a:pt x="59" y="113"/>
                  <a:pt x="59" y="113"/>
                  <a:pt x="59" y="113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81" y="89"/>
                  <a:pt x="81" y="89"/>
                  <a:pt x="81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85" y="89"/>
                  <a:pt x="85" y="89"/>
                  <a:pt x="85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90" y="89"/>
                  <a:pt x="90" y="89"/>
                  <a:pt x="90" y="89"/>
                </a:cubicBezTo>
                <a:cubicBezTo>
                  <a:pt x="119" y="89"/>
                  <a:pt x="119" y="89"/>
                  <a:pt x="119" y="89"/>
                </a:cubicBezTo>
                <a:cubicBezTo>
                  <a:pt x="112" y="113"/>
                  <a:pt x="112" y="113"/>
                  <a:pt x="112" y="113"/>
                </a:cubicBezTo>
                <a:cubicBezTo>
                  <a:pt x="128" y="113"/>
                  <a:pt x="128" y="113"/>
                  <a:pt x="128" y="113"/>
                </a:cubicBezTo>
                <a:cubicBezTo>
                  <a:pt x="135" y="89"/>
                  <a:pt x="135" y="89"/>
                  <a:pt x="135" y="89"/>
                </a:cubicBezTo>
                <a:cubicBezTo>
                  <a:pt x="142" y="89"/>
                  <a:pt x="142" y="89"/>
                  <a:pt x="142" y="89"/>
                </a:cubicBezTo>
                <a:cubicBezTo>
                  <a:pt x="142" y="113"/>
                  <a:pt x="142" y="113"/>
                  <a:pt x="142" y="113"/>
                </a:cubicBezTo>
                <a:cubicBezTo>
                  <a:pt x="155" y="113"/>
                  <a:pt x="155" y="113"/>
                  <a:pt x="155" y="113"/>
                </a:cubicBezTo>
                <a:cubicBezTo>
                  <a:pt x="170" y="89"/>
                  <a:pt x="170" y="89"/>
                  <a:pt x="170" y="89"/>
                </a:cubicBezTo>
                <a:cubicBezTo>
                  <a:pt x="180" y="89"/>
                  <a:pt x="180" y="89"/>
                  <a:pt x="180" y="89"/>
                </a:cubicBezTo>
                <a:cubicBezTo>
                  <a:pt x="175" y="113"/>
                  <a:pt x="175" y="113"/>
                  <a:pt x="175" y="113"/>
                </a:cubicBezTo>
                <a:cubicBezTo>
                  <a:pt x="190" y="113"/>
                  <a:pt x="190" y="113"/>
                  <a:pt x="190" y="113"/>
                </a:cubicBezTo>
                <a:cubicBezTo>
                  <a:pt x="195" y="89"/>
                  <a:pt x="195" y="89"/>
                  <a:pt x="195" y="89"/>
                </a:cubicBezTo>
                <a:cubicBezTo>
                  <a:pt x="204" y="89"/>
                  <a:pt x="204" y="89"/>
                  <a:pt x="204" y="89"/>
                </a:cubicBezTo>
                <a:cubicBezTo>
                  <a:pt x="203" y="96"/>
                  <a:pt x="205" y="103"/>
                  <a:pt x="210" y="108"/>
                </a:cubicBezTo>
                <a:cubicBezTo>
                  <a:pt x="216" y="113"/>
                  <a:pt x="225" y="114"/>
                  <a:pt x="232" y="114"/>
                </a:cubicBezTo>
                <a:cubicBezTo>
                  <a:pt x="241" y="114"/>
                  <a:pt x="251" y="113"/>
                  <a:pt x="260" y="111"/>
                </a:cubicBezTo>
                <a:cubicBezTo>
                  <a:pt x="266" y="89"/>
                  <a:pt x="266" y="89"/>
                  <a:pt x="266" y="89"/>
                </a:cubicBezTo>
                <a:cubicBezTo>
                  <a:pt x="283" y="89"/>
                  <a:pt x="283" y="89"/>
                  <a:pt x="283" y="89"/>
                </a:cubicBezTo>
                <a:cubicBezTo>
                  <a:pt x="283" y="0"/>
                  <a:pt x="283" y="0"/>
                  <a:pt x="283" y="0"/>
                </a:cubicBezTo>
                <a:cubicBezTo>
                  <a:pt x="220" y="0"/>
                  <a:pt x="220" y="0"/>
                  <a:pt x="220" y="0"/>
                </a:cubicBezTo>
                <a:cubicBezTo>
                  <a:pt x="220" y="0"/>
                  <a:pt x="220" y="0"/>
                  <a:pt x="22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4397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8233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ublications 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E20D102-B539-8324-A9E2-0E2F6DCD9873}"/>
              </a:ext>
            </a:extLst>
          </p:cNvPr>
          <p:cNvSpPr/>
          <p:nvPr userDrawn="1"/>
        </p:nvSpPr>
        <p:spPr>
          <a:xfrm>
            <a:off x="409358" y="2917596"/>
            <a:ext cx="5565288" cy="326803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9541" tIns="49541" rIns="49541" bIns="49541" rtlCol="0" anchor="ctr"/>
          <a:lstStyle/>
          <a:p>
            <a:pPr algn="l"/>
            <a:endParaRPr lang="fr-FR" sz="1361" err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D87B02-7CF7-4117-9A1B-AF20C9A914E9}"/>
              </a:ext>
            </a:extLst>
          </p:cNvPr>
          <p:cNvSpPr/>
          <p:nvPr userDrawn="1"/>
        </p:nvSpPr>
        <p:spPr>
          <a:xfrm>
            <a:off x="6171114" y="418249"/>
            <a:ext cx="5611529" cy="6439751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5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3471" tIns="53471" rIns="53471" bIns="53471" anchor="ctr"/>
          <a:lstStyle/>
          <a:p>
            <a:pPr defTabSz="903098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469" err="1">
              <a:solidFill>
                <a:schemeClr val="bg1"/>
              </a:solidFill>
            </a:endParaRP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4905E83-B56F-7046-AAF1-CCFA8D767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3673" y="936702"/>
            <a:ext cx="5275024" cy="88825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Modifiez </a:t>
            </a:r>
            <a:br>
              <a:rPr lang="fr-FR"/>
            </a:br>
            <a:r>
              <a:rPr lang="fr-FR"/>
              <a:t>le style du titre</a:t>
            </a:r>
            <a:endParaRPr lang="en-GB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62D797E-E8E7-A6C3-4A5D-CE4BB0B4CF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3673" y="1898583"/>
            <a:ext cx="5275024" cy="1491725"/>
          </a:xfrm>
          <a:prstGeom prst="rect">
            <a:avLst/>
          </a:prstGeom>
          <a:ln w="3175">
            <a:noFill/>
            <a:prstDash val="lgDash"/>
          </a:ln>
        </p:spPr>
        <p:txBody>
          <a:bodyPr anchor="t">
            <a:noAutofit/>
          </a:bodyPr>
          <a:lstStyle>
            <a:lvl1pPr>
              <a:spcAft>
                <a:spcPts val="0"/>
              </a:spcAft>
              <a:defRPr sz="907">
                <a:solidFill>
                  <a:schemeClr val="tx2"/>
                </a:solidFill>
              </a:defRPr>
            </a:lvl1pPr>
            <a:lvl2pPr>
              <a:spcBef>
                <a:spcPts val="544"/>
              </a:spcBef>
              <a:spcAft>
                <a:spcPts val="0"/>
              </a:spcAft>
              <a:defRPr sz="816">
                <a:solidFill>
                  <a:schemeClr val="tx1"/>
                </a:solidFill>
              </a:defRPr>
            </a:lvl2pPr>
            <a:lvl3pPr marL="241950" indent="-112334">
              <a:buClr>
                <a:schemeClr val="accent1"/>
              </a:buClr>
              <a:buFont typeface="Arial" panose="020B0604020202020204" pitchFamily="34" charset="0"/>
              <a:buChar char="•"/>
              <a:tabLst/>
              <a:defRPr sz="726">
                <a:solidFill>
                  <a:schemeClr val="tx1"/>
                </a:solidFill>
              </a:defRPr>
            </a:lvl3pPr>
            <a:lvl4pPr>
              <a:buClr>
                <a:schemeClr val="bg1"/>
              </a:buClr>
              <a:defRPr sz="1077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077"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niveau2</a:t>
            </a:r>
          </a:p>
        </p:txBody>
      </p:sp>
      <p:sp>
        <p:nvSpPr>
          <p:cNvPr id="3" name="Rectangle à coins arrondis 86">
            <a:extLst>
              <a:ext uri="{FF2B5EF4-FFF2-40B4-BE49-F238E27FC236}">
                <a16:creationId xmlns:a16="http://schemas.microsoft.com/office/drawing/2014/main" id="{A1156F94-50A6-FF57-3B0A-9756D31B9FF6}"/>
              </a:ext>
            </a:extLst>
          </p:cNvPr>
          <p:cNvSpPr/>
          <p:nvPr userDrawn="1"/>
        </p:nvSpPr>
        <p:spPr>
          <a:xfrm>
            <a:off x="613674" y="2962621"/>
            <a:ext cx="3476178" cy="161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1516"/>
            <a:r>
              <a:rPr lang="fr-FR" sz="1089" b="1" spc="91">
                <a:solidFill>
                  <a:schemeClr val="accent1"/>
                </a:solidFill>
                <a:latin typeface="+mj-lt"/>
                <a:cs typeface="Arial" panose="020B0604020202020204" pitchFamily="34" charset="0"/>
              </a:rPr>
              <a:t>PUBLICATIONS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7BD3CCEB-6650-5B2D-BD07-69540AEF2D03}"/>
              </a:ext>
            </a:extLst>
          </p:cNvPr>
          <p:cNvCxnSpPr>
            <a:cxnSpLocks/>
          </p:cNvCxnSpPr>
          <p:nvPr userDrawn="1"/>
        </p:nvCxnSpPr>
        <p:spPr>
          <a:xfrm>
            <a:off x="605826" y="3151903"/>
            <a:ext cx="266165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Espace réservé du texte 41">
            <a:extLst>
              <a:ext uri="{FF2B5EF4-FFF2-40B4-BE49-F238E27FC236}">
                <a16:creationId xmlns:a16="http://schemas.microsoft.com/office/drawing/2014/main" id="{88AE51A3-8159-9D46-F4EE-32A12B64699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4535" y="3892729"/>
            <a:ext cx="3794531" cy="162737"/>
          </a:xfrm>
        </p:spPr>
        <p:txBody>
          <a:bodyPr/>
          <a:lstStyle>
            <a:lvl1pPr>
              <a:defRPr sz="726" b="0" cap="all" baseline="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4" name="Espace réservé du texte 34">
            <a:extLst>
              <a:ext uri="{FF2B5EF4-FFF2-40B4-BE49-F238E27FC236}">
                <a16:creationId xmlns:a16="http://schemas.microsoft.com/office/drawing/2014/main" id="{FC25B4B2-4D08-1F0E-3F59-DC5B008352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84072" y="1602354"/>
            <a:ext cx="896071" cy="457968"/>
          </a:xfrm>
        </p:spPr>
        <p:txBody>
          <a:bodyPr anchor="b"/>
          <a:lstStyle>
            <a:lvl1pPr>
              <a:spcAft>
                <a:spcPts val="0"/>
              </a:spcAft>
              <a:defRPr sz="2177">
                <a:solidFill>
                  <a:schemeClr val="bg1"/>
                </a:solidFill>
                <a:latin typeface="+mj-lt"/>
              </a:defRPr>
            </a:lvl1pPr>
            <a:lvl2pPr>
              <a:defRPr sz="635">
                <a:solidFill>
                  <a:schemeClr val="bg1"/>
                </a:solidFill>
              </a:defRPr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00000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46" name="Espace réservé du texte 34">
            <a:extLst>
              <a:ext uri="{FF2B5EF4-FFF2-40B4-BE49-F238E27FC236}">
                <a16:creationId xmlns:a16="http://schemas.microsoft.com/office/drawing/2014/main" id="{59D49A93-79D0-3A5A-DE6E-AA1D3A487C2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29487" y="1602354"/>
            <a:ext cx="896071" cy="457968"/>
          </a:xfrm>
        </p:spPr>
        <p:txBody>
          <a:bodyPr anchor="b"/>
          <a:lstStyle>
            <a:lvl1pPr>
              <a:spcAft>
                <a:spcPts val="0"/>
              </a:spcAft>
              <a:defRPr sz="2177">
                <a:solidFill>
                  <a:schemeClr val="bg1"/>
                </a:solidFill>
                <a:latin typeface="+mj-lt"/>
              </a:defRPr>
            </a:lvl1pPr>
            <a:lvl2pPr>
              <a:defRPr sz="635">
                <a:solidFill>
                  <a:schemeClr val="bg1"/>
                </a:solidFill>
              </a:defRPr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00000</a:t>
            </a:r>
          </a:p>
          <a:p>
            <a:pPr lvl="1"/>
            <a:r>
              <a:rPr lang="fr-FR"/>
              <a:t>Deuxième niveau</a:t>
            </a:r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57EAC4EC-5A4C-A39F-3113-8BD870D60930}"/>
              </a:ext>
            </a:extLst>
          </p:cNvPr>
          <p:cNvCxnSpPr/>
          <p:nvPr userDrawn="1"/>
        </p:nvCxnSpPr>
        <p:spPr>
          <a:xfrm>
            <a:off x="8309963" y="1602354"/>
            <a:ext cx="0" cy="457968"/>
          </a:xfrm>
          <a:prstGeom prst="line">
            <a:avLst/>
          </a:prstGeom>
          <a:ln w="63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space réservé du texte 50">
            <a:extLst>
              <a:ext uri="{FF2B5EF4-FFF2-40B4-BE49-F238E27FC236}">
                <a16:creationId xmlns:a16="http://schemas.microsoft.com/office/drawing/2014/main" id="{8FE77A04-10B2-EAE1-2FCE-5AB3751DB91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529188" y="936099"/>
            <a:ext cx="5038275" cy="666255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814" spc="27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2" name="Espace réservé du texte 50">
            <a:extLst>
              <a:ext uri="{FF2B5EF4-FFF2-40B4-BE49-F238E27FC236}">
                <a16:creationId xmlns:a16="http://schemas.microsoft.com/office/drawing/2014/main" id="{0E7183FD-C141-721D-E11C-36C38D10D7A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29188" y="2311433"/>
            <a:ext cx="5038275" cy="45796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814" spc="27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53" name="Espace réservé du texte 50">
            <a:extLst>
              <a:ext uri="{FF2B5EF4-FFF2-40B4-BE49-F238E27FC236}">
                <a16:creationId xmlns:a16="http://schemas.microsoft.com/office/drawing/2014/main" id="{EBE21D71-8D6E-D200-15B5-116085D7731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29188" y="2873966"/>
            <a:ext cx="5038275" cy="1832858"/>
          </a:xfrm>
        </p:spPr>
        <p:txBody>
          <a:bodyPr numCol="2" spcCol="108000"/>
          <a:lstStyle>
            <a:lvl1pPr>
              <a:lnSpc>
                <a:spcPct val="90000"/>
              </a:lnSpc>
              <a:spcAft>
                <a:spcPts val="0"/>
              </a:spcAft>
              <a:defRPr sz="907">
                <a:solidFill>
                  <a:schemeClr val="bg1"/>
                </a:solidFill>
                <a:latin typeface="+mn-lt"/>
              </a:defRPr>
            </a:lvl1pPr>
            <a:lvl2pPr>
              <a:spcBef>
                <a:spcPts val="363"/>
              </a:spcBef>
              <a:spcAft>
                <a:spcPts val="181"/>
              </a:spcAft>
              <a:defRPr sz="816" b="1">
                <a:solidFill>
                  <a:schemeClr val="bg1"/>
                </a:solidFill>
              </a:defRPr>
            </a:lvl2pPr>
            <a:lvl3pPr marL="123855" indent="-79210">
              <a:spcAft>
                <a:spcPts val="181"/>
              </a:spcAft>
              <a:buFont typeface="Arial" panose="020B0604020202020204" pitchFamily="34" charset="0"/>
              <a:buChar char="•"/>
              <a:tabLst/>
              <a:defRPr sz="816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 err="1"/>
              <a:t>gggg</a:t>
            </a:r>
            <a:endParaRPr lang="fr-FR"/>
          </a:p>
        </p:txBody>
      </p:sp>
      <p:sp>
        <p:nvSpPr>
          <p:cNvPr id="54" name="Espace réservé du texte 50">
            <a:extLst>
              <a:ext uri="{FF2B5EF4-FFF2-40B4-BE49-F238E27FC236}">
                <a16:creationId xmlns:a16="http://schemas.microsoft.com/office/drawing/2014/main" id="{AD2A89DE-3583-6C83-1E82-AC47ABA7C1E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529188" y="5633951"/>
            <a:ext cx="5038275" cy="457969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1814" spc="27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" name="Forme libre 5">
            <a:extLst>
              <a:ext uri="{FF2B5EF4-FFF2-40B4-BE49-F238E27FC236}">
                <a16:creationId xmlns:a16="http://schemas.microsoft.com/office/drawing/2014/main" id="{61CEC8BF-0762-CED3-DF3D-1F0C587D829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auto">
          <a:xfrm>
            <a:off x="623745" y="4071435"/>
            <a:ext cx="977860" cy="925932"/>
          </a:xfrm>
          <a:custGeom>
            <a:avLst/>
            <a:gdLst>
              <a:gd name="connsiteX0" fmla="*/ 0 w 857537"/>
              <a:gd name="connsiteY0" fmla="*/ 0 h 1020669"/>
              <a:gd name="connsiteX1" fmla="*/ 857537 w 857537"/>
              <a:gd name="connsiteY1" fmla="*/ 0 h 1020669"/>
              <a:gd name="connsiteX2" fmla="*/ 857537 w 857537"/>
              <a:gd name="connsiteY2" fmla="*/ 1020669 h 1020669"/>
              <a:gd name="connsiteX3" fmla="*/ 0 w 857537"/>
              <a:gd name="connsiteY3" fmla="*/ 1020669 h 102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7537" h="1020669">
                <a:moveTo>
                  <a:pt x="0" y="0"/>
                </a:moveTo>
                <a:lnTo>
                  <a:pt x="857537" y="0"/>
                </a:lnTo>
                <a:lnTo>
                  <a:pt x="857537" y="1020669"/>
                </a:lnTo>
                <a:lnTo>
                  <a:pt x="0" y="10206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7" name="Forme libre 6">
            <a:extLst>
              <a:ext uri="{FF2B5EF4-FFF2-40B4-BE49-F238E27FC236}">
                <a16:creationId xmlns:a16="http://schemas.microsoft.com/office/drawing/2014/main" id="{DDD58C22-2ACF-73DE-813E-AFFAAD5EFE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auto">
          <a:xfrm>
            <a:off x="3426726" y="4071435"/>
            <a:ext cx="992340" cy="925932"/>
          </a:xfrm>
          <a:custGeom>
            <a:avLst/>
            <a:gdLst>
              <a:gd name="connsiteX0" fmla="*/ 0 w 870236"/>
              <a:gd name="connsiteY0" fmla="*/ 0 h 1020669"/>
              <a:gd name="connsiteX1" fmla="*/ 870236 w 870236"/>
              <a:gd name="connsiteY1" fmla="*/ 0 h 1020669"/>
              <a:gd name="connsiteX2" fmla="*/ 870236 w 870236"/>
              <a:gd name="connsiteY2" fmla="*/ 1020669 h 1020669"/>
              <a:gd name="connsiteX3" fmla="*/ 0 w 870236"/>
              <a:gd name="connsiteY3" fmla="*/ 1020669 h 102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0236" h="1020669">
                <a:moveTo>
                  <a:pt x="0" y="0"/>
                </a:moveTo>
                <a:lnTo>
                  <a:pt x="870236" y="0"/>
                </a:lnTo>
                <a:lnTo>
                  <a:pt x="870236" y="1020669"/>
                </a:lnTo>
                <a:lnTo>
                  <a:pt x="0" y="10206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8" name="Forme libre 7">
            <a:extLst>
              <a:ext uri="{FF2B5EF4-FFF2-40B4-BE49-F238E27FC236}">
                <a16:creationId xmlns:a16="http://schemas.microsoft.com/office/drawing/2014/main" id="{F0CA81EE-DF97-9F9A-D740-40F379CA81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auto">
          <a:xfrm>
            <a:off x="623745" y="5305272"/>
            <a:ext cx="2085569" cy="925932"/>
          </a:xfrm>
          <a:custGeom>
            <a:avLst/>
            <a:gdLst>
              <a:gd name="connsiteX0" fmla="*/ 0 w 857537"/>
              <a:gd name="connsiteY0" fmla="*/ 0 h 1020669"/>
              <a:gd name="connsiteX1" fmla="*/ 857537 w 857537"/>
              <a:gd name="connsiteY1" fmla="*/ 0 h 1020669"/>
              <a:gd name="connsiteX2" fmla="*/ 857537 w 857537"/>
              <a:gd name="connsiteY2" fmla="*/ 1020669 h 1020669"/>
              <a:gd name="connsiteX3" fmla="*/ 0 w 857537"/>
              <a:gd name="connsiteY3" fmla="*/ 1020669 h 10206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7537" h="1020669">
                <a:moveTo>
                  <a:pt x="0" y="0"/>
                </a:moveTo>
                <a:lnTo>
                  <a:pt x="857537" y="0"/>
                </a:lnTo>
                <a:lnTo>
                  <a:pt x="857537" y="1020669"/>
                </a:lnTo>
                <a:lnTo>
                  <a:pt x="0" y="102066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>
            <a:noAutofit/>
          </a:bodyPr>
          <a:lstStyle/>
          <a:p>
            <a:endParaRPr lang="fr-FR"/>
          </a:p>
        </p:txBody>
      </p:sp>
      <p:sp>
        <p:nvSpPr>
          <p:cNvPr id="9" name="Espace réservé du texte 34">
            <a:extLst>
              <a:ext uri="{FF2B5EF4-FFF2-40B4-BE49-F238E27FC236}">
                <a16:creationId xmlns:a16="http://schemas.microsoft.com/office/drawing/2014/main" id="{DE775849-5F33-F813-E110-0180E18AB2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97187" y="5773236"/>
            <a:ext cx="1292664" cy="457968"/>
          </a:xfrm>
        </p:spPr>
        <p:txBody>
          <a:bodyPr anchor="b"/>
          <a:lstStyle>
            <a:lvl1pPr>
              <a:defRPr sz="635" b="0"/>
            </a:lvl1pPr>
            <a:lvl2pPr>
              <a:defRPr sz="635"/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34">
            <a:extLst>
              <a:ext uri="{FF2B5EF4-FFF2-40B4-BE49-F238E27FC236}">
                <a16:creationId xmlns:a16="http://schemas.microsoft.com/office/drawing/2014/main" id="{587F2DB5-453D-6EAA-E8E1-DD185B2365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663616" y="4545200"/>
            <a:ext cx="1292664" cy="457968"/>
          </a:xfrm>
        </p:spPr>
        <p:txBody>
          <a:bodyPr anchor="b"/>
          <a:lstStyle>
            <a:lvl1pPr>
              <a:defRPr lang="fr-FR" sz="635" b="0" kern="1200" dirty="0" smtClean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>
              <a:defRPr sz="635"/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 algn="l" defTabSz="894352" rtl="0" eaLnBrk="0" fontAlgn="base" hangingPunct="0">
              <a:spcBef>
                <a:spcPct val="0"/>
              </a:spcBef>
              <a:spcAft>
                <a:spcPts val="590"/>
              </a:spcAft>
            </a:pPr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1" name="Espace réservé du texte 34">
            <a:extLst>
              <a:ext uri="{FF2B5EF4-FFF2-40B4-BE49-F238E27FC236}">
                <a16:creationId xmlns:a16="http://schemas.microsoft.com/office/drawing/2014/main" id="{A707801A-C831-E5D8-D3BE-4AC6142DEB2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92574" y="4545200"/>
            <a:ext cx="1292664" cy="457968"/>
          </a:xfrm>
        </p:spPr>
        <p:txBody>
          <a:bodyPr anchor="b"/>
          <a:lstStyle>
            <a:lvl1pPr>
              <a:defRPr sz="635" b="0"/>
            </a:lvl1pPr>
            <a:lvl2pPr>
              <a:defRPr sz="635"/>
            </a:lvl2pPr>
            <a:lvl3pPr>
              <a:defRPr sz="635"/>
            </a:lvl3pPr>
            <a:lvl4pPr>
              <a:defRPr sz="635"/>
            </a:lvl4pPr>
            <a:lvl5pPr>
              <a:defRPr sz="635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110709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201" y="1330126"/>
            <a:ext cx="10194470" cy="45467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4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5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  <p15:guide id="7" orient="horz" pos="370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3201" y="1330126"/>
            <a:ext cx="10194470" cy="45467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29" name="Shape 8"/>
          <p:cNvSpPr txBox="1">
            <a:spLocks/>
          </p:cNvSpPr>
          <p:nvPr userDrawn="1"/>
        </p:nvSpPr>
        <p:spPr>
          <a:xfrm>
            <a:off x="10946607" y="6266997"/>
            <a:ext cx="242486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GB" sz="1000" smtClean="0">
                <a:solidFill>
                  <a:schemeClr val="accent2"/>
                </a:solidFill>
                <a:latin typeface="+mn-lt"/>
                <a:ea typeface="Arial"/>
                <a:cs typeface="Arial" panose="020B0604020202020204" pitchFamily="34" charset="0"/>
              </a:rPr>
              <a:pPr algn="r"/>
              <a:t>‹#›</a:t>
            </a:fld>
            <a:endParaRPr lang="en-GB" sz="1000">
              <a:solidFill>
                <a:schemeClr val="accent2"/>
              </a:solidFill>
              <a:latin typeface="+mn-lt"/>
              <a:ea typeface="Arial"/>
              <a:cs typeface="Arial" panose="020B0604020202020204" pitchFamily="34" charset="0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024B3B3-3138-44BB-8DDD-6BDCEF24DEDC}"/>
              </a:ext>
            </a:extLst>
          </p:cNvPr>
          <p:cNvCxnSpPr/>
          <p:nvPr userDrawn="1"/>
        </p:nvCxnSpPr>
        <p:spPr>
          <a:xfrm>
            <a:off x="10928548" y="6266997"/>
            <a:ext cx="0" cy="149412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4726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b="1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5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8097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361950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-"/>
        <a:defRPr sz="15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542925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Arial" panose="020B0604020202020204" pitchFamily="34" charset="0"/>
        <a:buChar char="•"/>
        <a:defRPr sz="15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19138" indent="-18097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6pPr>
      <a:lvl7pPr marL="8969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7pPr>
      <a:lvl8pPr marL="1074738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Arial" panose="020B0604020202020204" pitchFamily="34" charset="0"/>
        <a:buChar char="-"/>
        <a:defRPr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1257300" indent="-1825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27">
          <p15:clr>
            <a:srgbClr val="F26B43"/>
          </p15:clr>
        </p15:guide>
        <p15:guide id="3" pos="7055">
          <p15:clr>
            <a:srgbClr val="F26B43"/>
          </p15:clr>
        </p15:guide>
        <p15:guide id="4" orient="horz" pos="838">
          <p15:clr>
            <a:srgbClr val="F26B43"/>
          </p15:clr>
        </p15:guide>
        <p15:guide id="5" orient="horz" pos="612">
          <p15:clr>
            <a:srgbClr val="F26B43"/>
          </p15:clr>
        </p15:guide>
        <p15:guide id="6" orient="horz" pos="272">
          <p15:clr>
            <a:srgbClr val="F26B43"/>
          </p15:clr>
        </p15:guide>
        <p15:guide id="7" orient="horz" pos="370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3_95A24BDF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D36216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alphaModFix amt="7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body" sz="quarter" idx="11"/>
          </p:nvPr>
        </p:nvSpPr>
        <p:spPr>
          <a:xfrm>
            <a:off x="1274841" y="5251269"/>
            <a:ext cx="5719338" cy="310884"/>
          </a:xfrm>
        </p:spPr>
        <p:txBody>
          <a:bodyPr/>
          <a:lstStyle/>
          <a:p>
            <a:pPr lvl="1"/>
            <a:endParaRPr lang="en-US" noProof="0"/>
          </a:p>
          <a:p>
            <a:pPr lvl="1"/>
            <a:r>
              <a:rPr lang="en-US" b="1" noProof="0"/>
              <a:t>KPMG. Make the Difference.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23BCEAA-8B8F-C726-A581-F07F45FE6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6662" y="369318"/>
            <a:ext cx="2508570" cy="372105"/>
          </a:xfrm>
          <a:prstGeom prst="rect">
            <a:avLst/>
          </a:prstGeom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B430ED2E-F676-7AF4-8780-E05446958F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4841" y="1764698"/>
            <a:ext cx="5719338" cy="3370041"/>
          </a:xfrm>
        </p:spPr>
        <p:txBody>
          <a:bodyPr/>
          <a:lstStyle/>
          <a:p>
            <a:r>
              <a:rPr lang="en-US" noProof="0"/>
              <a:t>Audit Committee</a:t>
            </a:r>
            <a:br>
              <a:rPr lang="en-US" noProof="0"/>
            </a:br>
            <a:br>
              <a:rPr lang="en-US" sz="2000" noProof="0"/>
            </a:br>
            <a:br>
              <a:rPr lang="en-US" sz="2000" noProof="0"/>
            </a:br>
            <a:r>
              <a:rPr lang="en-US" sz="2400" noProof="0"/>
              <a:t>ERP project</a:t>
            </a:r>
            <a:br>
              <a:rPr lang="en-US" sz="2400" noProof="0"/>
            </a:br>
            <a:br>
              <a:rPr lang="en-US" sz="2400" noProof="0"/>
            </a:br>
            <a:br>
              <a:rPr lang="en-US" b="1" noProof="0">
                <a:solidFill>
                  <a:srgbClr val="FFFFFF"/>
                </a:solidFill>
                <a:latin typeface="Arial"/>
              </a:rPr>
            </a:br>
            <a:r>
              <a:rPr lang="en-US" sz="1600" b="1" noProof="0">
                <a:solidFill>
                  <a:srgbClr val="FFFFFF"/>
                </a:solidFill>
                <a:latin typeface="Arial"/>
              </a:rPr>
              <a:t>Thursday 26</a:t>
            </a:r>
            <a:r>
              <a:rPr lang="en-US" sz="1600" b="1" baseline="30000" noProof="0">
                <a:solidFill>
                  <a:srgbClr val="FFFFFF"/>
                </a:solidFill>
                <a:latin typeface="Arial"/>
              </a:rPr>
              <a:t>th</a:t>
            </a:r>
            <a:r>
              <a:rPr lang="en-US" sz="1600" b="1" noProof="0">
                <a:solidFill>
                  <a:srgbClr val="FFFFFF"/>
                </a:solidFill>
                <a:latin typeface="Arial"/>
              </a:rPr>
              <a:t> February 2026</a:t>
            </a:r>
            <a:br>
              <a:rPr lang="en-US" sz="1600" b="1" noProof="0">
                <a:solidFill>
                  <a:srgbClr val="FFFFFF"/>
                </a:solidFill>
                <a:latin typeface="Arial"/>
              </a:rPr>
            </a:br>
            <a:endParaRPr lang="en-US" noProof="0">
              <a:highlight>
                <a:srgbClr val="FF00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28271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alphaModFix amt="7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D8D92BD-F0FD-41A0-9A4C-EDE056F9FD52}"/>
              </a:ext>
            </a:extLst>
          </p:cNvPr>
          <p:cNvSpPr/>
          <p:nvPr/>
        </p:nvSpPr>
        <p:spPr>
          <a:xfrm rot="16200000">
            <a:off x="1898494" y="76039"/>
            <a:ext cx="4905372" cy="669639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83D7BC-72BF-4236-A4D2-92DFC4BE52F3}"/>
              </a:ext>
            </a:extLst>
          </p:cNvPr>
          <p:cNvSpPr txBox="1"/>
          <p:nvPr/>
        </p:nvSpPr>
        <p:spPr>
          <a:xfrm>
            <a:off x="1490663" y="1330008"/>
            <a:ext cx="1900397" cy="5816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KPMG Bold"/>
                <a:ea typeface="+mn-ea"/>
                <a:cs typeface="+mn-cs"/>
              </a:rPr>
              <a:t>Agenda</a:t>
            </a:r>
          </a:p>
        </p:txBody>
      </p:sp>
      <p:graphicFrame>
        <p:nvGraphicFramePr>
          <p:cNvPr id="6" name="Table 24">
            <a:extLst>
              <a:ext uri="{FF2B5EF4-FFF2-40B4-BE49-F238E27FC236}">
                <a16:creationId xmlns:a16="http://schemas.microsoft.com/office/drawing/2014/main" id="{60BA7405-19F3-41C8-B920-1316ECFDBA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4339925"/>
              </p:ext>
            </p:extLst>
          </p:nvPr>
        </p:nvGraphicFramePr>
        <p:xfrm>
          <a:off x="1490663" y="2907624"/>
          <a:ext cx="5910262" cy="1630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318">
                  <a:extLst>
                    <a:ext uri="{9D8B030D-6E8A-4147-A177-3AD203B41FA5}">
                      <a16:colId xmlns:a16="http://schemas.microsoft.com/office/drawing/2014/main" val="1857791330"/>
                    </a:ext>
                  </a:extLst>
                </a:gridCol>
                <a:gridCol w="4762225">
                  <a:extLst>
                    <a:ext uri="{9D8B030D-6E8A-4147-A177-3AD203B41FA5}">
                      <a16:colId xmlns:a16="http://schemas.microsoft.com/office/drawing/2014/main" val="620299569"/>
                    </a:ext>
                  </a:extLst>
                </a:gridCol>
                <a:gridCol w="467719">
                  <a:extLst>
                    <a:ext uri="{9D8B030D-6E8A-4147-A177-3AD203B41FA5}">
                      <a16:colId xmlns:a16="http://schemas.microsoft.com/office/drawing/2014/main" val="1172101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/>
                          </a:solidFill>
                          <a:latin typeface="+mj-lt"/>
                        </a:rPr>
                        <a:t>01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noProof="0">
                          <a:solidFill>
                            <a:schemeClr val="bg1"/>
                          </a:solidFill>
                          <a:latin typeface="+mn-lt"/>
                        </a:rPr>
                        <a:t>High level summary</a:t>
                      </a:r>
                      <a:endParaRPr lang="en-US" sz="1600" b="0" noProof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noProof="0">
                          <a:solidFill>
                            <a:schemeClr val="bg1"/>
                          </a:solidFill>
                          <a:latin typeface="+mn-lt"/>
                        </a:rPr>
                        <a:t>03</a:t>
                      </a: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16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/>
                          </a:solidFill>
                          <a:latin typeface="+mj-lt"/>
                        </a:rPr>
                        <a:t>02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Timeline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noProof="0">
                          <a:solidFill>
                            <a:schemeClr val="bg1"/>
                          </a:solidFill>
                          <a:latin typeface="+mn-lt"/>
                        </a:rPr>
                        <a:t>07</a:t>
                      </a: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11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70000"/>
                        </a:lnSpc>
                      </a:pPr>
                      <a:r>
                        <a:rPr lang="en-US" sz="3200" b="1" noProof="0">
                          <a:solidFill>
                            <a:schemeClr val="bg1"/>
                          </a:solidFill>
                          <a:latin typeface="+mj-lt"/>
                        </a:rPr>
                        <a:t>03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Financial Overview</a:t>
                      </a:r>
                    </a:p>
                  </a:txBody>
                  <a:tcPr marL="0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noProof="0">
                          <a:solidFill>
                            <a:schemeClr val="bg1"/>
                          </a:solidFill>
                          <a:latin typeface="+mn-lt"/>
                        </a:rPr>
                        <a:t>17</a:t>
                      </a:r>
                    </a:p>
                  </a:txBody>
                  <a:tcPr marL="80189" marR="0" marT="90000" marB="90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77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9322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9E86A-CC4C-D334-1F6C-769D89518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8BDBEB-DEBD-BFDF-CBEE-CCD46EDB2F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b="1" noProof="0"/>
              <a:t>High level summary </a:t>
            </a:r>
            <a:endParaRPr lang="en-US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2C8756-4D91-94C1-9A28-9179BEC6CDF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3200" b="1" noProof="0"/>
              <a:t>01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C810938-DB43-6A11-88D7-AD4802BF4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662" y="369318"/>
            <a:ext cx="2508570" cy="37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36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4">
            <a:extLst>
              <a:ext uri="{FF2B5EF4-FFF2-40B4-BE49-F238E27FC236}">
                <a16:creationId xmlns:a16="http://schemas.microsoft.com/office/drawing/2014/main" id="{12DABB7B-C242-63A6-AFF5-4FE11C3EE09F}"/>
              </a:ext>
            </a:extLst>
          </p:cNvPr>
          <p:cNvSpPr txBox="1">
            <a:spLocks/>
          </p:cNvSpPr>
          <p:nvPr/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4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KPMG Bold"/>
                <a:ea typeface="+mj-ea"/>
                <a:cs typeface="+mj-cs"/>
              </a:rPr>
              <a:t>Key Benefits &amp; Partners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5A6E909-135E-FF4B-4B3A-36FE43F16384}"/>
              </a:ext>
            </a:extLst>
          </p:cNvPr>
          <p:cNvSpPr/>
          <p:nvPr/>
        </p:nvSpPr>
        <p:spPr>
          <a:xfrm>
            <a:off x="1213618" y="1247036"/>
            <a:ext cx="1783717" cy="21700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glow rad="127000">
              <a:srgbClr val="1E49E2">
                <a:lumMod val="20000"/>
                <a:lumOff val="80000"/>
              </a:srgbClr>
            </a:glow>
            <a:outerShdw blurRad="152400" sx="102000" sy="102000" algn="tl" rotWithShape="0">
              <a:prstClr val="black">
                <a:alpha val="10000"/>
              </a:prstClr>
            </a:outerShdw>
          </a:effectLst>
        </p:spPr>
        <p:txBody>
          <a:bodyPr lIns="360000" tIns="72000" rIns="504000" bIns="5461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1E49E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benefits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3C353B-FE47-6CB3-20E2-B98CA6FDAEC8}"/>
              </a:ext>
            </a:extLst>
          </p:cNvPr>
          <p:cNvSpPr/>
          <p:nvPr/>
        </p:nvSpPr>
        <p:spPr>
          <a:xfrm>
            <a:off x="1213618" y="3862682"/>
            <a:ext cx="1783717" cy="100473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glow rad="127000">
              <a:srgbClr val="FD349C">
                <a:lumMod val="20000"/>
                <a:lumOff val="80000"/>
              </a:srgbClr>
            </a:glow>
            <a:outerShdw blurRad="152400" sx="102000" sy="102000" algn="tl" rotWithShape="0">
              <a:prstClr val="black">
                <a:alpha val="10000"/>
              </a:prstClr>
            </a:outerShdw>
          </a:effectLst>
        </p:spPr>
        <p:txBody>
          <a:bodyPr lIns="360000" tIns="72000" rIns="324000" bIns="5461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FD349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19" name="Groupe 5">
            <a:extLst>
              <a:ext uri="{FF2B5EF4-FFF2-40B4-BE49-F238E27FC236}">
                <a16:creationId xmlns:a16="http://schemas.microsoft.com/office/drawing/2014/main" id="{C5046965-AFFE-B9E5-16D3-B0D1D3EFEBAD}"/>
              </a:ext>
            </a:extLst>
          </p:cNvPr>
          <p:cNvGrpSpPr/>
          <p:nvPr/>
        </p:nvGrpSpPr>
        <p:grpSpPr>
          <a:xfrm>
            <a:off x="998400" y="1994442"/>
            <a:ext cx="396866" cy="675263"/>
            <a:chOff x="511101" y="5359302"/>
            <a:chExt cx="396866" cy="643960"/>
          </a:xfrm>
        </p:grpSpPr>
        <p:sp>
          <p:nvSpPr>
            <p:cNvPr id="25" name="Triangle isocèle 6">
              <a:extLst>
                <a:ext uri="{FF2B5EF4-FFF2-40B4-BE49-F238E27FC236}">
                  <a16:creationId xmlns:a16="http://schemas.microsoft.com/office/drawing/2014/main" id="{C127CE62-4D38-9FCD-8B80-9BC1C369E2B8}"/>
                </a:ext>
              </a:extLst>
            </p:cNvPr>
            <p:cNvSpPr/>
            <p:nvPr/>
          </p:nvSpPr>
          <p:spPr>
            <a:xfrm rot="5400000">
              <a:off x="386318" y="5508821"/>
              <a:ext cx="619224" cy="369657"/>
            </a:xfrm>
            <a:prstGeom prst="triangle">
              <a:avLst/>
            </a:prstGeom>
            <a:solidFill>
              <a:srgbClr val="00338D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Triangle isocèle 7">
              <a:extLst>
                <a:ext uri="{FF2B5EF4-FFF2-40B4-BE49-F238E27FC236}">
                  <a16:creationId xmlns:a16="http://schemas.microsoft.com/office/drawing/2014/main" id="{B1998AFB-ED2D-B31E-C3C3-167F68E60836}"/>
                </a:ext>
              </a:extLst>
            </p:cNvPr>
            <p:cNvSpPr/>
            <p:nvPr/>
          </p:nvSpPr>
          <p:spPr>
            <a:xfrm rot="5400000">
              <a:off x="413527" y="5484085"/>
              <a:ext cx="619224" cy="369657"/>
            </a:xfrm>
            <a:prstGeom prst="triangle">
              <a:avLst/>
            </a:prstGeom>
            <a:noFill/>
            <a:ln w="12700" cap="flat" cmpd="sng" algn="ctr">
              <a:solidFill>
                <a:srgbClr val="00338D"/>
              </a:solidFill>
              <a:prstDash val="dash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20" name="Groupe 8">
            <a:extLst>
              <a:ext uri="{FF2B5EF4-FFF2-40B4-BE49-F238E27FC236}">
                <a16:creationId xmlns:a16="http://schemas.microsoft.com/office/drawing/2014/main" id="{50FAA0C8-EED6-4E01-C8AB-9EAE3176DA31}"/>
              </a:ext>
            </a:extLst>
          </p:cNvPr>
          <p:cNvGrpSpPr/>
          <p:nvPr/>
        </p:nvGrpSpPr>
        <p:grpSpPr>
          <a:xfrm>
            <a:off x="989921" y="4043070"/>
            <a:ext cx="396866" cy="643960"/>
            <a:chOff x="511101" y="5359302"/>
            <a:chExt cx="396866" cy="643960"/>
          </a:xfrm>
        </p:grpSpPr>
        <p:sp>
          <p:nvSpPr>
            <p:cNvPr id="23" name="Triangle isocèle 9">
              <a:extLst>
                <a:ext uri="{FF2B5EF4-FFF2-40B4-BE49-F238E27FC236}">
                  <a16:creationId xmlns:a16="http://schemas.microsoft.com/office/drawing/2014/main" id="{09EA56B1-98DD-1006-6526-8D721CB015A8}"/>
                </a:ext>
              </a:extLst>
            </p:cNvPr>
            <p:cNvSpPr/>
            <p:nvPr/>
          </p:nvSpPr>
          <p:spPr>
            <a:xfrm rot="5400000">
              <a:off x="386318" y="5508821"/>
              <a:ext cx="619224" cy="369657"/>
            </a:xfrm>
            <a:prstGeom prst="triangle">
              <a:avLst/>
            </a:prstGeom>
            <a:solidFill>
              <a:srgbClr val="FD349C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Triangle isocèle 10">
              <a:extLst>
                <a:ext uri="{FF2B5EF4-FFF2-40B4-BE49-F238E27FC236}">
                  <a16:creationId xmlns:a16="http://schemas.microsoft.com/office/drawing/2014/main" id="{7BB365DB-B23C-AF85-B5CC-2310CB3D7191}"/>
                </a:ext>
              </a:extLst>
            </p:cNvPr>
            <p:cNvSpPr/>
            <p:nvPr/>
          </p:nvSpPr>
          <p:spPr>
            <a:xfrm rot="5400000">
              <a:off x="413527" y="5484085"/>
              <a:ext cx="619224" cy="369657"/>
            </a:xfrm>
            <a:prstGeom prst="triangle">
              <a:avLst/>
            </a:prstGeom>
            <a:noFill/>
            <a:ln w="12700" cap="flat" cmpd="sng" algn="ctr">
              <a:solidFill>
                <a:srgbClr val="FD349C"/>
              </a:solidFill>
              <a:prstDash val="dash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03053E06-9A00-6CF5-1C82-295C7483A644}"/>
              </a:ext>
            </a:extLst>
          </p:cNvPr>
          <p:cNvSpPr/>
          <p:nvPr/>
        </p:nvSpPr>
        <p:spPr>
          <a:xfrm>
            <a:off x="3356742" y="1247036"/>
            <a:ext cx="6935133" cy="21700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glow rad="127000">
              <a:srgbClr val="1E49E2">
                <a:lumMod val="20000"/>
                <a:lumOff val="80000"/>
              </a:srgbClr>
            </a:glow>
            <a:outerShdw blurRad="152400" sx="102000" sy="102000" algn="tl" rotWithShape="0">
              <a:prstClr val="black">
                <a:alpha val="10000"/>
              </a:prstClr>
            </a:outerShdw>
          </a:effectLst>
        </p:spPr>
        <p:txBody>
          <a:bodyPr lIns="360000" tIns="72000" rIns="504000" bIns="54610"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Single solution supporting multi-currency, multi-GAAP, and bilingual (FR/EN) operations—built to scale with ABIVAX growth.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Stronger Compliance &amp; Internal Controls (SOX2-ready), improved audit trail, segregation of duties, approvals, and traceability to meet SOX2 expectations and reduce control gaps.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Standardized P2P workflows with clearer roles and automated steps to reduce manual effort, errors, and cycle times across all employees.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Better Spend, Cash &amp; Commitment Visibility, real-time view of spend, commitments, and cash impact, enabling tighter cost control and better treasury planning.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Faster Close &amp; Reliable Reporting (“Single Source of Truth”), more consistent master data and processes to accelerate period-end close, improve data quality, and enable decision-grade reporting.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F9D0733-9881-EE40-5453-49EEE86AA075}"/>
              </a:ext>
            </a:extLst>
          </p:cNvPr>
          <p:cNvSpPr/>
          <p:nvPr/>
        </p:nvSpPr>
        <p:spPr>
          <a:xfrm>
            <a:off x="3356743" y="3862682"/>
            <a:ext cx="6921530" cy="100473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glow rad="127000">
              <a:srgbClr val="FD349C">
                <a:lumMod val="20000"/>
                <a:lumOff val="80000"/>
              </a:srgbClr>
            </a:glow>
            <a:outerShdw blurRad="152400" sx="102000" sy="102000" algn="tl" rotWithShape="0">
              <a:prstClr val="black">
                <a:alpha val="10000"/>
              </a:prstClr>
            </a:outerShdw>
          </a:effectLst>
        </p:spPr>
        <p:txBody>
          <a:bodyPr lIns="360000" tIns="72000" rIns="324000" bIns="54610"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Oracle, with its solution </a:t>
            </a: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Ntesuite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is the ERP </a:t>
            </a:r>
            <a:r>
              <a:rPr lang="en-US" sz="1000" kern="0">
                <a:solidFill>
                  <a:srgbClr val="000000"/>
                </a:solidFill>
                <a:latin typeface="Arial"/>
              </a:rPr>
              <a:t>preferred 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partner at this stage. The program will implement the standard NetSuite solution (configured to ABIVAX’s FR/U.S. footprint and compliance needs), and the deployment will be delivered directly by NetSuite’s own implementation teams (editor/vendor-led delivery), ensuring product expertise, alignment with best practices, and faster issue resolution throughout the project and </a:t>
            </a: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hypercare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Commercial and legal negotiations is starting as of this week.</a:t>
            </a:r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FEC3C6BE-E56B-926F-61FB-3DC6B07406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368058" y="4137983"/>
            <a:ext cx="1498178" cy="454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AEC4A34-C405-0883-3D3E-74A56A7FD9F8}"/>
              </a:ext>
            </a:extLst>
          </p:cNvPr>
          <p:cNvSpPr/>
          <p:nvPr/>
        </p:nvSpPr>
        <p:spPr>
          <a:xfrm>
            <a:off x="1213618" y="5142719"/>
            <a:ext cx="1783717" cy="128348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glow rad="127000">
              <a:srgbClr val="FD349C">
                <a:lumMod val="20000"/>
                <a:lumOff val="80000"/>
              </a:srgbClr>
            </a:glow>
            <a:outerShdw blurRad="152400" sx="102000" sy="102000" algn="tl" rotWithShape="0">
              <a:prstClr val="black">
                <a:alpha val="10000"/>
              </a:prstClr>
            </a:outerShdw>
          </a:effectLst>
        </p:spPr>
        <p:txBody>
          <a:bodyPr lIns="360000" tIns="72000" rIns="324000" bIns="5461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1" i="0" u="none" strike="noStrike" kern="0" cap="none" spc="0" normalizeH="0" baseline="0" noProof="0">
              <a:ln>
                <a:noFill/>
              </a:ln>
              <a:solidFill>
                <a:srgbClr val="FD349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3" name="Groupe 8">
            <a:extLst>
              <a:ext uri="{FF2B5EF4-FFF2-40B4-BE49-F238E27FC236}">
                <a16:creationId xmlns:a16="http://schemas.microsoft.com/office/drawing/2014/main" id="{DCF96106-8B46-5C15-6338-D8F90D1A05CB}"/>
              </a:ext>
            </a:extLst>
          </p:cNvPr>
          <p:cNvGrpSpPr/>
          <p:nvPr/>
        </p:nvGrpSpPr>
        <p:grpSpPr>
          <a:xfrm>
            <a:off x="989921" y="5462479"/>
            <a:ext cx="396866" cy="643960"/>
            <a:chOff x="511101" y="5359302"/>
            <a:chExt cx="396866" cy="643960"/>
          </a:xfrm>
        </p:grpSpPr>
        <p:sp>
          <p:nvSpPr>
            <p:cNvPr id="4" name="Triangle isocèle 9">
              <a:extLst>
                <a:ext uri="{FF2B5EF4-FFF2-40B4-BE49-F238E27FC236}">
                  <a16:creationId xmlns:a16="http://schemas.microsoft.com/office/drawing/2014/main" id="{669007D6-9DC5-2248-AE53-8241F2FBD4AC}"/>
                </a:ext>
              </a:extLst>
            </p:cNvPr>
            <p:cNvSpPr/>
            <p:nvPr/>
          </p:nvSpPr>
          <p:spPr>
            <a:xfrm rot="5400000">
              <a:off x="386318" y="5508821"/>
              <a:ext cx="619224" cy="369657"/>
            </a:xfrm>
            <a:prstGeom prst="triangle">
              <a:avLst/>
            </a:prstGeom>
            <a:solidFill>
              <a:srgbClr val="FD349C">
                <a:lumMod val="20000"/>
                <a:lumOff val="8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Triangle isocèle 10">
              <a:extLst>
                <a:ext uri="{FF2B5EF4-FFF2-40B4-BE49-F238E27FC236}">
                  <a16:creationId xmlns:a16="http://schemas.microsoft.com/office/drawing/2014/main" id="{E63CA33B-8362-C021-0D98-7F00F719CDFC}"/>
                </a:ext>
              </a:extLst>
            </p:cNvPr>
            <p:cNvSpPr/>
            <p:nvPr/>
          </p:nvSpPr>
          <p:spPr>
            <a:xfrm rot="5400000">
              <a:off x="413527" y="5484085"/>
              <a:ext cx="619224" cy="369657"/>
            </a:xfrm>
            <a:prstGeom prst="triangle">
              <a:avLst/>
            </a:prstGeom>
            <a:noFill/>
            <a:ln w="12700" cap="flat" cmpd="sng" algn="ctr">
              <a:solidFill>
                <a:srgbClr val="FD349C"/>
              </a:solidFill>
              <a:prstDash val="dash"/>
              <a:miter lim="800000"/>
            </a:ln>
            <a:effectLst/>
          </p:spPr>
          <p:txBody>
            <a:bodyPr lIns="54610" tIns="54610" rIns="54610" bIns="54610"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9EF943DC-0EC4-3128-E768-CFC673AFCB9A}"/>
              </a:ext>
            </a:extLst>
          </p:cNvPr>
          <p:cNvSpPr/>
          <p:nvPr/>
        </p:nvSpPr>
        <p:spPr>
          <a:xfrm>
            <a:off x="3356743" y="5142718"/>
            <a:ext cx="6921530" cy="128348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>
            <a:glow rad="127000">
              <a:srgbClr val="FD349C">
                <a:lumMod val="20000"/>
                <a:lumOff val="80000"/>
              </a:srgbClr>
            </a:glow>
            <a:outerShdw blurRad="152400" sx="102000" sy="102000" algn="tl" rotWithShape="0">
              <a:prstClr val="black">
                <a:alpha val="10000"/>
              </a:prstClr>
            </a:outerShdw>
          </a:effectLst>
        </p:spPr>
        <p:txBody>
          <a:bodyPr lIns="360000" tIns="72000" rIns="324000" bIns="54610" rtlCol="0" anchor="ctr"/>
          <a:lstStyle/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KPMG supported </a:t>
            </a: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Abivax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 precisely identifying the needs the ERP must address, formalizing these requirements, and leading the selection of the best-fit solution and implementation partner aligned with </a:t>
            </a: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Abivax’s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needs and context.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Going forward, KPMG could continue to support </a:t>
            </a:r>
            <a:r>
              <a:rPr kumimoji="0" lang="en-US" sz="1000" b="0" i="0" u="none" strike="noStrike" kern="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Abivax</a:t>
            </a:r>
            <a:r>
              <a:rPr kumimoji="0" 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regarding project management, functional assistance, and change management (currently under discussion)</a:t>
            </a:r>
          </a:p>
        </p:txBody>
      </p:sp>
      <p:pic>
        <p:nvPicPr>
          <p:cNvPr id="8" name="Image 17" descr="Une image contenant Police, Graphique, logo, graphisme&#10;&#10;Description générée automatiquement">
            <a:extLst>
              <a:ext uri="{FF2B5EF4-FFF2-40B4-BE49-F238E27FC236}">
                <a16:creationId xmlns:a16="http://schemas.microsoft.com/office/drawing/2014/main" id="{BFAA2D8C-3D1A-EA0A-7F1E-F1C57EA53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067" y="5534892"/>
            <a:ext cx="1164613" cy="49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209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FEB7350-4D58-D9E2-B0E9-C9A92A0092A0}"/>
              </a:ext>
            </a:extLst>
          </p:cNvPr>
          <p:cNvSpPr/>
          <p:nvPr/>
        </p:nvSpPr>
        <p:spPr>
          <a:xfrm rot="16200000">
            <a:off x="8484106" y="3091210"/>
            <a:ext cx="1470837" cy="4127620"/>
          </a:xfrm>
          <a:prstGeom prst="rect">
            <a:avLst/>
          </a:prstGeom>
          <a:solidFill>
            <a:srgbClr val="A89EE6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0958" tIns="18000" rIns="40958" bIns="40958" rtlCol="0" anchor="t"/>
          <a:lstStyle/>
          <a:p>
            <a:pPr marL="0" marR="0" lvl="0" indent="0" algn="ctr" defTabSz="6858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F1E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Integrator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713015-A1E5-8A54-7AF4-DC1576DF8A41}"/>
              </a:ext>
            </a:extLst>
          </p:cNvPr>
          <p:cNvSpPr/>
          <p:nvPr/>
        </p:nvSpPr>
        <p:spPr>
          <a:xfrm rot="16200000">
            <a:off x="8539760" y="1277994"/>
            <a:ext cx="1359525" cy="4127620"/>
          </a:xfrm>
          <a:prstGeom prst="rect">
            <a:avLst/>
          </a:prstGeom>
          <a:solidFill>
            <a:srgbClr val="A89EE6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0958" tIns="18000" rIns="40958" bIns="40958" rtlCol="0" anchor="t"/>
          <a:lstStyle/>
          <a:p>
            <a:pPr marL="0" marR="0" lvl="0" indent="0" algn="ctr" defTabSz="6858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kern="0" noProof="0">
                <a:solidFill>
                  <a:srgbClr val="0F1E59"/>
                </a:solidFill>
                <a:latin typeface="Arial" panose="020B0604020202020204"/>
              </a:rPr>
              <a:t>Editor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0F1E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C5FA4E-1F44-4CA7-FBAA-D68CA10D4105}"/>
              </a:ext>
            </a:extLst>
          </p:cNvPr>
          <p:cNvSpPr/>
          <p:nvPr/>
        </p:nvSpPr>
        <p:spPr>
          <a:xfrm>
            <a:off x="8835155" y="1774313"/>
            <a:ext cx="2498528" cy="4296887"/>
          </a:xfrm>
          <a:prstGeom prst="rect">
            <a:avLst/>
          </a:prstGeom>
          <a:solidFill>
            <a:srgbClr val="FFFFFF">
              <a:alpha val="90000"/>
            </a:srgbClr>
          </a:solidFill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txBody>
          <a:bodyPr lIns="40958" tIns="40958" rIns="40958" bIns="40958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ECF433-1C53-072B-5092-CD0BD0CEC6B7}"/>
              </a:ext>
            </a:extLst>
          </p:cNvPr>
          <p:cNvSpPr/>
          <p:nvPr/>
        </p:nvSpPr>
        <p:spPr>
          <a:xfrm rot="16200000">
            <a:off x="2967986" y="3188616"/>
            <a:ext cx="742950" cy="4655391"/>
          </a:xfrm>
          <a:prstGeom prst="rect">
            <a:avLst/>
          </a:prstGeom>
          <a:solidFill>
            <a:srgbClr val="A89EE6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0958" tIns="18000" rIns="40958" bIns="40958" rtlCol="0" anchor="t"/>
          <a:lstStyle/>
          <a:p>
            <a:pPr marL="0" marR="0" lvl="0" indent="0" algn="ctr" defTabSz="6858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F1E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Infra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3C7C53-AFB2-3641-4BDF-93ED04FD3616}"/>
              </a:ext>
            </a:extLst>
          </p:cNvPr>
          <p:cNvSpPr/>
          <p:nvPr/>
        </p:nvSpPr>
        <p:spPr>
          <a:xfrm rot="16200000">
            <a:off x="2826963" y="2178962"/>
            <a:ext cx="1024985" cy="4655393"/>
          </a:xfrm>
          <a:prstGeom prst="rect">
            <a:avLst/>
          </a:prstGeom>
          <a:solidFill>
            <a:srgbClr val="A89EE6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0958" tIns="18000" rIns="40958" bIns="40958" rtlCol="0" anchor="t"/>
          <a:lstStyle/>
          <a:p>
            <a:pPr marL="0" marR="0" lvl="0" indent="0" algn="ctr" defTabSz="6858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F1E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References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65672D-26DB-5B69-3D9E-AA2A21AB2B19}"/>
              </a:ext>
            </a:extLst>
          </p:cNvPr>
          <p:cNvSpPr/>
          <p:nvPr/>
        </p:nvSpPr>
        <p:spPr>
          <a:xfrm rot="16200000">
            <a:off x="2704972" y="945894"/>
            <a:ext cx="1223097" cy="4655393"/>
          </a:xfrm>
          <a:prstGeom prst="rect">
            <a:avLst/>
          </a:prstGeom>
          <a:solidFill>
            <a:srgbClr val="A89EE6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40958" tIns="18000" rIns="40958" bIns="40958" rtlCol="0" anchor="t"/>
          <a:lstStyle/>
          <a:p>
            <a:pPr marL="0" marR="0" lvl="0" indent="0" algn="ctr" defTabSz="685800" rtl="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0F1E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 solution coverage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13786A-433D-1262-09EE-658F38C761A6}"/>
              </a:ext>
            </a:extLst>
          </p:cNvPr>
          <p:cNvSpPr/>
          <p:nvPr/>
        </p:nvSpPr>
        <p:spPr>
          <a:xfrm>
            <a:off x="1704610" y="1774314"/>
            <a:ext cx="3544331" cy="4296886"/>
          </a:xfrm>
          <a:prstGeom prst="rect">
            <a:avLst/>
          </a:prstGeom>
          <a:solidFill>
            <a:srgbClr val="FFFFFF">
              <a:alpha val="90000"/>
            </a:srgbClr>
          </a:solidFill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txBody>
          <a:bodyPr lIns="40958" tIns="40958" rIns="40958" bIns="40958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1F6DE2C-496F-2E93-4943-A8F3E37110E8}"/>
              </a:ext>
            </a:extLst>
          </p:cNvPr>
          <p:cNvGrpSpPr/>
          <p:nvPr/>
        </p:nvGrpSpPr>
        <p:grpSpPr>
          <a:xfrm>
            <a:off x="2417115" y="1986228"/>
            <a:ext cx="2175390" cy="576367"/>
            <a:chOff x="7669843" y="1241941"/>
            <a:chExt cx="2175390" cy="576367"/>
          </a:xfrm>
        </p:grpSpPr>
        <p:pic>
          <p:nvPicPr>
            <p:cNvPr id="11" name="Picture 4">
              <a:extLst>
                <a:ext uri="{FF2B5EF4-FFF2-40B4-BE49-F238E27FC236}">
                  <a16:creationId xmlns:a16="http://schemas.microsoft.com/office/drawing/2014/main" id="{481EA649-EE6B-19C0-B08A-9FC6B75922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 bwMode="auto">
            <a:xfrm>
              <a:off x="7669843" y="1241941"/>
              <a:ext cx="1722830" cy="5222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4" descr="Netsuite: Business Management Suite Integration - Pipeliner CRM">
              <a:extLst>
                <a:ext uri="{FF2B5EF4-FFF2-40B4-BE49-F238E27FC236}">
                  <a16:creationId xmlns:a16="http://schemas.microsoft.com/office/drawing/2014/main" id="{61F891EA-D2AE-E32E-A4F6-CF3703A8A04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5421"/>
            <a:stretch>
              <a:fillRect/>
            </a:stretch>
          </p:blipFill>
          <p:spPr bwMode="auto">
            <a:xfrm>
              <a:off x="9090016" y="1630949"/>
              <a:ext cx="755217" cy="1873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Rechteck: abgerundete Ecken 73">
            <a:extLst>
              <a:ext uri="{FF2B5EF4-FFF2-40B4-BE49-F238E27FC236}">
                <a16:creationId xmlns:a16="http://schemas.microsoft.com/office/drawing/2014/main" id="{8352720F-37D0-06F7-DAC4-414E280AC166}"/>
              </a:ext>
            </a:extLst>
          </p:cNvPr>
          <p:cNvSpPr/>
          <p:nvPr/>
        </p:nvSpPr>
        <p:spPr>
          <a:xfrm>
            <a:off x="1811557" y="2628924"/>
            <a:ext cx="3176237" cy="1235861"/>
          </a:xfrm>
          <a:prstGeom prst="roundRect">
            <a:avLst>
              <a:gd name="adj" fmla="val 11243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958" tIns="40958" rIns="40958" bIns="40958" rtlCol="0" anchor="ctr"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33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ERP: 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NetSuite, including Procurement Mid-Market Cloud Service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33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33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Options:</a:t>
            </a:r>
          </a:p>
          <a:p>
            <a:pPr marL="266700" marR="0" lvl="1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33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Middleware: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NSIP Oracle </a:t>
            </a:r>
            <a:r>
              <a:rPr kumimoji="0" lang="en-US" sz="900" b="0" i="0" u="none" strike="noStrike" kern="1200" cap="none" spc="0" normalizeH="0" baseline="0" noProof="0" err="1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Netsuite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middleware</a:t>
            </a:r>
          </a:p>
          <a:p>
            <a:pPr marL="266700" marR="0" lvl="1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33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E-invoicing: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NetSuite + Avalara</a:t>
            </a:r>
          </a:p>
          <a:p>
            <a:pPr marL="266700" marR="0" lvl="1" indent="-88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C233C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BI solution: </a:t>
            </a: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NetSuite Analytics Warehouse</a:t>
            </a:r>
          </a:p>
        </p:txBody>
      </p:sp>
      <p:sp>
        <p:nvSpPr>
          <p:cNvPr id="16" name="Rechteck: abgerundete Ecken 73">
            <a:extLst>
              <a:ext uri="{FF2B5EF4-FFF2-40B4-BE49-F238E27FC236}">
                <a16:creationId xmlns:a16="http://schemas.microsoft.com/office/drawing/2014/main" id="{36AF92E4-39E2-4BB4-BC04-8C0352DAB8B7}"/>
              </a:ext>
            </a:extLst>
          </p:cNvPr>
          <p:cNvSpPr/>
          <p:nvPr/>
        </p:nvSpPr>
        <p:spPr>
          <a:xfrm>
            <a:off x="1965440" y="3985248"/>
            <a:ext cx="2582796" cy="1033906"/>
          </a:xfrm>
          <a:prstGeom prst="roundRect">
            <a:avLst>
              <a:gd name="adj" fmla="val 11243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958" tIns="40958" rIns="40958" bIns="40958" rtlCol="0" anchor="ctr"/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Ennov: </a:t>
            </a:r>
            <a:r>
              <a:rPr lang="en-US" sz="900" noProof="0">
                <a:solidFill>
                  <a:schemeClr val="tx1"/>
                </a:solidFill>
                <a:latin typeface="Arial"/>
              </a:rPr>
              <a:t>Life sciences</a:t>
            </a: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 err="1">
                <a:solidFill>
                  <a:schemeClr val="tx1"/>
                </a:solidFill>
                <a:latin typeface="Arial"/>
              </a:rPr>
              <a:t>ITBMed</a:t>
            </a:r>
            <a:r>
              <a:rPr lang="en-US" sz="900" b="1" noProof="0">
                <a:solidFill>
                  <a:schemeClr val="tx1"/>
                </a:solidFill>
                <a:latin typeface="Arial"/>
              </a:rPr>
              <a:t>: </a:t>
            </a:r>
            <a:r>
              <a:rPr lang="en-US" sz="900" noProof="0">
                <a:solidFill>
                  <a:schemeClr val="tx1"/>
                </a:solidFill>
                <a:latin typeface="Arial"/>
              </a:rPr>
              <a:t>Biotech</a:t>
            </a: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EFESO: </a:t>
            </a:r>
            <a:r>
              <a:rPr lang="en-US" sz="900" noProof="0">
                <a:solidFill>
                  <a:schemeClr val="tx1"/>
                </a:solidFill>
                <a:latin typeface="Arial"/>
              </a:rPr>
              <a:t>Industrial performance consulting</a:t>
            </a:r>
          </a:p>
        </p:txBody>
      </p:sp>
      <p:sp>
        <p:nvSpPr>
          <p:cNvPr id="17" name="Rechteck: abgerundete Ecken 73">
            <a:extLst>
              <a:ext uri="{FF2B5EF4-FFF2-40B4-BE49-F238E27FC236}">
                <a16:creationId xmlns:a16="http://schemas.microsoft.com/office/drawing/2014/main" id="{3B8D0916-45D4-81B7-61CF-2D5E081D3F2C}"/>
              </a:ext>
            </a:extLst>
          </p:cNvPr>
          <p:cNvSpPr/>
          <p:nvPr/>
        </p:nvSpPr>
        <p:spPr>
          <a:xfrm>
            <a:off x="1965439" y="5144835"/>
            <a:ext cx="2582796" cy="742951"/>
          </a:xfrm>
          <a:prstGeom prst="roundRect">
            <a:avLst>
              <a:gd name="adj" fmla="val 11243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958" tIns="40958" rIns="40958" bIns="40958" rtlCol="0" anchor="ctr"/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noProof="0">
                <a:solidFill>
                  <a:schemeClr val="tx1"/>
                </a:solidFill>
                <a:latin typeface="Arial"/>
              </a:rPr>
              <a:t>SaaS public cloud application, hosted in distributed Oracle data centers</a:t>
            </a:r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54AC54F8-631F-D25F-E641-D6D26302B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228687" y="1971665"/>
            <a:ext cx="1759668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 descr="Netsuite: Business Management Suite Integration - Pipeliner CRM">
            <a:extLst>
              <a:ext uri="{FF2B5EF4-FFF2-40B4-BE49-F238E27FC236}">
                <a16:creationId xmlns:a16="http://schemas.microsoft.com/office/drawing/2014/main" id="{6A3A3D7C-AF67-33B7-5B8F-9FF3060707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421"/>
          <a:stretch>
            <a:fillRect/>
          </a:stretch>
        </p:blipFill>
        <p:spPr bwMode="auto">
          <a:xfrm>
            <a:off x="9447467" y="4032201"/>
            <a:ext cx="1322108" cy="32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hteck: abgerundete Ecken 73">
            <a:extLst>
              <a:ext uri="{FF2B5EF4-FFF2-40B4-BE49-F238E27FC236}">
                <a16:creationId xmlns:a16="http://schemas.microsoft.com/office/drawing/2014/main" id="{1D279C10-0278-3BC9-6AA9-BE614F00291D}"/>
              </a:ext>
            </a:extLst>
          </p:cNvPr>
          <p:cNvSpPr/>
          <p:nvPr/>
        </p:nvSpPr>
        <p:spPr>
          <a:xfrm>
            <a:off x="7339946" y="2662042"/>
            <a:ext cx="1697226" cy="1582595"/>
          </a:xfrm>
          <a:prstGeom prst="roundRect">
            <a:avLst>
              <a:gd name="adj" fmla="val 11243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958" tIns="40958" rIns="40958" bIns="40958" rtlCol="0" anchor="t"/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Year of creation 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Activity and expertise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Workforce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Certifications 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Revenue/Turnover</a:t>
            </a:r>
          </a:p>
        </p:txBody>
      </p:sp>
      <p:sp>
        <p:nvSpPr>
          <p:cNvPr id="23" name="Rechteck: abgerundete Ecken 73">
            <a:extLst>
              <a:ext uri="{FF2B5EF4-FFF2-40B4-BE49-F238E27FC236}">
                <a16:creationId xmlns:a16="http://schemas.microsoft.com/office/drawing/2014/main" id="{479EBDC1-D0A8-977C-4AF4-D00498CA09DF}"/>
              </a:ext>
            </a:extLst>
          </p:cNvPr>
          <p:cNvSpPr/>
          <p:nvPr/>
        </p:nvSpPr>
        <p:spPr>
          <a:xfrm>
            <a:off x="9092904" y="2662042"/>
            <a:ext cx="1923402" cy="1582596"/>
          </a:xfrm>
          <a:prstGeom prst="roundRect">
            <a:avLst>
              <a:gd name="adj" fmla="val 11243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958" tIns="40958" rIns="40958" bIns="40958" rtlCol="0" anchor="t"/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1977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Cloud, ERP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162 000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</a:rPr>
              <a:t>ISO27001 and SOC2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57,4 B</a:t>
            </a:r>
            <a:r>
              <a:rPr lang="en-US" sz="900" noProof="0">
                <a:solidFill>
                  <a:schemeClr val="tx1"/>
                </a:solidFill>
              </a:rPr>
              <a:t> €</a:t>
            </a:r>
            <a:endParaRPr lang="en-US" sz="900" b="1" noProof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24" name="Rechteck: abgerundete Ecken 73">
            <a:extLst>
              <a:ext uri="{FF2B5EF4-FFF2-40B4-BE49-F238E27FC236}">
                <a16:creationId xmlns:a16="http://schemas.microsoft.com/office/drawing/2014/main" id="{89FC7D9F-D666-71B7-4C97-BECA06509188}"/>
              </a:ext>
            </a:extLst>
          </p:cNvPr>
          <p:cNvSpPr/>
          <p:nvPr/>
        </p:nvSpPr>
        <p:spPr>
          <a:xfrm>
            <a:off x="7339946" y="4410517"/>
            <a:ext cx="1697226" cy="1591676"/>
          </a:xfrm>
          <a:prstGeom prst="roundRect">
            <a:avLst>
              <a:gd name="adj" fmla="val 11243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958" tIns="40958" rIns="40958" bIns="40958" rtlCol="0" anchor="t"/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Year of creation 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Workforce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Revenue/Turnover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Net income 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Team locations</a:t>
            </a:r>
          </a:p>
        </p:txBody>
      </p:sp>
      <p:sp>
        <p:nvSpPr>
          <p:cNvPr id="25" name="Rechteck: abgerundete Ecken 73">
            <a:extLst>
              <a:ext uri="{FF2B5EF4-FFF2-40B4-BE49-F238E27FC236}">
                <a16:creationId xmlns:a16="http://schemas.microsoft.com/office/drawing/2014/main" id="{30D87C70-98DE-73A5-ACDC-E5EFDEBD6720}"/>
              </a:ext>
            </a:extLst>
          </p:cNvPr>
          <p:cNvSpPr/>
          <p:nvPr/>
        </p:nvSpPr>
        <p:spPr>
          <a:xfrm>
            <a:off x="9092904" y="4428681"/>
            <a:ext cx="1923402" cy="1573512"/>
          </a:xfrm>
          <a:prstGeom prst="roundRect">
            <a:avLst>
              <a:gd name="adj" fmla="val 11243"/>
            </a:avLst>
          </a:prstGeom>
          <a:noFill/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0958" tIns="40958" rIns="40958" bIns="40958" rtlCol="0" anchor="t"/>
          <a:lstStyle/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1977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162 000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57,4 B </a:t>
            </a:r>
            <a:r>
              <a:rPr lang="en-US" sz="900" noProof="0">
                <a:solidFill>
                  <a:schemeClr val="tx1"/>
                </a:solidFill>
              </a:rPr>
              <a:t>€</a:t>
            </a: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12,44 B €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900" b="1" noProof="0">
              <a:solidFill>
                <a:schemeClr val="tx1"/>
              </a:solidFill>
              <a:latin typeface="Arial"/>
            </a:endParaRP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900" b="1" noProof="0">
                <a:solidFill>
                  <a:schemeClr val="tx1"/>
                </a:solidFill>
                <a:latin typeface="Arial"/>
              </a:rPr>
              <a:t>All over the world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C83C97-0E64-762E-25E8-FACF4D04D9A8}"/>
              </a:ext>
            </a:extLst>
          </p:cNvPr>
          <p:cNvSpPr txBox="1"/>
          <p:nvPr/>
        </p:nvSpPr>
        <p:spPr>
          <a:xfrm>
            <a:off x="988823" y="1371600"/>
            <a:ext cx="2821508" cy="27702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200" b="1" err="1">
                <a:solidFill>
                  <a:srgbClr val="0C233C"/>
                </a:solidFill>
              </a:rPr>
              <a:t>Selected</a:t>
            </a:r>
            <a:r>
              <a:rPr lang="fr-FR" sz="1200" b="1">
                <a:solidFill>
                  <a:srgbClr val="0C233C"/>
                </a:solidFill>
              </a:rPr>
              <a:t> solution scope: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CC40AC-1A2B-27D5-D485-FAF09EBD5E7B}"/>
              </a:ext>
            </a:extLst>
          </p:cNvPr>
          <p:cNvSpPr txBox="1"/>
          <p:nvPr/>
        </p:nvSpPr>
        <p:spPr>
          <a:xfrm>
            <a:off x="7155712" y="1371600"/>
            <a:ext cx="2821508" cy="27702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fr-FR" sz="1200" b="1">
                <a:solidFill>
                  <a:srgbClr val="0C233C"/>
                </a:solidFill>
              </a:rPr>
              <a:t>Editor and </a:t>
            </a:r>
            <a:r>
              <a:rPr lang="fr-FR" sz="1200" b="1" err="1">
                <a:solidFill>
                  <a:srgbClr val="0C233C"/>
                </a:solidFill>
              </a:rPr>
              <a:t>integrator</a:t>
            </a:r>
            <a:r>
              <a:rPr lang="fr-FR" sz="1200" b="1">
                <a:solidFill>
                  <a:srgbClr val="0C233C"/>
                </a:solidFill>
              </a:rPr>
              <a:t> informations: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38C39B3-D05A-3163-1DD3-68094006F00A}"/>
              </a:ext>
            </a:extLst>
          </p:cNvPr>
          <p:cNvCxnSpPr>
            <a:cxnSpLocks/>
          </p:cNvCxnSpPr>
          <p:nvPr/>
        </p:nvCxnSpPr>
        <p:spPr>
          <a:xfrm>
            <a:off x="6411433" y="3246854"/>
            <a:ext cx="0" cy="2356504"/>
          </a:xfrm>
          <a:prstGeom prst="line">
            <a:avLst/>
          </a:prstGeom>
          <a:ln w="28575">
            <a:solidFill>
              <a:srgbClr val="A89E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itle 4">
            <a:extLst>
              <a:ext uri="{FF2B5EF4-FFF2-40B4-BE49-F238E27FC236}">
                <a16:creationId xmlns:a16="http://schemas.microsoft.com/office/drawing/2014/main" id="{FE802F6B-0085-7D8F-069A-860B16FC9490}"/>
              </a:ext>
            </a:extLst>
          </p:cNvPr>
          <p:cNvSpPr txBox="1">
            <a:spLocks/>
          </p:cNvSpPr>
          <p:nvPr/>
        </p:nvSpPr>
        <p:spPr>
          <a:xfrm>
            <a:off x="908667" y="3847416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4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KPMG Bold"/>
              <a:ea typeface="+mj-ea"/>
              <a:cs typeface="+mj-cs"/>
            </a:endParaRPr>
          </a:p>
        </p:txBody>
      </p:sp>
      <p:sp>
        <p:nvSpPr>
          <p:cNvPr id="34" name="Title 4">
            <a:extLst>
              <a:ext uri="{FF2B5EF4-FFF2-40B4-BE49-F238E27FC236}">
                <a16:creationId xmlns:a16="http://schemas.microsoft.com/office/drawing/2014/main" id="{3A8CBF58-93B8-6C9A-4DF2-7BE9FC6702C6}"/>
              </a:ext>
            </a:extLst>
          </p:cNvPr>
          <p:cNvSpPr txBox="1">
            <a:spLocks/>
          </p:cNvSpPr>
          <p:nvPr/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4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KPMG Bold"/>
                <a:ea typeface="+mj-ea"/>
                <a:cs typeface="+mj-cs"/>
              </a:rPr>
              <a:t>Functional Scope</a:t>
            </a:r>
          </a:p>
        </p:txBody>
      </p:sp>
    </p:spTree>
    <p:extLst>
      <p:ext uri="{BB962C8B-B14F-4D97-AF65-F5344CB8AC3E}">
        <p14:creationId xmlns:p14="http://schemas.microsoft.com/office/powerpoint/2010/main" val="3671732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8DA3E-26C5-F5F4-BCA9-6018009DE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8ED5EA-E1F0-5452-59EB-D0BA9848B5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b="1" noProof="0"/>
              <a:t>Timeline</a:t>
            </a:r>
            <a:endParaRPr lang="en-US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75B9C2-246C-BFB0-2FC7-1299C1E05E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3200" b="1" noProof="0"/>
              <a:t>01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70480B2-81A3-DF4C-A814-E9386130C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662" y="369318"/>
            <a:ext cx="2508570" cy="37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115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157">
            <a:extLst>
              <a:ext uri="{FF2B5EF4-FFF2-40B4-BE49-F238E27FC236}">
                <a16:creationId xmlns:a16="http://schemas.microsoft.com/office/drawing/2014/main" id="{AF46E3A2-18A8-17CA-D261-B65760570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7119264"/>
              </p:ext>
            </p:extLst>
          </p:nvPr>
        </p:nvGraphicFramePr>
        <p:xfrm>
          <a:off x="1747402" y="1333499"/>
          <a:ext cx="9474478" cy="4687922"/>
        </p:xfrm>
        <a:graphic>
          <a:graphicData uri="http://schemas.openxmlformats.org/drawingml/2006/table">
            <a:tbl>
              <a:tblPr firstRow="1"/>
              <a:tblGrid>
                <a:gridCol w="728806">
                  <a:extLst>
                    <a:ext uri="{9D8B030D-6E8A-4147-A177-3AD203B41FA5}">
                      <a16:colId xmlns:a16="http://schemas.microsoft.com/office/drawing/2014/main" val="4151481631"/>
                    </a:ext>
                  </a:extLst>
                </a:gridCol>
                <a:gridCol w="728806">
                  <a:extLst>
                    <a:ext uri="{9D8B030D-6E8A-4147-A177-3AD203B41FA5}">
                      <a16:colId xmlns:a16="http://schemas.microsoft.com/office/drawing/2014/main" val="3201157598"/>
                    </a:ext>
                  </a:extLst>
                </a:gridCol>
                <a:gridCol w="728806">
                  <a:extLst>
                    <a:ext uri="{9D8B030D-6E8A-4147-A177-3AD203B41FA5}">
                      <a16:colId xmlns:a16="http://schemas.microsoft.com/office/drawing/2014/main" val="3980631943"/>
                    </a:ext>
                  </a:extLst>
                </a:gridCol>
                <a:gridCol w="728806">
                  <a:extLst>
                    <a:ext uri="{9D8B030D-6E8A-4147-A177-3AD203B41FA5}">
                      <a16:colId xmlns:a16="http://schemas.microsoft.com/office/drawing/2014/main" val="1338649585"/>
                    </a:ext>
                  </a:extLst>
                </a:gridCol>
                <a:gridCol w="728806">
                  <a:extLst>
                    <a:ext uri="{9D8B030D-6E8A-4147-A177-3AD203B41FA5}">
                      <a16:colId xmlns:a16="http://schemas.microsoft.com/office/drawing/2014/main" val="632108262"/>
                    </a:ext>
                  </a:extLst>
                </a:gridCol>
                <a:gridCol w="728806">
                  <a:extLst>
                    <a:ext uri="{9D8B030D-6E8A-4147-A177-3AD203B41FA5}">
                      <a16:colId xmlns:a16="http://schemas.microsoft.com/office/drawing/2014/main" val="1469031198"/>
                    </a:ext>
                  </a:extLst>
                </a:gridCol>
                <a:gridCol w="728806">
                  <a:extLst>
                    <a:ext uri="{9D8B030D-6E8A-4147-A177-3AD203B41FA5}">
                      <a16:colId xmlns:a16="http://schemas.microsoft.com/office/drawing/2014/main" val="1336493495"/>
                    </a:ext>
                  </a:extLst>
                </a:gridCol>
                <a:gridCol w="728806">
                  <a:extLst>
                    <a:ext uri="{9D8B030D-6E8A-4147-A177-3AD203B41FA5}">
                      <a16:colId xmlns:a16="http://schemas.microsoft.com/office/drawing/2014/main" val="1303131980"/>
                    </a:ext>
                  </a:extLst>
                </a:gridCol>
                <a:gridCol w="728806">
                  <a:extLst>
                    <a:ext uri="{9D8B030D-6E8A-4147-A177-3AD203B41FA5}">
                      <a16:colId xmlns:a16="http://schemas.microsoft.com/office/drawing/2014/main" val="2109202556"/>
                    </a:ext>
                  </a:extLst>
                </a:gridCol>
                <a:gridCol w="728806">
                  <a:extLst>
                    <a:ext uri="{9D8B030D-6E8A-4147-A177-3AD203B41FA5}">
                      <a16:colId xmlns:a16="http://schemas.microsoft.com/office/drawing/2014/main" val="3273041843"/>
                    </a:ext>
                  </a:extLst>
                </a:gridCol>
                <a:gridCol w="728806">
                  <a:extLst>
                    <a:ext uri="{9D8B030D-6E8A-4147-A177-3AD203B41FA5}">
                      <a16:colId xmlns:a16="http://schemas.microsoft.com/office/drawing/2014/main" val="1333320681"/>
                    </a:ext>
                  </a:extLst>
                </a:gridCol>
                <a:gridCol w="728806">
                  <a:extLst>
                    <a:ext uri="{9D8B030D-6E8A-4147-A177-3AD203B41FA5}">
                      <a16:colId xmlns:a16="http://schemas.microsoft.com/office/drawing/2014/main" val="2503741307"/>
                    </a:ext>
                  </a:extLst>
                </a:gridCol>
                <a:gridCol w="728806">
                  <a:extLst>
                    <a:ext uri="{9D8B030D-6E8A-4147-A177-3AD203B41FA5}">
                      <a16:colId xmlns:a16="http://schemas.microsoft.com/office/drawing/2014/main" val="3665721173"/>
                    </a:ext>
                  </a:extLst>
                </a:gridCol>
              </a:tblGrid>
              <a:tr h="321705">
                <a:tc gridSpan="10">
                  <a:txBody>
                    <a:bodyPr/>
                    <a:lstStyle/>
                    <a:p>
                      <a:pPr algn="ctr"/>
                      <a:r>
                        <a:rPr lang="fr-FR" sz="1000" b="1" noProof="0"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2026</a:t>
                      </a:r>
                    </a:p>
                  </a:txBody>
                  <a:tcPr marL="57106" marR="57106" marT="57106" marB="5710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b="1" noProof="0"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57106" marR="57106" marT="57106" marB="5710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7106" marR="57106" marT="57106" marB="5710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b="1" noProof="0"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57106" marR="57106" marT="57106" marB="5710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b="1" noProof="0"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57106" marR="57106" marT="57106" marB="5710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b="1" noProof="0"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57106" marR="57106" marT="57106" marB="5710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b="1" noProof="0"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57106" marR="57106" marT="57106" marB="5710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b="1" noProof="0"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57106" marR="57106" marT="57106" marB="5710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fr-FR" sz="1000" b="1" noProof="0"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2027</a:t>
                      </a:r>
                    </a:p>
                  </a:txBody>
                  <a:tcPr marL="57106" marR="57106" marT="57106" marB="5710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b="1" noProof="0"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57106" marR="57106" marT="57106" marB="5710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fr-FR" sz="1000" b="1" noProof="0">
                        <a:latin typeface="+mn-lt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57106" marR="57106" marT="57106" marB="57106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515723"/>
                  </a:ext>
                </a:extLst>
              </a:tr>
              <a:tr h="30467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Verdana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Verdana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Verdana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Verdana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Verdana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Verdana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Verdana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Verdana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tx1"/>
                          </a:solidFill>
                          <a:latin typeface="Verdana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700" b="1" kern="1200" noProof="0">
                          <a:solidFill>
                            <a:srgbClr val="000000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March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700" b="1" kern="1200" noProof="0">
                          <a:solidFill>
                            <a:srgbClr val="000000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April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700" b="1" kern="1200" noProof="0">
                          <a:solidFill>
                            <a:srgbClr val="000000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May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700" b="1" kern="1200" noProof="0">
                          <a:solidFill>
                            <a:srgbClr val="000000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June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700" b="1" kern="1200" noProof="0">
                          <a:solidFill>
                            <a:srgbClr val="000000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July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700" b="1" kern="1200" noProof="0">
                          <a:solidFill>
                            <a:srgbClr val="000000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August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700" b="1" kern="1200" noProof="0">
                          <a:solidFill>
                            <a:srgbClr val="000000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September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700" b="1" kern="1200" noProof="0">
                          <a:solidFill>
                            <a:srgbClr val="000000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October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700" b="1" kern="1200" noProof="0">
                          <a:solidFill>
                            <a:srgbClr val="000000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November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700" b="1" kern="1200" noProof="0">
                          <a:solidFill>
                            <a:srgbClr val="000000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December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en-US" sz="700" b="1" kern="1200" noProof="0">
                          <a:solidFill>
                            <a:srgbClr val="000000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January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700" b="1" kern="1200" noProof="0">
                          <a:solidFill>
                            <a:srgbClr val="000000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February 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700" b="1" kern="1200" noProof="0">
                          <a:solidFill>
                            <a:srgbClr val="000000"/>
                          </a:solidFill>
                          <a:latin typeface="+mn-lt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March</a:t>
                      </a:r>
                    </a:p>
                  </a:txBody>
                  <a:tcPr marL="60960" marR="60960" marT="60960" marB="6096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721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7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7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7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7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7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7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7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7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7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7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7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7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7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332">
                <a:tc gridSpan="13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38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00" kern="1200" noProof="0">
                        <a:solidFill>
                          <a:schemeClr val="tx1"/>
                        </a:solidFill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85677" marR="85677" marT="42840" marB="4284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5787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47130"/>
                  </a:ext>
                </a:extLst>
              </a:tr>
            </a:tbl>
          </a:graphicData>
        </a:graphic>
      </p:graphicFrame>
      <p:grpSp>
        <p:nvGrpSpPr>
          <p:cNvPr id="68" name="Group 67">
            <a:extLst>
              <a:ext uri="{FF2B5EF4-FFF2-40B4-BE49-F238E27FC236}">
                <a16:creationId xmlns:a16="http://schemas.microsoft.com/office/drawing/2014/main" id="{AA561D8E-1E99-5184-260C-37363DF38BC3}"/>
              </a:ext>
            </a:extLst>
          </p:cNvPr>
          <p:cNvGrpSpPr/>
          <p:nvPr/>
        </p:nvGrpSpPr>
        <p:grpSpPr>
          <a:xfrm>
            <a:off x="1747402" y="2271658"/>
            <a:ext cx="2844011" cy="248511"/>
            <a:chOff x="1747402" y="2271658"/>
            <a:chExt cx="2844011" cy="248511"/>
          </a:xfrm>
        </p:grpSpPr>
        <p:cxnSp>
          <p:nvCxnSpPr>
            <p:cNvPr id="7" name="Connecteur droit 246">
              <a:extLst>
                <a:ext uri="{FF2B5EF4-FFF2-40B4-BE49-F238E27FC236}">
                  <a16:creationId xmlns:a16="http://schemas.microsoft.com/office/drawing/2014/main" id="{FFD176F2-F5AE-6A10-6567-4483B92A8CA0}"/>
                </a:ext>
              </a:extLst>
            </p:cNvPr>
            <p:cNvCxnSpPr>
              <a:cxnSpLocks/>
            </p:cNvCxnSpPr>
            <p:nvPr/>
          </p:nvCxnSpPr>
          <p:spPr>
            <a:xfrm>
              <a:off x="1747402" y="2520169"/>
              <a:ext cx="710048" cy="0"/>
            </a:xfrm>
            <a:prstGeom prst="line">
              <a:avLst/>
            </a:prstGeom>
            <a:noFill/>
            <a:ln w="19050" cap="flat" cmpd="sng" algn="ctr">
              <a:solidFill>
                <a:srgbClr val="1E49E2"/>
              </a:solidFill>
              <a:prstDash val="solid"/>
              <a:miter lim="800000"/>
              <a:headEnd type="oval" w="sm" len="sm"/>
              <a:tailEnd type="oval" w="sm" len="sm"/>
            </a:ln>
            <a:effectLst/>
          </p:spPr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98937C6-9DEC-3141-BFEA-B69FD8D92B68}"/>
                </a:ext>
              </a:extLst>
            </p:cNvPr>
            <p:cNvSpPr/>
            <p:nvPr/>
          </p:nvSpPr>
          <p:spPr>
            <a:xfrm>
              <a:off x="1747413" y="2271658"/>
              <a:ext cx="2844000" cy="163922"/>
            </a:xfrm>
            <a:prstGeom prst="rect">
              <a:avLst/>
            </a:prstGeom>
            <a:noFill/>
            <a:ln w="15875" cap="flat" cmpd="sng" algn="ctr">
              <a:noFill/>
              <a:prstDash val="solid"/>
              <a:miter lim="800000"/>
            </a:ln>
            <a:effectLst/>
          </p:spPr>
          <p:txBody>
            <a:bodyPr wrap="square" lIns="72811" tIns="72811" rIns="0" bIns="72811" rtlCol="0" anchor="ctr">
              <a:noAutofit/>
            </a:bodyPr>
            <a:lstStyle/>
            <a:p>
              <a:pPr defTabSz="1219178">
                <a:defRPr/>
              </a:pPr>
              <a:r>
                <a:rPr lang="fr-FR" sz="700" b="1" kern="0" err="1">
                  <a:solidFill>
                    <a:srgbClr val="000000"/>
                  </a:solidFill>
                  <a:latin typeface="Arial"/>
                </a:rPr>
                <a:t>Organization</a:t>
              </a:r>
              <a:r>
                <a:rPr lang="fr-FR" sz="700" b="1" kern="0">
                  <a:solidFill>
                    <a:srgbClr val="000000"/>
                  </a:solidFill>
                  <a:latin typeface="Arial"/>
                </a:rPr>
                <a:t> &amp; </a:t>
              </a:r>
              <a:r>
                <a:rPr lang="fr-FR" sz="700" b="1" kern="0" err="1">
                  <a:solidFill>
                    <a:srgbClr val="000000"/>
                  </a:solidFill>
                  <a:latin typeface="Arial"/>
                </a:rPr>
                <a:t>Getting</a:t>
              </a:r>
              <a:r>
                <a:rPr lang="fr-FR" sz="700" b="1" kern="0">
                  <a:solidFill>
                    <a:srgbClr val="000000"/>
                  </a:solidFill>
                  <a:latin typeface="Arial"/>
                </a:rPr>
                <a:t> </a:t>
              </a:r>
              <a:r>
                <a:rPr lang="fr-FR" sz="700" b="1" kern="0" err="1">
                  <a:solidFill>
                    <a:srgbClr val="000000"/>
                  </a:solidFill>
                  <a:latin typeface="Arial"/>
                </a:rPr>
                <a:t>Started</a:t>
              </a:r>
              <a:r>
                <a:rPr lang="fr-FR" sz="700" b="1" kern="0">
                  <a:solidFill>
                    <a:srgbClr val="000000"/>
                  </a:solidFill>
                  <a:latin typeface="Arial"/>
                </a:rPr>
                <a:t> Sessions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DE81B28-8BF0-13BC-168F-5CB23989D727}"/>
              </a:ext>
            </a:extLst>
          </p:cNvPr>
          <p:cNvGrpSpPr/>
          <p:nvPr/>
        </p:nvGrpSpPr>
        <p:grpSpPr>
          <a:xfrm>
            <a:off x="2468457" y="2663711"/>
            <a:ext cx="1891078" cy="248511"/>
            <a:chOff x="2492272" y="2668006"/>
            <a:chExt cx="1891078" cy="248511"/>
          </a:xfrm>
        </p:grpSpPr>
        <p:cxnSp>
          <p:nvCxnSpPr>
            <p:cNvPr id="9" name="Connecteur droit 246">
              <a:extLst>
                <a:ext uri="{FF2B5EF4-FFF2-40B4-BE49-F238E27FC236}">
                  <a16:creationId xmlns:a16="http://schemas.microsoft.com/office/drawing/2014/main" id="{DE2AC147-D7A8-2947-624E-43D3AEF18BDD}"/>
                </a:ext>
              </a:extLst>
            </p:cNvPr>
            <p:cNvCxnSpPr>
              <a:cxnSpLocks/>
            </p:cNvCxnSpPr>
            <p:nvPr/>
          </p:nvCxnSpPr>
          <p:spPr>
            <a:xfrm>
              <a:off x="2506980" y="2916517"/>
              <a:ext cx="1409373" cy="0"/>
            </a:xfrm>
            <a:prstGeom prst="line">
              <a:avLst/>
            </a:prstGeom>
            <a:noFill/>
            <a:ln w="19050" cap="flat" cmpd="sng" algn="ctr">
              <a:solidFill>
                <a:srgbClr val="1E49E2"/>
              </a:solidFill>
              <a:prstDash val="solid"/>
              <a:miter lim="800000"/>
              <a:headEnd type="oval" w="sm" len="sm"/>
              <a:tailEnd type="oval" w="sm" len="sm"/>
            </a:ln>
            <a:effectLst/>
          </p:spPr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A9A6D69-AF21-AF82-2725-D7E6943D0A38}"/>
                </a:ext>
              </a:extLst>
            </p:cNvPr>
            <p:cNvSpPr/>
            <p:nvPr/>
          </p:nvSpPr>
          <p:spPr>
            <a:xfrm>
              <a:off x="2492272" y="2668006"/>
              <a:ext cx="1891078" cy="179662"/>
            </a:xfrm>
            <a:prstGeom prst="rect">
              <a:avLst/>
            </a:prstGeom>
            <a:noFill/>
            <a:ln w="15875" cap="flat" cmpd="sng" algn="ctr">
              <a:noFill/>
              <a:prstDash val="solid"/>
              <a:miter lim="800000"/>
            </a:ln>
            <a:effectLst/>
          </p:spPr>
          <p:txBody>
            <a:bodyPr wrap="square" lIns="72811" tIns="72811" rIns="0" bIns="72811" rtlCol="0" anchor="ctr">
              <a:noAutofit/>
            </a:bodyPr>
            <a:lstStyle/>
            <a:p>
              <a:pPr defTabSz="1219178">
                <a:defRPr/>
              </a:pPr>
              <a:r>
                <a:rPr lang="fr-FR" sz="700" b="1" kern="0" err="1">
                  <a:solidFill>
                    <a:srgbClr val="000000"/>
                  </a:solidFill>
                  <a:latin typeface="Arial"/>
                </a:rPr>
                <a:t>Personnalization</a:t>
              </a:r>
              <a:r>
                <a:rPr lang="fr-FR" sz="700" b="1" kern="0">
                  <a:solidFill>
                    <a:srgbClr val="000000"/>
                  </a:solidFill>
                  <a:latin typeface="Arial"/>
                </a:rPr>
                <a:t> session (design phase)</a:t>
              </a: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D8D696F0-10F8-54F9-83F2-A8C57828A5A4}"/>
              </a:ext>
            </a:extLst>
          </p:cNvPr>
          <p:cNvSpPr/>
          <p:nvPr/>
        </p:nvSpPr>
        <p:spPr>
          <a:xfrm>
            <a:off x="340120" y="2271657"/>
            <a:ext cx="1260000" cy="775521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338D"/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ENGAGE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3A2E2C9-7E5E-3AB2-A1B0-D03657438C27}"/>
              </a:ext>
            </a:extLst>
          </p:cNvPr>
          <p:cNvSpPr/>
          <p:nvPr/>
        </p:nvSpPr>
        <p:spPr>
          <a:xfrm>
            <a:off x="340120" y="4236861"/>
            <a:ext cx="1260000" cy="328931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338D"/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Enable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74119A-2069-76DB-39DC-7AD1B7018F38}"/>
              </a:ext>
            </a:extLst>
          </p:cNvPr>
          <p:cNvSpPr/>
          <p:nvPr/>
        </p:nvSpPr>
        <p:spPr>
          <a:xfrm>
            <a:off x="340120" y="4624278"/>
            <a:ext cx="1260000" cy="328931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338D"/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Convert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C71A4CD-1FAF-521C-438E-87923DBCE3C8}"/>
              </a:ext>
            </a:extLst>
          </p:cNvPr>
          <p:cNvSpPr/>
          <p:nvPr/>
        </p:nvSpPr>
        <p:spPr>
          <a:xfrm>
            <a:off x="340120" y="5011694"/>
            <a:ext cx="1260000" cy="32893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338D"/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Optimize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ECE7AD3-496C-C7DB-EE42-EBAED00B93B3}"/>
              </a:ext>
            </a:extLst>
          </p:cNvPr>
          <p:cNvSpPr/>
          <p:nvPr/>
        </p:nvSpPr>
        <p:spPr>
          <a:xfrm>
            <a:off x="340120" y="3105664"/>
            <a:ext cx="1260000" cy="1072711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338D"/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DRIVE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FD7C0446-1172-0E0F-C1AC-BFB53FE84B96}"/>
              </a:ext>
            </a:extLst>
          </p:cNvPr>
          <p:cNvGrpSpPr/>
          <p:nvPr/>
        </p:nvGrpSpPr>
        <p:grpSpPr>
          <a:xfrm>
            <a:off x="3360952" y="3055763"/>
            <a:ext cx="4090435" cy="248513"/>
            <a:chOff x="3360952" y="3009549"/>
            <a:chExt cx="4090435" cy="248513"/>
          </a:xfrm>
        </p:grpSpPr>
        <p:cxnSp>
          <p:nvCxnSpPr>
            <p:cNvPr id="37" name="Connecteur droit 246">
              <a:extLst>
                <a:ext uri="{FF2B5EF4-FFF2-40B4-BE49-F238E27FC236}">
                  <a16:creationId xmlns:a16="http://schemas.microsoft.com/office/drawing/2014/main" id="{5D6DA9E2-1A73-4745-4E29-1F5BC92072C8}"/>
                </a:ext>
              </a:extLst>
            </p:cNvPr>
            <p:cNvCxnSpPr>
              <a:cxnSpLocks/>
            </p:cNvCxnSpPr>
            <p:nvPr/>
          </p:nvCxnSpPr>
          <p:spPr>
            <a:xfrm>
              <a:off x="3375660" y="3258062"/>
              <a:ext cx="4075727" cy="0"/>
            </a:xfrm>
            <a:prstGeom prst="line">
              <a:avLst/>
            </a:prstGeom>
            <a:noFill/>
            <a:ln w="19050" cap="flat" cmpd="sng" algn="ctr">
              <a:solidFill>
                <a:srgbClr val="1E49E2"/>
              </a:solidFill>
              <a:prstDash val="solid"/>
              <a:miter lim="800000"/>
              <a:headEnd type="oval" w="sm" len="sm"/>
              <a:tailEnd type="oval" w="sm" len="sm"/>
            </a:ln>
            <a:effectLst/>
          </p:spPr>
        </p:cxn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0132A61-CE6D-6ED8-E2DC-2731F4BEF0A5}"/>
                </a:ext>
              </a:extLst>
            </p:cNvPr>
            <p:cNvSpPr/>
            <p:nvPr/>
          </p:nvSpPr>
          <p:spPr>
            <a:xfrm>
              <a:off x="3360952" y="3009549"/>
              <a:ext cx="1424081" cy="193709"/>
            </a:xfrm>
            <a:prstGeom prst="rect">
              <a:avLst/>
            </a:prstGeom>
            <a:noFill/>
            <a:ln w="15875" cap="flat" cmpd="sng" algn="ctr">
              <a:noFill/>
              <a:prstDash val="solid"/>
              <a:miter lim="800000"/>
            </a:ln>
            <a:effectLst/>
          </p:spPr>
          <p:txBody>
            <a:bodyPr wrap="square" lIns="72811" tIns="72811" rIns="0" bIns="72811" rtlCol="0" anchor="ctr">
              <a:noAutofit/>
            </a:bodyPr>
            <a:lstStyle/>
            <a:p>
              <a:pPr defTabSz="1219178">
                <a:defRPr/>
              </a:pPr>
              <a:r>
                <a:rPr lang="fr-FR" sz="700" b="1" kern="0">
                  <a:solidFill>
                    <a:srgbClr val="000000"/>
                  </a:solidFill>
                  <a:latin typeface="Arial"/>
                </a:rPr>
                <a:t>Configuration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C24575C-1E07-9F7C-FE4E-5BE2F2B34260}"/>
              </a:ext>
            </a:extLst>
          </p:cNvPr>
          <p:cNvGrpSpPr/>
          <p:nvPr/>
        </p:nvGrpSpPr>
        <p:grpSpPr>
          <a:xfrm>
            <a:off x="2478402" y="3447817"/>
            <a:ext cx="6084000" cy="242349"/>
            <a:chOff x="2478402" y="3438922"/>
            <a:chExt cx="6084000" cy="242349"/>
          </a:xfrm>
        </p:grpSpPr>
        <p:cxnSp>
          <p:nvCxnSpPr>
            <p:cNvPr id="45" name="Connecteur droit 246">
              <a:extLst>
                <a:ext uri="{FF2B5EF4-FFF2-40B4-BE49-F238E27FC236}">
                  <a16:creationId xmlns:a16="http://schemas.microsoft.com/office/drawing/2014/main" id="{6A5D8867-8111-D6F6-F0BE-14A24BDA44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8402" y="3681271"/>
              <a:ext cx="6084000" cy="0"/>
            </a:xfrm>
            <a:prstGeom prst="line">
              <a:avLst/>
            </a:prstGeom>
            <a:noFill/>
            <a:ln w="19050" cap="flat" cmpd="sng" algn="ctr">
              <a:solidFill>
                <a:srgbClr val="1E49E2"/>
              </a:solidFill>
              <a:prstDash val="solid"/>
              <a:miter lim="800000"/>
              <a:headEnd type="oval" w="sm" len="sm"/>
              <a:tailEnd type="oval" w="sm" len="sm"/>
            </a:ln>
            <a:effectLst/>
          </p:spPr>
        </p:cxn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3D593268-A32D-337E-1F21-47DD0E303D24}"/>
                </a:ext>
              </a:extLst>
            </p:cNvPr>
            <p:cNvSpPr/>
            <p:nvPr/>
          </p:nvSpPr>
          <p:spPr>
            <a:xfrm>
              <a:off x="2492272" y="3438922"/>
              <a:ext cx="1424081" cy="193709"/>
            </a:xfrm>
            <a:prstGeom prst="rect">
              <a:avLst/>
            </a:prstGeom>
            <a:noFill/>
            <a:ln w="15875" cap="flat" cmpd="sng" algn="ctr">
              <a:noFill/>
              <a:prstDash val="solid"/>
              <a:miter lim="800000"/>
            </a:ln>
            <a:effectLst/>
          </p:spPr>
          <p:txBody>
            <a:bodyPr wrap="square" lIns="72811" tIns="72811" rIns="0" bIns="72811" rtlCol="0" anchor="ctr">
              <a:noAutofit/>
            </a:bodyPr>
            <a:lstStyle/>
            <a:p>
              <a:pPr defTabSz="1219178">
                <a:defRPr/>
              </a:pPr>
              <a:r>
                <a:rPr lang="fr-FR" sz="700" b="1" kern="0">
                  <a:solidFill>
                    <a:srgbClr val="000000"/>
                  </a:solidFill>
                  <a:latin typeface="Arial"/>
                </a:rPr>
                <a:t>Data Migration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B9128CF-1C69-7D9D-934A-6FF0ECFA01D4}"/>
              </a:ext>
            </a:extLst>
          </p:cNvPr>
          <p:cNvGrpSpPr/>
          <p:nvPr/>
        </p:nvGrpSpPr>
        <p:grpSpPr>
          <a:xfrm>
            <a:off x="6378102" y="3833707"/>
            <a:ext cx="1540213" cy="226689"/>
            <a:chOff x="6378102" y="4816872"/>
            <a:chExt cx="1540213" cy="226689"/>
          </a:xfrm>
        </p:grpSpPr>
        <p:cxnSp>
          <p:nvCxnSpPr>
            <p:cNvPr id="47" name="Connecteur droit 246">
              <a:extLst>
                <a:ext uri="{FF2B5EF4-FFF2-40B4-BE49-F238E27FC236}">
                  <a16:creationId xmlns:a16="http://schemas.microsoft.com/office/drawing/2014/main" id="{A21BB521-4964-3C8A-36BB-E47C55EAE1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2810" y="5043561"/>
              <a:ext cx="1525505" cy="0"/>
            </a:xfrm>
            <a:prstGeom prst="line">
              <a:avLst/>
            </a:prstGeom>
            <a:noFill/>
            <a:ln w="19050" cap="flat" cmpd="sng" algn="ctr">
              <a:solidFill>
                <a:srgbClr val="1E49E2"/>
              </a:solidFill>
              <a:prstDash val="solid"/>
              <a:miter lim="800000"/>
              <a:headEnd type="oval" w="sm" len="sm"/>
              <a:tailEnd type="oval" w="sm" len="sm"/>
            </a:ln>
            <a:effectLst/>
          </p:spPr>
        </p:cxn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64A6EC4-5660-2505-58DB-9A21FDD7EF98}"/>
                </a:ext>
              </a:extLst>
            </p:cNvPr>
            <p:cNvSpPr/>
            <p:nvPr/>
          </p:nvSpPr>
          <p:spPr>
            <a:xfrm>
              <a:off x="6378102" y="4816872"/>
              <a:ext cx="1424081" cy="193709"/>
            </a:xfrm>
            <a:prstGeom prst="rect">
              <a:avLst/>
            </a:prstGeom>
            <a:noFill/>
            <a:ln w="15875" cap="flat" cmpd="sng" algn="ctr">
              <a:noFill/>
              <a:prstDash val="solid"/>
              <a:miter lim="800000"/>
            </a:ln>
            <a:effectLst/>
          </p:spPr>
          <p:txBody>
            <a:bodyPr wrap="square" lIns="72811" tIns="72811" rIns="0" bIns="72811" rtlCol="0" anchor="ctr">
              <a:noAutofit/>
            </a:bodyPr>
            <a:lstStyle/>
            <a:p>
              <a:pPr defTabSz="1219178">
                <a:defRPr/>
              </a:pPr>
              <a:r>
                <a:rPr lang="fr-FR" sz="700" b="1" kern="0" err="1">
                  <a:solidFill>
                    <a:srgbClr val="000000"/>
                  </a:solidFill>
                  <a:latin typeface="Arial"/>
                </a:rPr>
                <a:t>Integrations</a:t>
              </a:r>
              <a:endParaRPr lang="fr-FR" sz="700" b="1" kern="0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9C07B7F-A3EE-3100-CCDB-A8D8E80F32CF}"/>
              </a:ext>
            </a:extLst>
          </p:cNvPr>
          <p:cNvGrpSpPr/>
          <p:nvPr/>
        </p:nvGrpSpPr>
        <p:grpSpPr>
          <a:xfrm>
            <a:off x="8653724" y="4971868"/>
            <a:ext cx="2539876" cy="248513"/>
            <a:chOff x="8653724" y="5676718"/>
            <a:chExt cx="2539876" cy="248513"/>
          </a:xfrm>
        </p:grpSpPr>
        <p:cxnSp>
          <p:nvCxnSpPr>
            <p:cNvPr id="53" name="Connecteur droit 246">
              <a:extLst>
                <a:ext uri="{FF2B5EF4-FFF2-40B4-BE49-F238E27FC236}">
                  <a16:creationId xmlns:a16="http://schemas.microsoft.com/office/drawing/2014/main" id="{FDB83EAE-E467-CE2E-135A-EC7C918F7037}"/>
                </a:ext>
              </a:extLst>
            </p:cNvPr>
            <p:cNvCxnSpPr>
              <a:cxnSpLocks/>
            </p:cNvCxnSpPr>
            <p:nvPr/>
          </p:nvCxnSpPr>
          <p:spPr>
            <a:xfrm>
              <a:off x="8668432" y="5925231"/>
              <a:ext cx="2525168" cy="0"/>
            </a:xfrm>
            <a:prstGeom prst="line">
              <a:avLst/>
            </a:prstGeom>
            <a:noFill/>
            <a:ln w="19050" cap="flat" cmpd="sng" algn="ctr">
              <a:solidFill>
                <a:srgbClr val="1E49E2"/>
              </a:solidFill>
              <a:prstDash val="solid"/>
              <a:miter lim="800000"/>
              <a:headEnd type="oval" w="sm" len="sm"/>
              <a:tailEnd type="oval" w="sm" len="sm"/>
            </a:ln>
            <a:effectLst/>
          </p:spPr>
        </p:cxn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11CFDFB2-5F91-6E63-28AC-1DD2B93810AE}"/>
                </a:ext>
              </a:extLst>
            </p:cNvPr>
            <p:cNvSpPr/>
            <p:nvPr/>
          </p:nvSpPr>
          <p:spPr>
            <a:xfrm>
              <a:off x="8653724" y="5676718"/>
              <a:ext cx="1424081" cy="193709"/>
            </a:xfrm>
            <a:prstGeom prst="rect">
              <a:avLst/>
            </a:prstGeom>
            <a:noFill/>
            <a:ln w="15875" cap="flat" cmpd="sng" algn="ctr">
              <a:noFill/>
              <a:prstDash val="solid"/>
              <a:miter lim="800000"/>
            </a:ln>
            <a:effectLst/>
          </p:spPr>
          <p:txBody>
            <a:bodyPr wrap="square" lIns="72811" tIns="72811" rIns="0" bIns="72811" rtlCol="0" anchor="ctr">
              <a:noAutofit/>
            </a:bodyPr>
            <a:lstStyle/>
            <a:p>
              <a:pPr defTabSz="1219178">
                <a:defRPr/>
              </a:pPr>
              <a:r>
                <a:rPr lang="fr-FR" sz="700" b="1" kern="0">
                  <a:solidFill>
                    <a:srgbClr val="000000"/>
                  </a:solidFill>
                  <a:latin typeface="Arial"/>
                </a:rPr>
                <a:t>Post Go-Live Support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99A6749E-5012-596E-1C24-0AC5E614C0E7}"/>
              </a:ext>
            </a:extLst>
          </p:cNvPr>
          <p:cNvGrpSpPr/>
          <p:nvPr/>
        </p:nvGrpSpPr>
        <p:grpSpPr>
          <a:xfrm>
            <a:off x="7155562" y="4203937"/>
            <a:ext cx="1424081" cy="242725"/>
            <a:chOff x="7155562" y="5155991"/>
            <a:chExt cx="1424081" cy="24272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DE79F1AF-D15A-F72A-5082-0FDFF2DC0374}"/>
                </a:ext>
              </a:extLst>
            </p:cNvPr>
            <p:cNvSpPr/>
            <p:nvPr/>
          </p:nvSpPr>
          <p:spPr>
            <a:xfrm>
              <a:off x="7155562" y="5155991"/>
              <a:ext cx="1424081" cy="193709"/>
            </a:xfrm>
            <a:prstGeom prst="rect">
              <a:avLst/>
            </a:prstGeom>
            <a:noFill/>
            <a:ln w="15875" cap="flat" cmpd="sng" algn="ctr">
              <a:noFill/>
              <a:prstDash val="solid"/>
              <a:miter lim="800000"/>
            </a:ln>
            <a:effectLst/>
          </p:spPr>
          <p:txBody>
            <a:bodyPr wrap="square" lIns="72811" tIns="72811" rIns="0" bIns="72811" rtlCol="0" anchor="ctr">
              <a:noAutofit/>
            </a:bodyPr>
            <a:lstStyle/>
            <a:p>
              <a:pPr defTabSz="1219178">
                <a:defRPr/>
              </a:pPr>
              <a:r>
                <a:rPr lang="fr-FR" sz="700" b="1" kern="0">
                  <a:solidFill>
                    <a:srgbClr val="000000"/>
                  </a:solidFill>
                  <a:latin typeface="Arial"/>
                </a:rPr>
                <a:t>UAT End to End</a:t>
              </a:r>
            </a:p>
          </p:txBody>
        </p:sp>
        <p:cxnSp>
          <p:nvCxnSpPr>
            <p:cNvPr id="64" name="Connecteur droit 246">
              <a:extLst>
                <a:ext uri="{FF2B5EF4-FFF2-40B4-BE49-F238E27FC236}">
                  <a16:creationId xmlns:a16="http://schemas.microsoft.com/office/drawing/2014/main" id="{663EB754-306D-D5D9-0B44-73C8E466075C}"/>
                </a:ext>
              </a:extLst>
            </p:cNvPr>
            <p:cNvCxnSpPr>
              <a:cxnSpLocks/>
            </p:cNvCxnSpPr>
            <p:nvPr/>
          </p:nvCxnSpPr>
          <p:spPr>
            <a:xfrm>
              <a:off x="7229643" y="5398716"/>
              <a:ext cx="712040" cy="0"/>
            </a:xfrm>
            <a:prstGeom prst="line">
              <a:avLst/>
            </a:prstGeom>
            <a:noFill/>
            <a:ln w="19050" cap="flat" cmpd="sng" algn="ctr">
              <a:solidFill>
                <a:srgbClr val="1E49E2"/>
              </a:solidFill>
              <a:prstDash val="solid"/>
              <a:miter lim="800000"/>
              <a:headEnd type="oval" w="sm" len="sm"/>
              <a:tailEnd type="oval" w="sm" len="sm"/>
            </a:ln>
            <a:effectLst/>
          </p:spPr>
        </p:cxn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E3D6559-8FAB-5C58-8D3B-1B66ABE9C539}"/>
              </a:ext>
            </a:extLst>
          </p:cNvPr>
          <p:cNvGrpSpPr/>
          <p:nvPr/>
        </p:nvGrpSpPr>
        <p:grpSpPr>
          <a:xfrm>
            <a:off x="8227530" y="4590203"/>
            <a:ext cx="962757" cy="238125"/>
            <a:chOff x="7867602" y="4591299"/>
            <a:chExt cx="962757" cy="238125"/>
          </a:xfrm>
        </p:grpSpPr>
        <p:cxnSp>
          <p:nvCxnSpPr>
            <p:cNvPr id="75" name="Connecteur droit 246">
              <a:extLst>
                <a:ext uri="{FF2B5EF4-FFF2-40B4-BE49-F238E27FC236}">
                  <a16:creationId xmlns:a16="http://schemas.microsoft.com/office/drawing/2014/main" id="{FB6E0D24-C239-541B-234D-8239DF0F6F14}"/>
                </a:ext>
              </a:extLst>
            </p:cNvPr>
            <p:cNvCxnSpPr>
              <a:cxnSpLocks/>
            </p:cNvCxnSpPr>
            <p:nvPr/>
          </p:nvCxnSpPr>
          <p:spPr>
            <a:xfrm>
              <a:off x="7962627" y="4829424"/>
              <a:ext cx="327933" cy="0"/>
            </a:xfrm>
            <a:prstGeom prst="line">
              <a:avLst/>
            </a:prstGeom>
            <a:noFill/>
            <a:ln w="19050" cap="flat" cmpd="sng" algn="ctr">
              <a:solidFill>
                <a:srgbClr val="1E49E2"/>
              </a:solidFill>
              <a:prstDash val="solid"/>
              <a:miter lim="800000"/>
              <a:headEnd type="oval" w="sm" len="sm"/>
              <a:tailEnd type="oval" w="sm" len="sm"/>
            </a:ln>
            <a:effectLst/>
          </p:spPr>
        </p:cxn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59D58D97-13DB-A446-A1E4-B9439A9B867C}"/>
                </a:ext>
              </a:extLst>
            </p:cNvPr>
            <p:cNvSpPr/>
            <p:nvPr/>
          </p:nvSpPr>
          <p:spPr>
            <a:xfrm>
              <a:off x="7867602" y="4591299"/>
              <a:ext cx="962757" cy="193709"/>
            </a:xfrm>
            <a:prstGeom prst="rect">
              <a:avLst/>
            </a:prstGeom>
            <a:noFill/>
            <a:ln w="15875" cap="flat" cmpd="sng" algn="ctr">
              <a:noFill/>
              <a:prstDash val="solid"/>
              <a:miter lim="800000"/>
            </a:ln>
            <a:effectLst/>
          </p:spPr>
          <p:txBody>
            <a:bodyPr wrap="square" lIns="72811" tIns="72811" rIns="0" bIns="72811" rtlCol="0" anchor="ctr">
              <a:noAutofit/>
            </a:bodyPr>
            <a:lstStyle/>
            <a:p>
              <a:pPr defTabSz="1219178">
                <a:defRPr/>
              </a:pPr>
              <a:r>
                <a:rPr lang="fr-FR" sz="700" b="1" kern="0">
                  <a:solidFill>
                    <a:srgbClr val="000000"/>
                  </a:solidFill>
                  <a:latin typeface="Arial"/>
                </a:rPr>
                <a:t>Go-Live - </a:t>
              </a:r>
              <a:r>
                <a:rPr lang="fr-FR" sz="700" b="1" kern="0" err="1">
                  <a:solidFill>
                    <a:srgbClr val="000000"/>
                  </a:solidFill>
                  <a:latin typeface="Arial"/>
                </a:rPr>
                <a:t>Cutover</a:t>
              </a:r>
              <a:endParaRPr lang="fr-FR" sz="700" b="1" kern="0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CB26E44-799B-A850-A367-896E0B49DBBC}"/>
              </a:ext>
            </a:extLst>
          </p:cNvPr>
          <p:cNvCxnSpPr>
            <a:cxnSpLocks/>
            <a:endCxn id="85" idx="0"/>
          </p:cNvCxnSpPr>
          <p:nvPr/>
        </p:nvCxnSpPr>
        <p:spPr>
          <a:xfrm flipH="1">
            <a:off x="2456741" y="2520169"/>
            <a:ext cx="709" cy="3183542"/>
          </a:xfrm>
          <a:prstGeom prst="line">
            <a:avLst/>
          </a:prstGeom>
          <a:ln w="12700">
            <a:solidFill>
              <a:srgbClr val="695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5DCBEF5D-B359-0286-CCF0-063C6D7D05BA}"/>
              </a:ext>
            </a:extLst>
          </p:cNvPr>
          <p:cNvSpPr/>
          <p:nvPr/>
        </p:nvSpPr>
        <p:spPr>
          <a:xfrm>
            <a:off x="2455384" y="5633123"/>
            <a:ext cx="1051866" cy="23007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  <a:headEnd type="oval" w="sm" len="sm"/>
            <a:tailEnd type="oval" w="sm" len="sm"/>
          </a:ln>
          <a:effectLst/>
        </p:spPr>
        <p:txBody>
          <a:bodyPr wrap="square" lIns="80263" tIns="80263" rIns="0" bIns="80263" rtlCol="0" anchor="ctr">
            <a:noAutofit/>
          </a:bodyPr>
          <a:lstStyle/>
          <a:p>
            <a:pPr marL="0" marR="0" lvl="0" indent="0" defTabSz="13438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614DD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Kick Off</a:t>
            </a: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614DD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4" name="Isosceles Triangle 96">
            <a:extLst>
              <a:ext uri="{FF2B5EF4-FFF2-40B4-BE49-F238E27FC236}">
                <a16:creationId xmlns:a16="http://schemas.microsoft.com/office/drawing/2014/main" id="{E1D86BF9-8D00-12E3-DB33-63D2990784AA}"/>
              </a:ext>
            </a:extLst>
          </p:cNvPr>
          <p:cNvSpPr/>
          <p:nvPr/>
        </p:nvSpPr>
        <p:spPr>
          <a:xfrm rot="10800000">
            <a:off x="2394684" y="2454854"/>
            <a:ext cx="121402" cy="130627"/>
          </a:xfrm>
          <a:prstGeom prst="diamond">
            <a:avLst/>
          </a:prstGeom>
          <a:solidFill>
            <a:srgbClr val="614D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291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90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A17AA4A5-65C8-67EC-AF2E-35F823414E01}"/>
              </a:ext>
            </a:extLst>
          </p:cNvPr>
          <p:cNvSpPr/>
          <p:nvPr/>
        </p:nvSpPr>
        <p:spPr>
          <a:xfrm>
            <a:off x="2404353" y="5703711"/>
            <a:ext cx="104775" cy="108000"/>
          </a:xfrm>
          <a:prstGeom prst="ellipse">
            <a:avLst/>
          </a:prstGeom>
          <a:solidFill>
            <a:srgbClr val="695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fr-FR" sz="1500" err="1">
              <a:solidFill>
                <a:schemeClr val="bg1"/>
              </a:solidFill>
            </a:endParaRP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1C042A7-44A6-D4CD-AF38-ACFE877B433D}"/>
              </a:ext>
            </a:extLst>
          </p:cNvPr>
          <p:cNvCxnSpPr>
            <a:cxnSpLocks/>
            <a:endCxn id="91" idx="0"/>
          </p:cNvCxnSpPr>
          <p:nvPr/>
        </p:nvCxnSpPr>
        <p:spPr>
          <a:xfrm flipH="1">
            <a:off x="8657929" y="4828329"/>
            <a:ext cx="10378" cy="875382"/>
          </a:xfrm>
          <a:prstGeom prst="line">
            <a:avLst/>
          </a:prstGeom>
          <a:ln w="12700">
            <a:solidFill>
              <a:srgbClr val="695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4AE6B222-4E16-A3D7-C75B-515F16C28B8C}"/>
              </a:ext>
            </a:extLst>
          </p:cNvPr>
          <p:cNvSpPr/>
          <p:nvPr/>
        </p:nvSpPr>
        <p:spPr>
          <a:xfrm>
            <a:off x="8656572" y="5633123"/>
            <a:ext cx="1051866" cy="23007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  <a:headEnd type="oval" w="sm" len="sm"/>
            <a:tailEnd type="oval" w="sm" len="sm"/>
          </a:ln>
          <a:effectLst/>
        </p:spPr>
        <p:txBody>
          <a:bodyPr wrap="square" lIns="80263" tIns="80263" rIns="0" bIns="80263" rtlCol="0" anchor="ctr">
            <a:noAutofit/>
          </a:bodyPr>
          <a:lstStyle/>
          <a:p>
            <a:pPr marL="0" marR="0" lvl="0" indent="0" defTabSz="13438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614DD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Go - Live</a:t>
            </a: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614DD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0" name="Isosceles Triangle 96">
            <a:extLst>
              <a:ext uri="{FF2B5EF4-FFF2-40B4-BE49-F238E27FC236}">
                <a16:creationId xmlns:a16="http://schemas.microsoft.com/office/drawing/2014/main" id="{EBE4C7DC-FB15-E59F-E367-F59FB2680F03}"/>
              </a:ext>
            </a:extLst>
          </p:cNvPr>
          <p:cNvSpPr/>
          <p:nvPr/>
        </p:nvSpPr>
        <p:spPr>
          <a:xfrm rot="10800000">
            <a:off x="8605541" y="4763014"/>
            <a:ext cx="121402" cy="130627"/>
          </a:xfrm>
          <a:prstGeom prst="diamond">
            <a:avLst/>
          </a:prstGeom>
          <a:solidFill>
            <a:srgbClr val="614D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291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90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0AE6B488-3FBD-2B4E-6311-E3F976D18CC1}"/>
              </a:ext>
            </a:extLst>
          </p:cNvPr>
          <p:cNvSpPr/>
          <p:nvPr/>
        </p:nvSpPr>
        <p:spPr>
          <a:xfrm>
            <a:off x="8605541" y="5703711"/>
            <a:ext cx="104775" cy="108000"/>
          </a:xfrm>
          <a:prstGeom prst="ellipse">
            <a:avLst/>
          </a:prstGeom>
          <a:solidFill>
            <a:srgbClr val="695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fr-FR" sz="1500" err="1">
              <a:solidFill>
                <a:schemeClr val="bg1"/>
              </a:solidFill>
            </a:endParaRPr>
          </a:p>
        </p:txBody>
      </p:sp>
      <p:sp>
        <p:nvSpPr>
          <p:cNvPr id="96" name="Isosceles Triangle 96">
            <a:extLst>
              <a:ext uri="{FF2B5EF4-FFF2-40B4-BE49-F238E27FC236}">
                <a16:creationId xmlns:a16="http://schemas.microsoft.com/office/drawing/2014/main" id="{7107E570-0098-8A84-9E0F-D1EAF04C7ACD}"/>
              </a:ext>
            </a:extLst>
          </p:cNvPr>
          <p:cNvSpPr/>
          <p:nvPr/>
        </p:nvSpPr>
        <p:spPr>
          <a:xfrm rot="10800000">
            <a:off x="8605541" y="5152211"/>
            <a:ext cx="121402" cy="130627"/>
          </a:xfrm>
          <a:prstGeom prst="diamond">
            <a:avLst/>
          </a:prstGeom>
          <a:solidFill>
            <a:srgbClr val="614D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291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90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7" name="Isosceles Triangle 96">
            <a:extLst>
              <a:ext uri="{FF2B5EF4-FFF2-40B4-BE49-F238E27FC236}">
                <a16:creationId xmlns:a16="http://schemas.microsoft.com/office/drawing/2014/main" id="{28165C56-49FC-430D-2718-D520CB7BE636}"/>
              </a:ext>
            </a:extLst>
          </p:cNvPr>
          <p:cNvSpPr/>
          <p:nvPr/>
        </p:nvSpPr>
        <p:spPr>
          <a:xfrm rot="10800000">
            <a:off x="2394684" y="2836212"/>
            <a:ext cx="121402" cy="130627"/>
          </a:xfrm>
          <a:prstGeom prst="diamond">
            <a:avLst/>
          </a:prstGeom>
          <a:solidFill>
            <a:srgbClr val="614D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291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90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Isosceles Triangle 96">
            <a:extLst>
              <a:ext uri="{FF2B5EF4-FFF2-40B4-BE49-F238E27FC236}">
                <a16:creationId xmlns:a16="http://schemas.microsoft.com/office/drawing/2014/main" id="{016EC17F-9A1E-DA81-4BB5-DEE1B7DE725C}"/>
              </a:ext>
            </a:extLst>
          </p:cNvPr>
          <p:cNvSpPr/>
          <p:nvPr/>
        </p:nvSpPr>
        <p:spPr>
          <a:xfrm rot="10800000">
            <a:off x="2394684" y="3622856"/>
            <a:ext cx="121402" cy="130627"/>
          </a:xfrm>
          <a:prstGeom prst="diamond">
            <a:avLst/>
          </a:prstGeom>
          <a:solidFill>
            <a:srgbClr val="614D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291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90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9" name="Title 4">
            <a:extLst>
              <a:ext uri="{FF2B5EF4-FFF2-40B4-BE49-F238E27FC236}">
                <a16:creationId xmlns:a16="http://schemas.microsoft.com/office/drawing/2014/main" id="{AEF1443A-3DFC-0F99-258E-60ACBB097131}"/>
              </a:ext>
            </a:extLst>
          </p:cNvPr>
          <p:cNvSpPr txBox="1">
            <a:spLocks/>
          </p:cNvSpPr>
          <p:nvPr/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4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KPMG Bold"/>
                <a:ea typeface="+mj-ea"/>
                <a:cs typeface="+mj-cs"/>
              </a:rPr>
              <a:t>Timeline: From contract signing to Go-Live</a:t>
            </a:r>
            <a:b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KPMG Bold"/>
                <a:ea typeface="+mj-ea"/>
                <a:cs typeface="+mj-cs"/>
              </a:rPr>
            </a:b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KPMG Bold"/>
              <a:ea typeface="+mj-ea"/>
              <a:cs typeface="+mj-cs"/>
            </a:endParaRPr>
          </a:p>
        </p:txBody>
      </p:sp>
      <p:cxnSp>
        <p:nvCxnSpPr>
          <p:cNvPr id="3" name="Straight Connector 79">
            <a:extLst>
              <a:ext uri="{FF2B5EF4-FFF2-40B4-BE49-F238E27FC236}">
                <a16:creationId xmlns:a16="http://schemas.microsoft.com/office/drawing/2014/main" id="{B5503E6B-860A-9F5B-55F7-F48A85F3A0F5}"/>
              </a:ext>
            </a:extLst>
          </p:cNvPr>
          <p:cNvCxnSpPr>
            <a:cxnSpLocks/>
            <a:endCxn id="4" idx="0"/>
          </p:cNvCxnSpPr>
          <p:nvPr/>
        </p:nvCxnSpPr>
        <p:spPr>
          <a:xfrm flipH="1">
            <a:off x="1731638" y="2520169"/>
            <a:ext cx="709" cy="3183542"/>
          </a:xfrm>
          <a:prstGeom prst="line">
            <a:avLst/>
          </a:prstGeom>
          <a:ln w="12700">
            <a:solidFill>
              <a:srgbClr val="6956D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84">
            <a:extLst>
              <a:ext uri="{FF2B5EF4-FFF2-40B4-BE49-F238E27FC236}">
                <a16:creationId xmlns:a16="http://schemas.microsoft.com/office/drawing/2014/main" id="{12858BA8-2A4A-9ED1-CDA6-C25EE92B8937}"/>
              </a:ext>
            </a:extLst>
          </p:cNvPr>
          <p:cNvSpPr/>
          <p:nvPr/>
        </p:nvSpPr>
        <p:spPr>
          <a:xfrm>
            <a:off x="1679250" y="5703711"/>
            <a:ext cx="104775" cy="108000"/>
          </a:xfrm>
          <a:prstGeom prst="ellipse">
            <a:avLst/>
          </a:prstGeom>
          <a:solidFill>
            <a:srgbClr val="695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10" tIns="54610" rIns="54610" bIns="54610" rtlCol="0" anchor="ctr"/>
          <a:lstStyle/>
          <a:p>
            <a:pPr algn="l"/>
            <a:endParaRPr lang="fr-FR" sz="1500" err="1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598BEF-1023-8CEE-D8E0-24A6349A7B54}"/>
              </a:ext>
            </a:extLst>
          </p:cNvPr>
          <p:cNvSpPr/>
          <p:nvPr/>
        </p:nvSpPr>
        <p:spPr>
          <a:xfrm>
            <a:off x="1778158" y="5631656"/>
            <a:ext cx="1051866" cy="23007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  <a:headEnd type="oval" w="sm" len="sm"/>
            <a:tailEnd type="oval" w="sm" len="sm"/>
          </a:ln>
          <a:effectLst/>
        </p:spPr>
        <p:txBody>
          <a:bodyPr wrap="square" lIns="80263" tIns="80263" rIns="0" bIns="80263" rtlCol="0" anchor="ctr">
            <a:noAutofit/>
          </a:bodyPr>
          <a:lstStyle/>
          <a:p>
            <a:pPr marL="0" marR="0" lvl="0" indent="0" defTabSz="134389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614DD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Signing</a:t>
            </a:r>
            <a:endParaRPr kumimoji="0" lang="en-US" sz="900" b="1" i="0" u="none" strike="noStrike" kern="0" cap="none" spc="0" normalizeH="0" baseline="0" noProof="0">
              <a:ln>
                <a:noFill/>
              </a:ln>
              <a:solidFill>
                <a:srgbClr val="614DD2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Isosceles Triangle 96">
            <a:extLst>
              <a:ext uri="{FF2B5EF4-FFF2-40B4-BE49-F238E27FC236}">
                <a16:creationId xmlns:a16="http://schemas.microsoft.com/office/drawing/2014/main" id="{807B5C90-9786-6493-2619-9F5ADF346A99}"/>
              </a:ext>
            </a:extLst>
          </p:cNvPr>
          <p:cNvSpPr/>
          <p:nvPr/>
        </p:nvSpPr>
        <p:spPr>
          <a:xfrm rot="10800000">
            <a:off x="1679174" y="2465081"/>
            <a:ext cx="121402" cy="130627"/>
          </a:xfrm>
          <a:prstGeom prst="diamond">
            <a:avLst/>
          </a:prstGeom>
          <a:solidFill>
            <a:srgbClr val="614D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291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903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41770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2C42B-1B5A-6139-8826-C6BFE119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itle 4">
            <a:extLst>
              <a:ext uri="{FF2B5EF4-FFF2-40B4-BE49-F238E27FC236}">
                <a16:creationId xmlns:a16="http://schemas.microsoft.com/office/drawing/2014/main" id="{5A5A862F-5985-F02E-DA9C-D3EF4D535051}"/>
              </a:ext>
            </a:extLst>
          </p:cNvPr>
          <p:cNvSpPr txBox="1">
            <a:spLocks/>
          </p:cNvSpPr>
          <p:nvPr/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4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KPMG Bold"/>
                <a:ea typeface="+mj-ea"/>
                <a:cs typeface="+mj-cs"/>
              </a:rPr>
              <a:t>Main activities per phases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1E9A5F-7341-4B94-565C-42FBA854D602}"/>
              </a:ext>
            </a:extLst>
          </p:cNvPr>
          <p:cNvSpPr/>
          <p:nvPr/>
        </p:nvSpPr>
        <p:spPr>
          <a:xfrm>
            <a:off x="567177" y="2875771"/>
            <a:ext cx="402945" cy="1736233"/>
          </a:xfrm>
          <a:prstGeom prst="rect">
            <a:avLst/>
          </a:prstGeom>
          <a:solidFill>
            <a:srgbClr val="00338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54610" tIns="54610" rIns="54610" bIns="5461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507" rtl="0" eaLnBrk="1" fontAlgn="auto" latinLnBrk="0" hangingPunct="1"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rPr>
              <a:t>Activities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C4594A-F4B7-973C-A15A-D9A1897F1472}"/>
              </a:ext>
            </a:extLst>
          </p:cNvPr>
          <p:cNvCxnSpPr>
            <a:cxnSpLocks/>
          </p:cNvCxnSpPr>
          <p:nvPr/>
        </p:nvCxnSpPr>
        <p:spPr>
          <a:xfrm>
            <a:off x="1086723" y="2422069"/>
            <a:ext cx="10202862" cy="0"/>
          </a:xfrm>
          <a:prstGeom prst="straightConnector1">
            <a:avLst/>
          </a:prstGeom>
          <a:ln w="101600">
            <a:solidFill>
              <a:srgbClr val="00338D"/>
            </a:solidFill>
            <a:tailEnd type="triangle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4C04ABD-5195-1AA6-57F0-CDFF6BA76376}"/>
              </a:ext>
            </a:extLst>
          </p:cNvPr>
          <p:cNvSpPr/>
          <p:nvPr/>
        </p:nvSpPr>
        <p:spPr>
          <a:xfrm>
            <a:off x="1665192" y="2245975"/>
            <a:ext cx="1260000" cy="32893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338D"/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ENGAGE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9974D1-26A3-72FA-DA34-0FEF26538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1869" y="2875793"/>
            <a:ext cx="1844898" cy="1736221"/>
          </a:xfrm>
          <a:prstGeom prst="rect">
            <a:avLst/>
          </a:prstGeom>
          <a:solidFill>
            <a:schemeClr val="bg1"/>
          </a:solidFill>
          <a:ln>
            <a:solidFill>
              <a:srgbClr val="00338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180000" rIns="25328" bIns="25328" anchor="t"/>
          <a:lstStyle>
            <a:defPPr>
              <a:defRPr lang="en-US"/>
            </a:defPPr>
            <a:lvl1pPr marL="342900" indent="-3429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171450" lvl="2" indent="-171450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1000" b="1">
                <a:cs typeface="Arial" panose="020B0604020202020204" pitchFamily="34" charset="0"/>
              </a:rPr>
              <a:t>Final process walkthrough</a:t>
            </a:r>
          </a:p>
          <a:p>
            <a:pPr marL="171450" lvl="2" indent="-171450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1000" b="1">
                <a:cs typeface="Arial" panose="020B0604020202020204" pitchFamily="34" charset="0"/>
              </a:rPr>
              <a:t>Pre-UAT training</a:t>
            </a:r>
          </a:p>
          <a:p>
            <a:pPr marL="171450" lvl="2" indent="-171450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1000" b="1">
                <a:cs typeface="Arial" panose="020B0604020202020204" pitchFamily="34" charset="0"/>
              </a:rPr>
              <a:t>Unit test</a:t>
            </a:r>
          </a:p>
          <a:p>
            <a:pPr marL="171450" lvl="2" indent="-171450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1000" b="1">
                <a:cs typeface="Arial" panose="020B0604020202020204" pitchFamily="34" charset="0"/>
              </a:rPr>
              <a:t>Data migration test</a:t>
            </a:r>
          </a:p>
          <a:p>
            <a:pPr marL="171450" lvl="2" indent="-171450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</a:pPr>
            <a:r>
              <a:rPr lang="en-US" altLang="en-US" sz="1000" b="1">
                <a:cs typeface="Arial" panose="020B0604020202020204" pitchFamily="34" charset="0"/>
              </a:rPr>
              <a:t>User Acceptance Test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A66B84-5E83-5512-CD46-035597817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20810" y="2875793"/>
            <a:ext cx="1844898" cy="1736217"/>
          </a:xfrm>
          <a:prstGeom prst="rect">
            <a:avLst/>
          </a:prstGeom>
          <a:solidFill>
            <a:schemeClr val="bg1"/>
          </a:solidFill>
          <a:ln>
            <a:solidFill>
              <a:srgbClr val="00338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180000" rIns="25328" bIns="25328" anchor="t"/>
          <a:lstStyle>
            <a:defPPr>
              <a:defRPr lang="en-US"/>
            </a:defPPr>
            <a:lvl1pPr marL="342900" indent="-3429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171450" marR="0" lvl="2" indent="-171450" defTabSz="914400" rtl="0" eaLnBrk="1" fontAlgn="auto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Data migration</a:t>
            </a:r>
          </a:p>
          <a:p>
            <a:pPr marL="171450" marR="0" lvl="2" indent="-171450" defTabSz="914400" rtl="0" eaLnBrk="1" fontAlgn="auto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1000" b="1">
                <a:latin typeface="+mn-lt"/>
                <a:cs typeface="Arial" panose="020B0604020202020204" pitchFamily="34" charset="0"/>
              </a:rPr>
              <a:t>User End Training</a:t>
            </a:r>
          </a:p>
          <a:p>
            <a:pPr marL="171450" marR="0" lvl="2" indent="-171450" defTabSz="914400" rtl="0" eaLnBrk="1" fontAlgn="auto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Cutover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98B872-08AF-A185-7188-F7C4B43A9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750" y="2875793"/>
            <a:ext cx="1844898" cy="1736212"/>
          </a:xfrm>
          <a:prstGeom prst="rect">
            <a:avLst/>
          </a:prstGeom>
          <a:solidFill>
            <a:schemeClr val="bg1"/>
          </a:solidFill>
          <a:ln>
            <a:solidFill>
              <a:srgbClr val="00338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180000" rIns="25328" bIns="25328" anchor="t"/>
          <a:lstStyle>
            <a:defPPr>
              <a:defRPr lang="en-US"/>
            </a:defPPr>
            <a:lvl1pPr marL="342900" indent="-3429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171450" marR="0" lvl="2" indent="-171450" defTabSz="914400" rtl="0" eaLnBrk="1" fontAlgn="auto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Hypercare phase</a:t>
            </a:r>
          </a:p>
          <a:p>
            <a:pPr marL="171450" marR="0" lvl="2" indent="-171450" defTabSz="914400" rtl="0" eaLnBrk="1" fontAlgn="auto" latinLnBrk="0" hangingPunct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en-US" sz="1000" b="1">
                <a:latin typeface="+mn-lt"/>
                <a:cs typeface="Arial" panose="020B0604020202020204" pitchFamily="34" charset="0"/>
              </a:rPr>
              <a:t>Plan for future phases</a:t>
            </a:r>
            <a:endParaRPr kumimoji="0" lang="en-US" altLang="en-US" sz="1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995F57-9058-845F-DBC0-17A92E0272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987" y="2875793"/>
            <a:ext cx="1844898" cy="1736233"/>
          </a:xfrm>
          <a:prstGeom prst="rect">
            <a:avLst/>
          </a:prstGeom>
          <a:solidFill>
            <a:schemeClr val="bg1"/>
          </a:solidFill>
          <a:ln>
            <a:solidFill>
              <a:srgbClr val="00338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180000" rIns="25328" bIns="25328" anchor="t"/>
          <a:lstStyle>
            <a:defPPr>
              <a:defRPr lang="en-US"/>
            </a:defPPr>
            <a:lvl1pPr marL="342900" indent="-3429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171450" lvl="2" indent="-171450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000" b="1">
                <a:latin typeface="+mn-lt"/>
                <a:cs typeface="Arial" panose="020B0604020202020204" pitchFamily="34" charset="0"/>
              </a:rPr>
              <a:t>Resourcing</a:t>
            </a:r>
          </a:p>
          <a:p>
            <a:pPr marL="171450" lvl="2" indent="-171450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000" b="1">
                <a:latin typeface="+mn-lt"/>
                <a:cs typeface="Arial" panose="020B0604020202020204" pitchFamily="34" charset="0"/>
              </a:rPr>
              <a:t>Sales/delivery transition</a:t>
            </a:r>
          </a:p>
          <a:p>
            <a:pPr marL="171450" lvl="2" indent="-171450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000" b="1">
                <a:latin typeface="+mn-lt"/>
                <a:cs typeface="Arial" panose="020B0604020202020204" pitchFamily="34" charset="0"/>
              </a:rPr>
              <a:t>Kick-off meeting</a:t>
            </a:r>
          </a:p>
          <a:p>
            <a:pPr marL="171450" lvl="2" indent="-171450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000" b="1">
                <a:latin typeface="+mn-lt"/>
                <a:cs typeface="Arial" panose="020B0604020202020204" pitchFamily="34" charset="0"/>
              </a:rPr>
              <a:t>Fundamentals Training</a:t>
            </a:r>
          </a:p>
          <a:p>
            <a:pPr marL="171450" lvl="2" indent="-171450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en-US" sz="1000" b="1">
                <a:latin typeface="+mn-lt"/>
                <a:cs typeface="Arial" panose="020B0604020202020204" pitchFamily="34" charset="0"/>
              </a:rPr>
              <a:t>Detailed planning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23AC33-848C-A19C-1075-C4E77262D566}"/>
              </a:ext>
            </a:extLst>
          </p:cNvPr>
          <p:cNvSpPr/>
          <p:nvPr/>
        </p:nvSpPr>
        <p:spPr>
          <a:xfrm>
            <a:off x="5693696" y="2245975"/>
            <a:ext cx="1260000" cy="32893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338D"/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Enable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2846AD-F587-0772-F5C4-F150CB6F3EB8}"/>
              </a:ext>
            </a:extLst>
          </p:cNvPr>
          <p:cNvSpPr/>
          <p:nvPr/>
        </p:nvSpPr>
        <p:spPr>
          <a:xfrm>
            <a:off x="7707948" y="2245975"/>
            <a:ext cx="1260000" cy="32893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338D"/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Convert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8A20C3-3AAC-D13D-35A9-4F9DBBBFC16A}"/>
              </a:ext>
            </a:extLst>
          </p:cNvPr>
          <p:cNvSpPr/>
          <p:nvPr/>
        </p:nvSpPr>
        <p:spPr>
          <a:xfrm>
            <a:off x="9722199" y="2245975"/>
            <a:ext cx="1260000" cy="32893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338D"/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Optimize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9D6653-E3BB-FE37-7D50-32464CC72D5E}"/>
              </a:ext>
            </a:extLst>
          </p:cNvPr>
          <p:cNvSpPr/>
          <p:nvPr/>
        </p:nvSpPr>
        <p:spPr>
          <a:xfrm>
            <a:off x="3679444" y="2245975"/>
            <a:ext cx="1260000" cy="32893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rgbClr val="00338D"/>
            </a:solidFill>
            <a:prstDash val="solid"/>
            <a:miter lim="800000"/>
          </a:ln>
          <a:effectLst/>
        </p:spPr>
        <p:txBody>
          <a:bodyPr wrap="square" lIns="0" tIns="0" rIns="0" bIns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9550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8D"/>
              </a:buClr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DRIVE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0B81F9-3F4C-8FFC-3EB2-DB1BEC2CF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2928" y="2875793"/>
            <a:ext cx="1844898" cy="1736222"/>
          </a:xfrm>
          <a:prstGeom prst="rect">
            <a:avLst/>
          </a:prstGeom>
          <a:solidFill>
            <a:schemeClr val="bg1"/>
          </a:solidFill>
          <a:ln>
            <a:solidFill>
              <a:srgbClr val="00338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180000" rIns="25328" bIns="25328" anchor="t"/>
          <a:lstStyle>
            <a:defPPr>
              <a:defRPr lang="en-US"/>
            </a:defPPr>
            <a:lvl1pPr marL="342900" indent="-3429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95363" rtl="0" eaLnBrk="0" fontAlgn="base" latinLnBrk="0" hangingPunct="0">
              <a:spcBef>
                <a:spcPct val="0"/>
              </a:spcBef>
              <a:spcAft>
                <a:spcPct val="0"/>
              </a:spcAft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171450" lvl="2" indent="-171450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Review personalization requirements</a:t>
            </a:r>
          </a:p>
          <a:p>
            <a:pPr marL="171450" lvl="2" indent="-171450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Build core configuration</a:t>
            </a:r>
          </a:p>
          <a:p>
            <a:pPr marL="171450" lvl="2" indent="-171450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altLang="en-US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Configuration walkthroughs</a:t>
            </a:r>
          </a:p>
        </p:txBody>
      </p:sp>
    </p:spTree>
    <p:extLst>
      <p:ext uri="{BB962C8B-B14F-4D97-AF65-F5344CB8AC3E}">
        <p14:creationId xmlns:p14="http://schemas.microsoft.com/office/powerpoint/2010/main" val="581165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943AE-CB8B-A58E-C99B-1FEBA040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01290C-027F-D007-4B07-2AF7B96ADF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4840" y="1764699"/>
            <a:ext cx="7536651" cy="2880000"/>
          </a:xfrm>
        </p:spPr>
        <p:txBody>
          <a:bodyPr anchor="ctr"/>
          <a:lstStyle/>
          <a:p>
            <a:r>
              <a:rPr lang="en-US" b="1" noProof="0"/>
              <a:t>Financial overview</a:t>
            </a:r>
            <a:endParaRPr lang="en-US" noProof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8C09BE8-01E1-5124-355B-15A9B79CEF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3200" b="1" noProof="0"/>
              <a:t>02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511A2FD-939C-210D-ED32-A107F628DF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662" y="369318"/>
            <a:ext cx="2508570" cy="37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257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068E171-B355-73E1-5039-98248791381F}"/>
              </a:ext>
            </a:extLst>
          </p:cNvPr>
          <p:cNvSpPr/>
          <p:nvPr/>
        </p:nvSpPr>
        <p:spPr>
          <a:xfrm>
            <a:off x="6496050" y="4612156"/>
            <a:ext cx="3695700" cy="1543774"/>
          </a:xfrm>
          <a:prstGeom prst="rect">
            <a:avLst/>
          </a:prstGeom>
          <a:solidFill>
            <a:srgbClr val="FFFFFF">
              <a:alpha val="90000"/>
            </a:srgbClr>
          </a:solidFill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txBody>
          <a:bodyPr lIns="40958" tIns="40958" rIns="40958" bIns="40958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8559E1-E6F9-B095-E3A6-2F15B2CB7325}"/>
              </a:ext>
            </a:extLst>
          </p:cNvPr>
          <p:cNvSpPr/>
          <p:nvPr/>
        </p:nvSpPr>
        <p:spPr>
          <a:xfrm>
            <a:off x="6496050" y="2851087"/>
            <a:ext cx="3695700" cy="1543774"/>
          </a:xfrm>
          <a:prstGeom prst="rect">
            <a:avLst/>
          </a:prstGeom>
          <a:solidFill>
            <a:srgbClr val="FFFFFF">
              <a:alpha val="90000"/>
            </a:srgbClr>
          </a:solidFill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txBody>
          <a:bodyPr lIns="40958" tIns="40958" rIns="40958" bIns="40958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E2BB06-8238-0738-B9FE-9C28CB42FB6E}"/>
              </a:ext>
            </a:extLst>
          </p:cNvPr>
          <p:cNvSpPr/>
          <p:nvPr/>
        </p:nvSpPr>
        <p:spPr>
          <a:xfrm>
            <a:off x="2581275" y="1562099"/>
            <a:ext cx="7610475" cy="1071693"/>
          </a:xfrm>
          <a:prstGeom prst="rect">
            <a:avLst/>
          </a:prstGeom>
          <a:solidFill>
            <a:srgbClr val="FFFFFF">
              <a:alpha val="90000"/>
            </a:srgbClr>
          </a:solidFill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txBody>
          <a:bodyPr lIns="40958" tIns="40958" rIns="40958" bIns="40958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D54CAD-EDBA-181E-B7CB-7D29F0962837}"/>
              </a:ext>
            </a:extLst>
          </p:cNvPr>
          <p:cNvSpPr/>
          <p:nvPr/>
        </p:nvSpPr>
        <p:spPr>
          <a:xfrm>
            <a:off x="2581275" y="2851087"/>
            <a:ext cx="3695700" cy="1543774"/>
          </a:xfrm>
          <a:prstGeom prst="rect">
            <a:avLst/>
          </a:prstGeom>
          <a:solidFill>
            <a:srgbClr val="FFFFFF">
              <a:alpha val="90000"/>
            </a:srgbClr>
          </a:solidFill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txBody>
          <a:bodyPr lIns="40958" tIns="40958" rIns="40958" bIns="40958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CBBBD111-40F2-8FD8-C2C4-06359AADC8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639939"/>
              </p:ext>
            </p:extLst>
          </p:nvPr>
        </p:nvGraphicFramePr>
        <p:xfrm>
          <a:off x="2758167" y="1669519"/>
          <a:ext cx="7256690" cy="856853"/>
        </p:xfrm>
        <a:graphic>
          <a:graphicData uri="http://schemas.openxmlformats.org/drawingml/2006/table">
            <a:tbl>
              <a:tblPr/>
              <a:tblGrid>
                <a:gridCol w="2320530">
                  <a:extLst>
                    <a:ext uri="{9D8B030D-6E8A-4147-A177-3AD203B41FA5}">
                      <a16:colId xmlns:a16="http://schemas.microsoft.com/office/drawing/2014/main" val="1185827147"/>
                    </a:ext>
                  </a:extLst>
                </a:gridCol>
                <a:gridCol w="2861515">
                  <a:extLst>
                    <a:ext uri="{9D8B030D-6E8A-4147-A177-3AD203B41FA5}">
                      <a16:colId xmlns:a16="http://schemas.microsoft.com/office/drawing/2014/main" val="3082371916"/>
                    </a:ext>
                  </a:extLst>
                </a:gridCol>
                <a:gridCol w="2074645">
                  <a:extLst>
                    <a:ext uri="{9D8B030D-6E8A-4147-A177-3AD203B41FA5}">
                      <a16:colId xmlns:a16="http://schemas.microsoft.com/office/drawing/2014/main" val="2183455270"/>
                    </a:ext>
                  </a:extLst>
                </a:gridCol>
              </a:tblGrid>
              <a:tr h="256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58585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58585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Netsuite - Oracle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665215"/>
                  </a:ext>
                </a:extLst>
              </a:tr>
              <a:tr h="20002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Overall cost over 3 years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3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1 024 145,80 €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859926"/>
                  </a:ext>
                </a:extLst>
              </a:tr>
              <a:tr h="20002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Overall cost over 5 years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3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1 398 163,00 €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888841"/>
                  </a:ext>
                </a:extLst>
              </a:tr>
              <a:tr h="20002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Overall cost over 10 years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3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2 333 206,00 €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31451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044F45-0B92-5503-5109-3002F00F10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224965"/>
              </p:ext>
            </p:extLst>
          </p:nvPr>
        </p:nvGraphicFramePr>
        <p:xfrm>
          <a:off x="6858000" y="3037187"/>
          <a:ext cx="2971801" cy="1171575"/>
        </p:xfrm>
        <a:graphic>
          <a:graphicData uri="http://schemas.openxmlformats.org/drawingml/2006/table">
            <a:tbl>
              <a:tblPr/>
              <a:tblGrid>
                <a:gridCol w="1478563">
                  <a:extLst>
                    <a:ext uri="{9D8B030D-6E8A-4147-A177-3AD203B41FA5}">
                      <a16:colId xmlns:a16="http://schemas.microsoft.com/office/drawing/2014/main" val="935282655"/>
                    </a:ext>
                  </a:extLst>
                </a:gridCol>
                <a:gridCol w="1493238">
                  <a:extLst>
                    <a:ext uri="{9D8B030D-6E8A-4147-A177-3AD203B41FA5}">
                      <a16:colId xmlns:a16="http://schemas.microsoft.com/office/drawing/2014/main" val="613082585"/>
                    </a:ext>
                  </a:extLst>
                </a:gridCol>
              </a:tblGrid>
              <a:tr h="1171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Sub-total “Build” (One-Off)</a:t>
                      </a:r>
                    </a:p>
                  </a:txBody>
                  <a:tcPr marL="9525" marR="9525" marT="95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463,120.00 € </a:t>
                      </a:r>
                    </a:p>
                  </a:txBody>
                  <a:tcPr marL="9525" marR="9525" marT="9525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37356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C3B657B-802D-D4C8-60D5-E0E87903D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408804"/>
              </p:ext>
            </p:extLst>
          </p:nvPr>
        </p:nvGraphicFramePr>
        <p:xfrm>
          <a:off x="2943224" y="3037186"/>
          <a:ext cx="2971801" cy="1171575"/>
        </p:xfrm>
        <a:graphic>
          <a:graphicData uri="http://schemas.openxmlformats.org/drawingml/2006/table">
            <a:tbl>
              <a:tblPr/>
              <a:tblGrid>
                <a:gridCol w="1504951">
                  <a:extLst>
                    <a:ext uri="{9D8B030D-6E8A-4147-A177-3AD203B41FA5}">
                      <a16:colId xmlns:a16="http://schemas.microsoft.com/office/drawing/2014/main" val="3397740361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95631856"/>
                    </a:ext>
                  </a:extLst>
                </a:gridCol>
              </a:tblGrid>
              <a:tr h="11715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Sub-total “Run” Saas (annual)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187 008,60 €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35636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6F5F7D-7F74-1003-8921-FA4F468B6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081271"/>
              </p:ext>
            </p:extLst>
          </p:nvPr>
        </p:nvGraphicFramePr>
        <p:xfrm>
          <a:off x="6858000" y="4798256"/>
          <a:ext cx="2971801" cy="995292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642026267"/>
                    </a:ext>
                  </a:extLst>
                </a:gridCol>
                <a:gridCol w="1531801">
                  <a:extLst>
                    <a:ext uri="{9D8B030D-6E8A-4147-A177-3AD203B41FA5}">
                      <a16:colId xmlns:a16="http://schemas.microsoft.com/office/drawing/2014/main" val="3574166397"/>
                    </a:ext>
                  </a:extLst>
                </a:gridCol>
              </a:tblGrid>
              <a:tr h="4976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(man days)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392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660500"/>
                  </a:ext>
                </a:extLst>
              </a:tr>
              <a:tr h="4976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Integrator’s</a:t>
                      </a:r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</a:t>
                      </a:r>
                      <a:r>
                        <a:rPr lang="fr-FR" sz="1200" b="1" i="0" u="none" strike="noStrike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average</a:t>
                      </a:r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fr-FR" sz="1200" b="1" i="0" u="none" strike="noStrike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daily</a:t>
                      </a:r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rate 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1 135,51 € </a:t>
                      </a:r>
                      <a:endParaRPr lang="fr-FR" sz="9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112407"/>
                  </a:ext>
                </a:extLst>
              </a:tr>
            </a:tbl>
          </a:graphicData>
        </a:graphic>
      </p:graphicFrame>
      <p:sp>
        <p:nvSpPr>
          <p:cNvPr id="14" name="Textfeld 101">
            <a:extLst>
              <a:ext uri="{FF2B5EF4-FFF2-40B4-BE49-F238E27FC236}">
                <a16:creationId xmlns:a16="http://schemas.microsoft.com/office/drawing/2014/main" id="{2EE0E8B1-D6DB-98BA-69BD-156F0A18016B}"/>
              </a:ext>
            </a:extLst>
          </p:cNvPr>
          <p:cNvSpPr txBox="1"/>
          <p:nvPr/>
        </p:nvSpPr>
        <p:spPr>
          <a:xfrm>
            <a:off x="2484300" y="1227622"/>
            <a:ext cx="423368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Overall cost over 3/5/10 years including Build + Run costs</a:t>
            </a:r>
          </a:p>
        </p:txBody>
      </p:sp>
      <p:sp>
        <p:nvSpPr>
          <p:cNvPr id="15" name="Textfeld 101">
            <a:extLst>
              <a:ext uri="{FF2B5EF4-FFF2-40B4-BE49-F238E27FC236}">
                <a16:creationId xmlns:a16="http://schemas.microsoft.com/office/drawing/2014/main" id="{205F04FA-B56E-A606-BD8C-624F87533FA8}"/>
              </a:ext>
            </a:extLst>
          </p:cNvPr>
          <p:cNvSpPr txBox="1"/>
          <p:nvPr/>
        </p:nvSpPr>
        <p:spPr>
          <a:xfrm>
            <a:off x="2484300" y="2631080"/>
            <a:ext cx="423368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Run cost on an annual basis</a:t>
            </a:r>
          </a:p>
        </p:txBody>
      </p:sp>
      <p:sp>
        <p:nvSpPr>
          <p:cNvPr id="17" name="Textfeld 101">
            <a:extLst>
              <a:ext uri="{FF2B5EF4-FFF2-40B4-BE49-F238E27FC236}">
                <a16:creationId xmlns:a16="http://schemas.microsoft.com/office/drawing/2014/main" id="{A2916B87-FAD5-ED4C-5705-4C490179C9A4}"/>
              </a:ext>
            </a:extLst>
          </p:cNvPr>
          <p:cNvSpPr txBox="1"/>
          <p:nvPr/>
        </p:nvSpPr>
        <p:spPr>
          <a:xfrm>
            <a:off x="6410325" y="2631080"/>
            <a:ext cx="423368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Build cost for the full scope implementation </a:t>
            </a:r>
          </a:p>
        </p:txBody>
      </p:sp>
      <p:sp>
        <p:nvSpPr>
          <p:cNvPr id="18" name="Textfeld 101">
            <a:extLst>
              <a:ext uri="{FF2B5EF4-FFF2-40B4-BE49-F238E27FC236}">
                <a16:creationId xmlns:a16="http://schemas.microsoft.com/office/drawing/2014/main" id="{830F68BF-C82F-D433-C695-AFE83C256995}"/>
              </a:ext>
            </a:extLst>
          </p:cNvPr>
          <p:cNvSpPr txBox="1"/>
          <p:nvPr/>
        </p:nvSpPr>
        <p:spPr>
          <a:xfrm>
            <a:off x="6410325" y="4379663"/>
            <a:ext cx="423368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Man days required for the full scope implementation</a:t>
            </a:r>
          </a:p>
        </p:txBody>
      </p:sp>
      <p:sp>
        <p:nvSpPr>
          <p:cNvPr id="19" name="Titre 1">
            <a:extLst>
              <a:ext uri="{FF2B5EF4-FFF2-40B4-BE49-F238E27FC236}">
                <a16:creationId xmlns:a16="http://schemas.microsoft.com/office/drawing/2014/main" id="{93A911AA-5E5B-3D1E-8B84-D473B8BA5C00}"/>
              </a:ext>
            </a:extLst>
          </p:cNvPr>
          <p:cNvSpPr txBox="1">
            <a:spLocks/>
          </p:cNvSpPr>
          <p:nvPr/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4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Financial overview for the ERP project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83B724-74FC-C941-B904-AD9083777B59}"/>
              </a:ext>
            </a:extLst>
          </p:cNvPr>
          <p:cNvSpPr/>
          <p:nvPr/>
        </p:nvSpPr>
        <p:spPr>
          <a:xfrm>
            <a:off x="2570025" y="4633579"/>
            <a:ext cx="3695700" cy="1543774"/>
          </a:xfrm>
          <a:prstGeom prst="rect">
            <a:avLst/>
          </a:prstGeom>
          <a:solidFill>
            <a:srgbClr val="FFFFFF">
              <a:alpha val="90000"/>
            </a:srgbClr>
          </a:solidFill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txBody>
          <a:bodyPr lIns="40958" tIns="40958" rIns="40958" bIns="40958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20" name="Table 6">
            <a:extLst>
              <a:ext uri="{FF2B5EF4-FFF2-40B4-BE49-F238E27FC236}">
                <a16:creationId xmlns:a16="http://schemas.microsoft.com/office/drawing/2014/main" id="{48354C10-215B-68E6-A60A-AEF0F724B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501813"/>
              </p:ext>
            </p:extLst>
          </p:nvPr>
        </p:nvGraphicFramePr>
        <p:xfrm>
          <a:off x="2931975" y="4819679"/>
          <a:ext cx="2971801" cy="1046286"/>
        </p:xfrm>
        <a:graphic>
          <a:graphicData uri="http://schemas.openxmlformats.org/drawingml/2006/table">
            <a:tbl>
              <a:tblPr/>
              <a:tblGrid>
                <a:gridCol w="1440000">
                  <a:extLst>
                    <a:ext uri="{9D8B030D-6E8A-4147-A177-3AD203B41FA5}">
                      <a16:colId xmlns:a16="http://schemas.microsoft.com/office/drawing/2014/main" val="2642026267"/>
                    </a:ext>
                  </a:extLst>
                </a:gridCol>
                <a:gridCol w="1531801">
                  <a:extLst>
                    <a:ext uri="{9D8B030D-6E8A-4147-A177-3AD203B41FA5}">
                      <a16:colId xmlns:a16="http://schemas.microsoft.com/office/drawing/2014/main" val="3574166397"/>
                    </a:ext>
                  </a:extLst>
                </a:gridCol>
              </a:tblGrid>
              <a:tr h="4976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Number of users considered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142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660500"/>
                  </a:ext>
                </a:extLst>
              </a:tr>
              <a:tr h="49764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Unit price after discount, per user per year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779,49€</a:t>
                      </a:r>
                      <a:endParaRPr lang="fr-FR" sz="9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8112407"/>
                  </a:ext>
                </a:extLst>
              </a:tr>
            </a:tbl>
          </a:graphicData>
        </a:graphic>
      </p:graphicFrame>
      <p:sp>
        <p:nvSpPr>
          <p:cNvPr id="21" name="Textfeld 101">
            <a:extLst>
              <a:ext uri="{FF2B5EF4-FFF2-40B4-BE49-F238E27FC236}">
                <a16:creationId xmlns:a16="http://schemas.microsoft.com/office/drawing/2014/main" id="{D155F771-9DC4-2E44-37BB-F1B30AC1A30A}"/>
              </a:ext>
            </a:extLst>
          </p:cNvPr>
          <p:cNvSpPr txBox="1"/>
          <p:nvPr/>
        </p:nvSpPr>
        <p:spPr>
          <a:xfrm>
            <a:off x="2484300" y="4401086"/>
            <a:ext cx="423368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Run costs details</a:t>
            </a:r>
          </a:p>
        </p:txBody>
      </p:sp>
    </p:spTree>
    <p:extLst>
      <p:ext uri="{BB962C8B-B14F-4D97-AF65-F5344CB8AC3E}">
        <p14:creationId xmlns:p14="http://schemas.microsoft.com/office/powerpoint/2010/main" val="25104414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5F71-1935-32BE-BB6C-6866C56A1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ED5191-A93F-3849-8154-BAABA2D06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noProof="0"/>
              <a:t>Zoom on Financial - Detailed costs for Build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90DC399-4975-AF45-8F59-019F2B5ED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441987"/>
              </p:ext>
            </p:extLst>
          </p:nvPr>
        </p:nvGraphicFramePr>
        <p:xfrm>
          <a:off x="998399" y="1127125"/>
          <a:ext cx="8989782" cy="3960824"/>
        </p:xfrm>
        <a:graphic>
          <a:graphicData uri="http://schemas.openxmlformats.org/drawingml/2006/table">
            <a:tbl>
              <a:tblPr/>
              <a:tblGrid>
                <a:gridCol w="3892183">
                  <a:extLst>
                    <a:ext uri="{9D8B030D-6E8A-4147-A177-3AD203B41FA5}">
                      <a16:colId xmlns:a16="http://schemas.microsoft.com/office/drawing/2014/main" val="1136993791"/>
                    </a:ext>
                  </a:extLst>
                </a:gridCol>
                <a:gridCol w="3892183">
                  <a:extLst>
                    <a:ext uri="{9D8B030D-6E8A-4147-A177-3AD203B41FA5}">
                      <a16:colId xmlns:a16="http://schemas.microsoft.com/office/drawing/2014/main" val="3859621642"/>
                    </a:ext>
                  </a:extLst>
                </a:gridCol>
                <a:gridCol w="1205416">
                  <a:extLst>
                    <a:ext uri="{9D8B030D-6E8A-4147-A177-3AD203B41FA5}">
                      <a16:colId xmlns:a16="http://schemas.microsoft.com/office/drawing/2014/main" val="562946196"/>
                    </a:ext>
                  </a:extLst>
                </a:gridCol>
              </a:tblGrid>
              <a:tr h="3163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050" b="0" i="0" u="none" strike="noStrike">
                        <a:solidFill>
                          <a:srgbClr val="58585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050" b="0" i="0" u="none" strike="noStrike">
                        <a:solidFill>
                          <a:srgbClr val="58585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5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Netsuite - Oracle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4733641"/>
                  </a:ext>
                </a:extLst>
              </a:tr>
              <a:tr h="227779">
                <a:tc rowSpan="1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Build</a:t>
                      </a: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Project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20 960,00 €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9590497"/>
                  </a:ext>
                </a:extLst>
              </a:tr>
              <a:tr h="22777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Initialization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50 640,00 €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919103"/>
                  </a:ext>
                </a:extLst>
              </a:tr>
              <a:tr h="22777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Solution design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16 440,00 €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34411"/>
                  </a:ext>
                </a:extLst>
              </a:tr>
              <a:tr h="22777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Solution implementation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269 240,00 €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04817"/>
                  </a:ext>
                </a:extLst>
              </a:tr>
              <a:tr h="22777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Data recovery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28 720,00 €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247770"/>
                  </a:ext>
                </a:extLst>
              </a:tr>
              <a:tr h="22777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Acceptance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11 360,00 €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7064373"/>
                  </a:ext>
                </a:extLst>
              </a:tr>
              <a:tr h="22777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Training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13 920,00 €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1298251"/>
                  </a:ext>
                </a:extLst>
              </a:tr>
              <a:tr h="22777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Production start-up and assistance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15 760,00 €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9688307"/>
                  </a:ext>
                </a:extLst>
              </a:tr>
              <a:tr h="22777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Maintenance and user support during the warranty phase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  -  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667566"/>
                  </a:ext>
                </a:extLst>
              </a:tr>
              <a:tr h="22777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Reversibility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   6 640,00 €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5308546"/>
                  </a:ext>
                </a:extLst>
              </a:tr>
              <a:tr h="22777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Best-of-breed implementation (options)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11 440,00 €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478568"/>
                  </a:ext>
                </a:extLst>
              </a:tr>
              <a:tr h="22777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 err="1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Travel</a:t>
                      </a: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fr-FR" sz="1000" b="0" i="0" u="none" strike="noStrike" err="1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expenses</a:t>
                      </a:r>
                      <a:endParaRPr lang="fr-FR" sz="1000" b="0" i="0" u="none" strike="noStrike">
                        <a:solidFill>
                          <a:srgbClr val="58585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18 000,00 €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341456"/>
                  </a:ext>
                </a:extLst>
              </a:tr>
              <a:tr h="22777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Sub-total</a:t>
                      </a:r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“</a:t>
                      </a:r>
                      <a:r>
                        <a:rPr lang="fr-FR" sz="1000" b="1" i="0" u="none" strike="noStrike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Build</a:t>
                      </a:r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” (One-Off)</a:t>
                      </a:r>
                    </a:p>
                  </a:txBody>
                  <a:tcPr marL="0" marR="0" marT="0" marB="0" anchor="ctr"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    463 120,00 €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45069"/>
                  </a:ext>
                </a:extLst>
              </a:tr>
              <a:tr h="22777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51905"/>
                  </a:ext>
                </a:extLst>
              </a:tr>
              <a:tr h="227779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(man days)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4E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392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4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667238"/>
                  </a:ext>
                </a:extLst>
              </a:tr>
              <a:tr h="227779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Integrator's average daily rate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4E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mpd="sng">
                      <a:noFill/>
                      <a:prstDash val="soli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        1 135,51 €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24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2876151"/>
                  </a:ext>
                </a:extLst>
              </a:tr>
            </a:tbl>
          </a:graphicData>
        </a:graphic>
      </p:graphicFrame>
      <p:sp>
        <p:nvSpPr>
          <p:cNvPr id="3" name="Textfeld 101">
            <a:extLst>
              <a:ext uri="{FF2B5EF4-FFF2-40B4-BE49-F238E27FC236}">
                <a16:creationId xmlns:a16="http://schemas.microsoft.com/office/drawing/2014/main" id="{F049ADC7-758C-C37A-B637-E3136978EA11}"/>
              </a:ext>
            </a:extLst>
          </p:cNvPr>
          <p:cNvSpPr txBox="1"/>
          <p:nvPr/>
        </p:nvSpPr>
        <p:spPr>
          <a:xfrm>
            <a:off x="998399" y="1127125"/>
            <a:ext cx="423368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Detailed implementation cost</a:t>
            </a:r>
          </a:p>
        </p:txBody>
      </p:sp>
      <p:sp>
        <p:nvSpPr>
          <p:cNvPr id="4" name="Rectangle : coins arrondis 9">
            <a:extLst>
              <a:ext uri="{FF2B5EF4-FFF2-40B4-BE49-F238E27FC236}">
                <a16:creationId xmlns:a16="http://schemas.microsoft.com/office/drawing/2014/main" id="{C55B7750-E0AD-0CDA-48E4-7B02E099444D}"/>
              </a:ext>
            </a:extLst>
          </p:cNvPr>
          <p:cNvSpPr/>
          <p:nvPr/>
        </p:nvSpPr>
        <p:spPr>
          <a:xfrm>
            <a:off x="1049199" y="5432300"/>
            <a:ext cx="10312364" cy="1120901"/>
          </a:xfrm>
          <a:prstGeom prst="roundRect">
            <a:avLst>
              <a:gd name="adj" fmla="val 2936"/>
            </a:avLst>
          </a:prstGeom>
          <a:solidFill>
            <a:srgbClr val="FFFFFF">
              <a:alpha val="90000"/>
            </a:srgbClr>
          </a:solidFill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txBody>
          <a:bodyPr lIns="54611" tIns="54611" rIns="54611" bIns="54611" rtlCol="0" anchor="t"/>
          <a:lstStyle/>
          <a:p>
            <a:pPr defTabSz="914377">
              <a:buClr>
                <a:srgbClr val="0F1E59"/>
              </a:buClr>
            </a:pPr>
            <a:endParaRPr lang="en-US" sz="1000" kern="0" noProof="0">
              <a:solidFill>
                <a:srgbClr val="0F1E59"/>
              </a:solidFill>
              <a:latin typeface="Arial" panose="020B0604020202020204"/>
              <a:sym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48A3FB-C22B-D5F4-5C3C-FB0CBA13CA23}"/>
              </a:ext>
            </a:extLst>
          </p:cNvPr>
          <p:cNvSpPr/>
          <p:nvPr/>
        </p:nvSpPr>
        <p:spPr>
          <a:xfrm>
            <a:off x="1134203" y="5450061"/>
            <a:ext cx="10059398" cy="11031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0C233C"/>
                </a:solidFill>
              </a:rPr>
              <a:t>Travel expenses: </a:t>
            </a:r>
            <a:r>
              <a:rPr lang="en-US" sz="1000">
                <a:solidFill>
                  <a:srgbClr val="0C233C"/>
                </a:solidFill>
              </a:rPr>
              <a:t>The travel expense cost is an estimate and needs to be reviewed.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000" b="1">
              <a:solidFill>
                <a:srgbClr val="0C233C"/>
              </a:solidFill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0C233C"/>
                </a:solidFill>
              </a:rPr>
              <a:t>General pricing: </a:t>
            </a:r>
            <a:r>
              <a:rPr lang="en-US" sz="1000">
                <a:solidFill>
                  <a:srgbClr val="0C233C"/>
                </a:solidFill>
              </a:rPr>
              <a:t>The pricing is not the final version of the offer, and some topics still need clarification, particularly the e-invoicing implementation scope which seems </a:t>
            </a:r>
            <a:r>
              <a:rPr lang="en-US" sz="1000" err="1">
                <a:solidFill>
                  <a:srgbClr val="0C233C"/>
                </a:solidFill>
              </a:rPr>
              <a:t>understimated</a:t>
            </a:r>
            <a:r>
              <a:rPr lang="en-US" sz="1000">
                <a:solidFill>
                  <a:srgbClr val="0C233C"/>
                </a:solidFill>
              </a:rPr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8D3983B-820A-10CF-FC32-EF3DA3A14002}"/>
              </a:ext>
            </a:extLst>
          </p:cNvPr>
          <p:cNvSpPr txBox="1">
            <a:spLocks/>
          </p:cNvSpPr>
          <p:nvPr/>
        </p:nvSpPr>
        <p:spPr>
          <a:xfrm>
            <a:off x="560980" y="5129507"/>
            <a:ext cx="1545057" cy="35956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ABChanel Corpo Regular" panose="020B0505030101020001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1" u="none" strike="noStrike" kern="120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ABChanel Corpo Regular" panose="020B0505030101020001" pitchFamily="34" charset="0"/>
                <a:ea typeface="+mj-ea"/>
                <a:cs typeface="+mj-cs"/>
                <a:sym typeface="Arial"/>
              </a:rPr>
              <a:t>Comments</a:t>
            </a:r>
            <a:endParaRPr kumimoji="0" lang="en-US" sz="1050" b="1" i="1" u="none" strike="noStrike" kern="1200" cap="none" spc="0" normalizeH="0" baseline="0" noProof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ABChanel Corpo Regular" panose="020B0505030101020001" pitchFamily="34" charset="0"/>
              <a:ea typeface="+mj-ea"/>
              <a:cs typeface="+mj-cs"/>
              <a:sym typeface="Arial"/>
            </a:endParaRPr>
          </a:p>
        </p:txBody>
      </p:sp>
      <p:cxnSp>
        <p:nvCxnSpPr>
          <p:cNvPr id="8" name="Gerader Verbinder 54">
            <a:extLst>
              <a:ext uri="{FF2B5EF4-FFF2-40B4-BE49-F238E27FC236}">
                <a16:creationId xmlns:a16="http://schemas.microsoft.com/office/drawing/2014/main" id="{9654EDF4-9A34-C6E4-8001-F98AA8417148}"/>
              </a:ext>
            </a:extLst>
          </p:cNvPr>
          <p:cNvCxnSpPr>
            <a:cxnSpLocks/>
          </p:cNvCxnSpPr>
          <p:nvPr/>
        </p:nvCxnSpPr>
        <p:spPr>
          <a:xfrm>
            <a:off x="990779" y="5378834"/>
            <a:ext cx="103123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512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FCC30-03E5-584B-9E64-45244A21E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3FAAD0-ECCE-3631-705D-A645B05A9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noProof="0"/>
              <a:t>Zoom on Financial - Detailed costs for Run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B50AC32-0404-1335-9707-1FA228F0B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151794"/>
              </p:ext>
            </p:extLst>
          </p:nvPr>
        </p:nvGraphicFramePr>
        <p:xfrm>
          <a:off x="1056981" y="1420662"/>
          <a:ext cx="8989784" cy="2174242"/>
        </p:xfrm>
        <a:graphic>
          <a:graphicData uri="http://schemas.openxmlformats.org/drawingml/2006/table">
            <a:tbl>
              <a:tblPr/>
              <a:tblGrid>
                <a:gridCol w="3892184">
                  <a:extLst>
                    <a:ext uri="{9D8B030D-6E8A-4147-A177-3AD203B41FA5}">
                      <a16:colId xmlns:a16="http://schemas.microsoft.com/office/drawing/2014/main" val="2194759138"/>
                    </a:ext>
                  </a:extLst>
                </a:gridCol>
                <a:gridCol w="3892184">
                  <a:extLst>
                    <a:ext uri="{9D8B030D-6E8A-4147-A177-3AD203B41FA5}">
                      <a16:colId xmlns:a16="http://schemas.microsoft.com/office/drawing/2014/main" val="2863059899"/>
                    </a:ext>
                  </a:extLst>
                </a:gridCol>
                <a:gridCol w="1205416">
                  <a:extLst>
                    <a:ext uri="{9D8B030D-6E8A-4147-A177-3AD203B41FA5}">
                      <a16:colId xmlns:a16="http://schemas.microsoft.com/office/drawing/2014/main" val="3705845252"/>
                    </a:ext>
                  </a:extLst>
                </a:gridCol>
              </a:tblGrid>
              <a:tr h="19304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050" b="0" i="0" u="none" strike="noStrike">
                        <a:solidFill>
                          <a:srgbClr val="58585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050" b="0" i="0" u="none" strike="noStrike">
                        <a:solidFill>
                          <a:srgbClr val="58585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5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Netsuite - Oracle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15772"/>
                  </a:ext>
                </a:extLst>
              </a:tr>
              <a:tr h="144652">
                <a:tc rowSpan="1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Run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SAAS rent (annual)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    145 899,60 €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565704"/>
                  </a:ext>
                </a:extLst>
              </a:tr>
              <a:tr h="1446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SaaS rent (annual unit basis)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      779,49 €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762810"/>
                  </a:ext>
                </a:extLst>
              </a:tr>
              <a:tr h="1446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SaaS rent (monthly basis)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   9 159,00 €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172131"/>
                  </a:ext>
                </a:extLst>
              </a:tr>
              <a:tr h="1446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SaaS rent (annual basis)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109 908,00 €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812659"/>
                  </a:ext>
                </a:extLst>
              </a:tr>
              <a:tr h="1446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Best of Breed SaaS rent (annual basis)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23 935,80 €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846581"/>
                  </a:ext>
                </a:extLst>
              </a:tr>
              <a:tr h="1446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Hosting subscription (annual)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  -  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2512910"/>
                  </a:ext>
                </a:extLst>
              </a:tr>
              <a:tr h="1446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Other costs (additional environment)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12 055,80 €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243062"/>
                  </a:ext>
                </a:extLst>
              </a:tr>
              <a:tr h="1446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TMA (annual)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      41 109,00 €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3329442"/>
                  </a:ext>
                </a:extLst>
              </a:tr>
              <a:tr h="1446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Support (annual basis)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21 257,40 €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630364"/>
                  </a:ext>
                </a:extLst>
              </a:tr>
              <a:tr h="1446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TMA rent (annual basis)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19 851,60 €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40576"/>
                  </a:ext>
                </a:extLst>
              </a:tr>
              <a:tr h="1446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0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Other support / maintenance services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2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                  -  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232935"/>
                  </a:ext>
                </a:extLst>
              </a:tr>
              <a:tr h="1446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Sub-total “Run” Saas (annual)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    187 008,60 €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261767"/>
                  </a:ext>
                </a:extLst>
              </a:tr>
              <a:tr h="14465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Sub-total “Run” Saas (5 years)</a:t>
                      </a:r>
                    </a:p>
                  </a:txBody>
                  <a:tcPr marL="0" marR="0" marT="0" marB="0" anchor="ctr"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0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    935 043,00 € 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624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9774551"/>
                  </a:ext>
                </a:extLst>
              </a:tr>
            </a:tbl>
          </a:graphicData>
        </a:graphic>
      </p:graphicFrame>
      <p:sp>
        <p:nvSpPr>
          <p:cNvPr id="5" name="Textfeld 101">
            <a:extLst>
              <a:ext uri="{FF2B5EF4-FFF2-40B4-BE49-F238E27FC236}">
                <a16:creationId xmlns:a16="http://schemas.microsoft.com/office/drawing/2014/main" id="{CC0ACD9F-74A9-FBAE-4EB7-A3E005FBFF7F}"/>
              </a:ext>
            </a:extLst>
          </p:cNvPr>
          <p:cNvSpPr txBox="1"/>
          <p:nvPr/>
        </p:nvSpPr>
        <p:spPr>
          <a:xfrm>
            <a:off x="998400" y="1282825"/>
            <a:ext cx="423368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Detailed Run cost of the ERP a</a:t>
            </a:r>
            <a:r>
              <a:rPr lang="en-US" sz="1050" b="1" err="1">
                <a:solidFill>
                  <a:srgbClr val="0C233C"/>
                </a:solidFill>
                <a:latin typeface="Arial"/>
              </a:rPr>
              <a:t>nd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Best Of Breed solutions</a:t>
            </a:r>
          </a:p>
        </p:txBody>
      </p:sp>
      <p:sp>
        <p:nvSpPr>
          <p:cNvPr id="9" name="Textfeld 101">
            <a:extLst>
              <a:ext uri="{FF2B5EF4-FFF2-40B4-BE49-F238E27FC236}">
                <a16:creationId xmlns:a16="http://schemas.microsoft.com/office/drawing/2014/main" id="{933AC95B-6CD1-223E-18E3-4043D1A68AD7}"/>
              </a:ext>
            </a:extLst>
          </p:cNvPr>
          <p:cNvSpPr txBox="1"/>
          <p:nvPr/>
        </p:nvSpPr>
        <p:spPr>
          <a:xfrm>
            <a:off x="998400" y="3651375"/>
            <a:ext cx="4233688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Detailed </a:t>
            </a:r>
            <a:r>
              <a:rPr kumimoji="0" lang="en-US" sz="1050" b="1" i="0" u="none" strike="noStrike" kern="1200" cap="none" spc="0" normalizeH="0" baseline="0" noProof="0" err="1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licences</a:t>
            </a: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cost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980B21A-4169-0350-92AD-E1EB621C16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049975"/>
              </p:ext>
            </p:extLst>
          </p:nvPr>
        </p:nvGraphicFramePr>
        <p:xfrm>
          <a:off x="1056981" y="3907665"/>
          <a:ext cx="10063300" cy="2621280"/>
        </p:xfrm>
        <a:graphic>
          <a:graphicData uri="http://schemas.openxmlformats.org/drawingml/2006/table">
            <a:tbl>
              <a:tblPr/>
              <a:tblGrid>
                <a:gridCol w="4368452">
                  <a:extLst>
                    <a:ext uri="{9D8B030D-6E8A-4147-A177-3AD203B41FA5}">
                      <a16:colId xmlns:a16="http://schemas.microsoft.com/office/drawing/2014/main" val="2623468312"/>
                    </a:ext>
                  </a:extLst>
                </a:gridCol>
                <a:gridCol w="5694848">
                  <a:extLst>
                    <a:ext uri="{9D8B030D-6E8A-4147-A177-3AD203B41FA5}">
                      <a16:colId xmlns:a16="http://schemas.microsoft.com/office/drawing/2014/main" val="16647659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8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Netsuite - Oracle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480482"/>
                  </a:ext>
                </a:extLst>
              </a:tr>
              <a:tr h="2841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Unit public price per user per year for Core solution for a full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1 097,87 €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955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Discount proposed on public price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29%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366450"/>
                  </a:ext>
                </a:extLst>
              </a:tr>
              <a:tr h="2841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Unit price per user per year for Core solution for a full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779,49 €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885762"/>
                  </a:ext>
                </a:extLst>
              </a:tr>
              <a:tr h="18964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License mix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1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NetSuite SuiteSuccess Financials Premium Cloud Service: 1 for 43K each</a:t>
                      </a: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1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NetSuite General Access Cloud Service User (full user): 42 for 1K3 each</a:t>
                      </a: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1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NetSuite Employee Self-Serve Cloud Service Users: 85 for 216 each</a:t>
                      </a: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1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NetSuite Specialized View and Approve Cloud Service  Users: 10 for 336 each</a:t>
                      </a: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1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NetSuite OneWorld Cloud Service: 1 for 21,6K each</a:t>
                      </a: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1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NetSuite Procurement Mid-Market Cloud Service: 1 for 6K480 each</a:t>
                      </a:r>
                    </a:p>
                    <a:p>
                      <a:pPr marL="171450" indent="-171450" algn="l" fontAlgn="ctr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11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NetSuite Inventory Management Mid-Market Cloud Service: 1 for 6k480 each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5648647"/>
                  </a:ext>
                </a:extLst>
              </a:tr>
              <a:tr h="3764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amount of licenses for Core solution / per year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141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697082"/>
                  </a:ext>
                </a:extLst>
              </a:tr>
              <a:tr h="61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amounts of licenses per year discounts included / with best of breed solution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133 843,80 €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224526"/>
                  </a:ext>
                </a:extLst>
              </a:tr>
              <a:tr h="28411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Total amount / by number of real </a:t>
                      </a:r>
                      <a:r>
                        <a:rPr lang="en-US" sz="1100" b="1" i="0" u="none" strike="noStrike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Abivax</a:t>
                      </a: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users (142 in RFP)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942,56 €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9308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1752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892C56-EA5A-6116-088C-48301E5C9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err="1"/>
              <a:t>Overall</a:t>
            </a:r>
            <a:r>
              <a:rPr lang="fr-FR"/>
              <a:t> </a:t>
            </a:r>
            <a:r>
              <a:rPr lang="fr-FR" err="1"/>
              <a:t>costs</a:t>
            </a:r>
            <a:r>
              <a:rPr lang="fr-FR"/>
              <a:t> and first </a:t>
            </a:r>
            <a:r>
              <a:rPr lang="fr-FR" err="1"/>
              <a:t>thoughts</a:t>
            </a:r>
            <a:r>
              <a:rPr lang="fr-FR"/>
              <a:t> about TCO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3A708A-2FDF-DEB0-16F1-F37859BAFFAB}"/>
              </a:ext>
            </a:extLst>
          </p:cNvPr>
          <p:cNvSpPr/>
          <p:nvPr/>
        </p:nvSpPr>
        <p:spPr>
          <a:xfrm>
            <a:off x="1590675" y="1981199"/>
            <a:ext cx="7610475" cy="1071693"/>
          </a:xfrm>
          <a:prstGeom prst="rect">
            <a:avLst/>
          </a:prstGeom>
          <a:solidFill>
            <a:srgbClr val="FFFFFF">
              <a:alpha val="90000"/>
            </a:srgbClr>
          </a:solidFill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txBody>
          <a:bodyPr lIns="40958" tIns="40958" rIns="40958" bIns="40958"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CDB2C662-B076-EC47-378B-F83A09945C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749485"/>
              </p:ext>
            </p:extLst>
          </p:nvPr>
        </p:nvGraphicFramePr>
        <p:xfrm>
          <a:off x="1767567" y="2088619"/>
          <a:ext cx="7256690" cy="856853"/>
        </p:xfrm>
        <a:graphic>
          <a:graphicData uri="http://schemas.openxmlformats.org/drawingml/2006/table">
            <a:tbl>
              <a:tblPr/>
              <a:tblGrid>
                <a:gridCol w="2320530">
                  <a:extLst>
                    <a:ext uri="{9D8B030D-6E8A-4147-A177-3AD203B41FA5}">
                      <a16:colId xmlns:a16="http://schemas.microsoft.com/office/drawing/2014/main" val="1185827147"/>
                    </a:ext>
                  </a:extLst>
                </a:gridCol>
                <a:gridCol w="2861515">
                  <a:extLst>
                    <a:ext uri="{9D8B030D-6E8A-4147-A177-3AD203B41FA5}">
                      <a16:colId xmlns:a16="http://schemas.microsoft.com/office/drawing/2014/main" val="3082371916"/>
                    </a:ext>
                  </a:extLst>
                </a:gridCol>
                <a:gridCol w="2074645">
                  <a:extLst>
                    <a:ext uri="{9D8B030D-6E8A-4147-A177-3AD203B41FA5}">
                      <a16:colId xmlns:a16="http://schemas.microsoft.com/office/drawing/2014/main" val="2183455270"/>
                    </a:ext>
                  </a:extLst>
                </a:gridCol>
              </a:tblGrid>
              <a:tr h="25677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58585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1100" b="0" i="0" u="none" strike="noStrike">
                        <a:solidFill>
                          <a:srgbClr val="58585B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Netsuite - Oracle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665215"/>
                  </a:ext>
                </a:extLst>
              </a:tr>
              <a:tr h="20002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Overall cost over 3 years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3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1 024 145,80 €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859926"/>
                  </a:ext>
                </a:extLst>
              </a:tr>
              <a:tr h="20002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Overall cost over 5 years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3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1 398 163,00 €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888841"/>
                  </a:ext>
                </a:extLst>
              </a:tr>
              <a:tr h="20002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Overall cost over 10 years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C3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        2 333 206,00 €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314516"/>
                  </a:ext>
                </a:extLst>
              </a:tr>
            </a:tbl>
          </a:graphicData>
        </a:graphic>
      </p:graphicFrame>
      <p:sp>
        <p:nvSpPr>
          <p:cNvPr id="5" name="Textfeld 101">
            <a:extLst>
              <a:ext uri="{FF2B5EF4-FFF2-40B4-BE49-F238E27FC236}">
                <a16:creationId xmlns:a16="http://schemas.microsoft.com/office/drawing/2014/main" id="{139891E0-F4D2-0696-2D33-8662A821A5AD}"/>
              </a:ext>
            </a:extLst>
          </p:cNvPr>
          <p:cNvSpPr txBox="1"/>
          <p:nvPr/>
        </p:nvSpPr>
        <p:spPr>
          <a:xfrm>
            <a:off x="1493700" y="1592897"/>
            <a:ext cx="845040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Reminder: Overall cost over 3/5/10 years including Build + Run costs (only implementer’s costs)</a:t>
            </a:r>
          </a:p>
        </p:txBody>
      </p:sp>
      <p:graphicFrame>
        <p:nvGraphicFramePr>
          <p:cNvPr id="6" name="Table 3">
            <a:extLst>
              <a:ext uri="{FF2B5EF4-FFF2-40B4-BE49-F238E27FC236}">
                <a16:creationId xmlns:a16="http://schemas.microsoft.com/office/drawing/2014/main" id="{77526306-0248-0F32-728F-BAF2CF46D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420034"/>
              </p:ext>
            </p:extLst>
          </p:nvPr>
        </p:nvGraphicFramePr>
        <p:xfrm>
          <a:off x="998400" y="4488270"/>
          <a:ext cx="10373018" cy="1447798"/>
        </p:xfrm>
        <a:graphic>
          <a:graphicData uri="http://schemas.openxmlformats.org/drawingml/2006/table">
            <a:tbl>
              <a:tblPr/>
              <a:tblGrid>
                <a:gridCol w="1075534">
                  <a:extLst>
                    <a:ext uri="{9D8B030D-6E8A-4147-A177-3AD203B41FA5}">
                      <a16:colId xmlns:a16="http://schemas.microsoft.com/office/drawing/2014/main" val="3981862260"/>
                    </a:ext>
                  </a:extLst>
                </a:gridCol>
                <a:gridCol w="1257177">
                  <a:extLst>
                    <a:ext uri="{9D8B030D-6E8A-4147-A177-3AD203B41FA5}">
                      <a16:colId xmlns:a16="http://schemas.microsoft.com/office/drawing/2014/main" val="1438036474"/>
                    </a:ext>
                  </a:extLst>
                </a:gridCol>
                <a:gridCol w="730937">
                  <a:extLst>
                    <a:ext uri="{9D8B030D-6E8A-4147-A177-3AD203B41FA5}">
                      <a16:colId xmlns:a16="http://schemas.microsoft.com/office/drawing/2014/main" val="2165190705"/>
                    </a:ext>
                  </a:extLst>
                </a:gridCol>
                <a:gridCol w="730937">
                  <a:extLst>
                    <a:ext uri="{9D8B030D-6E8A-4147-A177-3AD203B41FA5}">
                      <a16:colId xmlns:a16="http://schemas.microsoft.com/office/drawing/2014/main" val="2936667091"/>
                    </a:ext>
                  </a:extLst>
                </a:gridCol>
                <a:gridCol w="730937">
                  <a:extLst>
                    <a:ext uri="{9D8B030D-6E8A-4147-A177-3AD203B41FA5}">
                      <a16:colId xmlns:a16="http://schemas.microsoft.com/office/drawing/2014/main" val="3970102705"/>
                    </a:ext>
                  </a:extLst>
                </a:gridCol>
                <a:gridCol w="730937">
                  <a:extLst>
                    <a:ext uri="{9D8B030D-6E8A-4147-A177-3AD203B41FA5}">
                      <a16:colId xmlns:a16="http://schemas.microsoft.com/office/drawing/2014/main" val="1526956251"/>
                    </a:ext>
                  </a:extLst>
                </a:gridCol>
                <a:gridCol w="730937">
                  <a:extLst>
                    <a:ext uri="{9D8B030D-6E8A-4147-A177-3AD203B41FA5}">
                      <a16:colId xmlns:a16="http://schemas.microsoft.com/office/drawing/2014/main" val="950190585"/>
                    </a:ext>
                  </a:extLst>
                </a:gridCol>
                <a:gridCol w="730937">
                  <a:extLst>
                    <a:ext uri="{9D8B030D-6E8A-4147-A177-3AD203B41FA5}">
                      <a16:colId xmlns:a16="http://schemas.microsoft.com/office/drawing/2014/main" val="1058245016"/>
                    </a:ext>
                  </a:extLst>
                </a:gridCol>
                <a:gridCol w="730937">
                  <a:extLst>
                    <a:ext uri="{9D8B030D-6E8A-4147-A177-3AD203B41FA5}">
                      <a16:colId xmlns:a16="http://schemas.microsoft.com/office/drawing/2014/main" val="3645581603"/>
                    </a:ext>
                  </a:extLst>
                </a:gridCol>
                <a:gridCol w="730937">
                  <a:extLst>
                    <a:ext uri="{9D8B030D-6E8A-4147-A177-3AD203B41FA5}">
                      <a16:colId xmlns:a16="http://schemas.microsoft.com/office/drawing/2014/main" val="584721007"/>
                    </a:ext>
                  </a:extLst>
                </a:gridCol>
                <a:gridCol w="730937">
                  <a:extLst>
                    <a:ext uri="{9D8B030D-6E8A-4147-A177-3AD203B41FA5}">
                      <a16:colId xmlns:a16="http://schemas.microsoft.com/office/drawing/2014/main" val="2632125919"/>
                    </a:ext>
                  </a:extLst>
                </a:gridCol>
                <a:gridCol w="730937">
                  <a:extLst>
                    <a:ext uri="{9D8B030D-6E8A-4147-A177-3AD203B41FA5}">
                      <a16:colId xmlns:a16="http://schemas.microsoft.com/office/drawing/2014/main" val="567748175"/>
                    </a:ext>
                  </a:extLst>
                </a:gridCol>
                <a:gridCol w="730937">
                  <a:extLst>
                    <a:ext uri="{9D8B030D-6E8A-4147-A177-3AD203B41FA5}">
                      <a16:colId xmlns:a16="http://schemas.microsoft.com/office/drawing/2014/main" val="2497299507"/>
                    </a:ext>
                  </a:extLst>
                </a:gridCol>
              </a:tblGrid>
              <a:tr h="222756">
                <a:tc gridSpan="1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Cash-out forecast for Abivax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24ED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886402"/>
                  </a:ext>
                </a:extLst>
              </a:tr>
              <a:tr h="222756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Editor/Implementer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Year 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Year 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Year 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Year 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Year 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Year 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Year 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Year 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Year 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Year 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858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8983662"/>
                  </a:ext>
                </a:extLst>
              </a:tr>
              <a:tr h="222756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900" b="1" i="0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Netsuite - Oracle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 err="1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Build</a:t>
                      </a:r>
                      <a:r>
                        <a:rPr lang="fr-FR" sz="9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 + T&amp;E + </a:t>
                      </a:r>
                      <a:r>
                        <a:rPr lang="fr-FR" sz="900" b="0" i="0" u="none" strike="noStrike" err="1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Contingency</a:t>
                      </a:r>
                      <a:endParaRPr lang="fr-FR" sz="900" b="0" i="0" u="none" strike="noStrike">
                        <a:solidFill>
                          <a:srgbClr val="58585B"/>
                        </a:solidFill>
                        <a:effectLst/>
                        <a:latin typeface="Source Sans Pro" panose="020B0503030403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532 588,00 €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532 588,00 €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66663"/>
                  </a:ext>
                </a:extLst>
              </a:tr>
              <a:tr h="22275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0" i="0" u="none" strike="noStrike" err="1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External</a:t>
                      </a:r>
                      <a:r>
                        <a:rPr lang="fr-FR" sz="9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 support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162 092,00 €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0,00 €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162 092,00 €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6841338"/>
                  </a:ext>
                </a:extLst>
              </a:tr>
              <a:tr h="33401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0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Run (license cost and TMA)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187 008,60 €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187 008,60 €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187 008,60 €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198 229,12 €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210 122,86 €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222 730,23 €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236 094,05 €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250 259,69 €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265 275,27 €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0" i="1" u="none" strike="noStrike">
                          <a:solidFill>
                            <a:srgbClr val="58585B"/>
                          </a:solidFill>
                          <a:effectLst/>
                          <a:latin typeface="Arial" panose="020B0604020202020204" pitchFamily="34" charset="0"/>
                        </a:rPr>
                        <a:t>281 191,79 €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58585B"/>
                          </a:solidFill>
                          <a:effectLst/>
                          <a:latin typeface="Source Sans Pro" panose="020B0503030403020204" pitchFamily="34" charset="0"/>
                        </a:rPr>
                        <a:t>2 224 928,82 €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723874"/>
                  </a:ext>
                </a:extLst>
              </a:tr>
              <a:tr h="222756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TOTAL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881 688,60 €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187 008,60 €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187 008,60 €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198 229,12 €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210 122,86 €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222 730,23 €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236 094,05 €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250 259,69 €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265 275,27 €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fr-FR" sz="80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281 191,79 €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9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2 919 608,82 €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860196"/>
                  </a:ext>
                </a:extLst>
              </a:tr>
            </a:tbl>
          </a:graphicData>
        </a:graphic>
      </p:graphicFrame>
      <p:sp>
        <p:nvSpPr>
          <p:cNvPr id="7" name="Textfeld 101">
            <a:extLst>
              <a:ext uri="{FF2B5EF4-FFF2-40B4-BE49-F238E27FC236}">
                <a16:creationId xmlns:a16="http://schemas.microsoft.com/office/drawing/2014/main" id="{46E68349-8993-48A6-B221-5B30D9B0CE2B}"/>
              </a:ext>
            </a:extLst>
          </p:cNvPr>
          <p:cNvSpPr txBox="1"/>
          <p:nvPr/>
        </p:nvSpPr>
        <p:spPr>
          <a:xfrm>
            <a:off x="998400" y="3606657"/>
            <a:ext cx="7174050" cy="738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Cash forecast reviewed by adding as hypothesis: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050">
                <a:solidFill>
                  <a:srgbClr val="0C233C"/>
                </a:solidFill>
                <a:latin typeface="Arial"/>
              </a:rPr>
              <a:t>1</a:t>
            </a:r>
            <a:r>
              <a:rPr kumimoji="0" lang="en-US" sz="1050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5% contingency on build cost: in order to plan for scope potential evolutions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050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6% inflation rate starting year 4 (contracts secure prices on 3-4 years arrangements </a:t>
            </a:r>
            <a:r>
              <a:rPr kumimoji="0" lang="en-US" sz="1050" i="0" u="none" strike="noStrike" kern="1200" cap="none" spc="0" normalizeH="0" baseline="0" noProof="0" err="1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maximu</a:t>
            </a:r>
            <a:r>
              <a:rPr lang="en-US" sz="1050">
                <a:solidFill>
                  <a:srgbClr val="0C233C"/>
                </a:solidFill>
                <a:latin typeface="Arial"/>
              </a:rPr>
              <a:t>m)</a:t>
            </a:r>
            <a:endParaRPr kumimoji="0" lang="en-US" sz="1050" i="0" u="none" strike="noStrike" kern="1200" cap="none" spc="0" normalizeH="0" baseline="0" noProof="0">
              <a:ln>
                <a:noFill/>
              </a:ln>
              <a:solidFill>
                <a:srgbClr val="0C233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050" i="0" u="none" strike="noStrike" kern="1200" cap="none" spc="0" normalizeH="0" baseline="0" noProof="0">
                <a:ln>
                  <a:noFill/>
                </a:ln>
                <a:solidFill>
                  <a:srgbClr val="0C233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35% external costs (could be less / more, it will depend on ABIVAX capacity to deliver)</a:t>
            </a:r>
          </a:p>
        </p:txBody>
      </p:sp>
    </p:spTree>
    <p:extLst>
      <p:ext uri="{BB962C8B-B14F-4D97-AF65-F5344CB8AC3E}">
        <p14:creationId xmlns:p14="http://schemas.microsoft.com/office/powerpoint/2010/main" val="3836080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D0F981-91C9-D92B-901F-0E11D73EC4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729606"/>
              </p:ext>
            </p:extLst>
          </p:nvPr>
        </p:nvGraphicFramePr>
        <p:xfrm>
          <a:off x="467591" y="1135380"/>
          <a:ext cx="11353355" cy="4757659"/>
        </p:xfrm>
        <a:graphic>
          <a:graphicData uri="http://schemas.openxmlformats.org/drawingml/2006/table">
            <a:tbl>
              <a:tblPr/>
              <a:tblGrid>
                <a:gridCol w="233449">
                  <a:extLst>
                    <a:ext uri="{9D8B030D-6E8A-4147-A177-3AD203B41FA5}">
                      <a16:colId xmlns:a16="http://schemas.microsoft.com/office/drawing/2014/main" val="879043873"/>
                    </a:ext>
                  </a:extLst>
                </a:gridCol>
                <a:gridCol w="252432">
                  <a:extLst>
                    <a:ext uri="{9D8B030D-6E8A-4147-A177-3AD203B41FA5}">
                      <a16:colId xmlns:a16="http://schemas.microsoft.com/office/drawing/2014/main" val="2528686570"/>
                    </a:ext>
                  </a:extLst>
                </a:gridCol>
                <a:gridCol w="44748">
                  <a:extLst>
                    <a:ext uri="{9D8B030D-6E8A-4147-A177-3AD203B41FA5}">
                      <a16:colId xmlns:a16="http://schemas.microsoft.com/office/drawing/2014/main" val="1159405620"/>
                    </a:ext>
                  </a:extLst>
                </a:gridCol>
                <a:gridCol w="1630680">
                  <a:extLst>
                    <a:ext uri="{9D8B030D-6E8A-4147-A177-3AD203B41FA5}">
                      <a16:colId xmlns:a16="http://schemas.microsoft.com/office/drawing/2014/main" val="2249793459"/>
                    </a:ext>
                  </a:extLst>
                </a:gridCol>
                <a:gridCol w="129540">
                  <a:extLst>
                    <a:ext uri="{9D8B030D-6E8A-4147-A177-3AD203B41FA5}">
                      <a16:colId xmlns:a16="http://schemas.microsoft.com/office/drawing/2014/main" val="686487301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3903394007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2971116355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2742484930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1306021399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4292293881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322614939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926752316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3942781911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2100245794"/>
                    </a:ext>
                  </a:extLst>
                </a:gridCol>
                <a:gridCol w="158225">
                  <a:extLst>
                    <a:ext uri="{9D8B030D-6E8A-4147-A177-3AD203B41FA5}">
                      <a16:colId xmlns:a16="http://schemas.microsoft.com/office/drawing/2014/main" val="3772942908"/>
                    </a:ext>
                  </a:extLst>
                </a:gridCol>
                <a:gridCol w="235797">
                  <a:extLst>
                    <a:ext uri="{9D8B030D-6E8A-4147-A177-3AD203B41FA5}">
                      <a16:colId xmlns:a16="http://schemas.microsoft.com/office/drawing/2014/main" val="11442711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2823651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3313125965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2850094524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50402009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1127795313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3920453488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2287717569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2348691948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3892850643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2057532674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3031890278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445658862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2557488920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2371528572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1657484345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3267503790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2317401210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258129494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303108448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4174784264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3929756448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1172091528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3270596619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755801706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674312394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3591439659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325066810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3050565981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2620701163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2075511561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4290337063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179186351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2192191971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1025110084"/>
                    </a:ext>
                  </a:extLst>
                </a:gridCol>
                <a:gridCol w="197011">
                  <a:extLst>
                    <a:ext uri="{9D8B030D-6E8A-4147-A177-3AD203B41FA5}">
                      <a16:colId xmlns:a16="http://schemas.microsoft.com/office/drawing/2014/main" val="766156114"/>
                    </a:ext>
                  </a:extLst>
                </a:gridCol>
              </a:tblGrid>
              <a:tr h="3126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Oracle </a:t>
                      </a:r>
                      <a:r>
                        <a:rPr lang="fr-FR" sz="600" b="1" i="0" u="none" strike="noStrike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NetSuite</a:t>
                      </a: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gridSpan="20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DRAFT -  Project Implementation - Timeline</a:t>
                      </a: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fr-FR" sz="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54707"/>
                  </a:ext>
                </a:extLst>
              </a:tr>
              <a:tr h="34456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600" b="1" i="0" u="none" strike="noStrike">
                          <a:solidFill>
                            <a:srgbClr val="FFFFFF"/>
                          </a:solidFill>
                          <a:effectLst/>
                          <a:latin typeface="Oracle Sans"/>
                        </a:rPr>
                        <a:t>Project phasing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FFFFFF"/>
                          </a:solidFill>
                          <a:effectLst/>
                          <a:latin typeface="Oracle Sans"/>
                        </a:rPr>
                        <a:t>Project phasing</a:t>
                      </a: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FFFFFF"/>
                          </a:solidFill>
                          <a:effectLst/>
                          <a:latin typeface="Oracle Sans"/>
                        </a:rPr>
                        <a:t>MILESTONE/ACTIVITIES</a:t>
                      </a: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WEEKS</a:t>
                      </a:r>
                    </a:p>
                  </a:txBody>
                  <a:tcPr marL="5295" marR="5295" marT="5295" marB="25417" vert="vert2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15-Mar</a:t>
                      </a:r>
                      <a:endParaRPr lang="fr-FR" sz="6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22-Mar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29-Mar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5-Apr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12-Apr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19-Apr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26-Apr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3-May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10-May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17-May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24-May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31-May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7-Jun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14-Jun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21-Jun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28-Jun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5-Jul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12-Jul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19-Jul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26-Jul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2-Aug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9-Aug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16-Aug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23-Aug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30-Aug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6-Sep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13-Sep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20-Sep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27-Sep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4-Oct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11-Oct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18-Oct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25-Oct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1-Nov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8-Nov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15-Nov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22-Nov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29-Nov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6-Dec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13-Dec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20-Dec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27-Dec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3-Jan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10-Jan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17-Jan</a:t>
                      </a:r>
                    </a:p>
                  </a:txBody>
                  <a:tcPr marL="5295" marR="5295" marT="5295" marB="25417" vert="vert27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262543"/>
                  </a:ext>
                </a:extLst>
              </a:tr>
              <a:tr h="1829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896593"/>
                  </a:ext>
                </a:extLst>
              </a:tr>
              <a:tr h="1829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Initiate</a:t>
                      </a: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Initiate</a:t>
                      </a: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Organisation &amp; Getting Started Sessions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Prep</a:t>
                      </a: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Prep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Prep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871962"/>
                  </a:ext>
                </a:extLst>
              </a:tr>
              <a:tr h="1829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Personnalization sessions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PRS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PRS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PRS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PRS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BRD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BRD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BRD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BRD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BRD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052199"/>
                  </a:ext>
                </a:extLst>
              </a:tr>
              <a:tr h="1829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6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Execute</a:t>
                      </a: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Execute</a:t>
                      </a: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Configuration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024133"/>
                  </a:ext>
                </a:extLst>
              </a:tr>
              <a:tr h="1829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Walkthrough 1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WT1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WT1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877288"/>
                  </a:ext>
                </a:extLst>
              </a:tr>
              <a:tr h="1829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Config Adjustment / Issues adjustment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CFG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453403"/>
                  </a:ext>
                </a:extLst>
              </a:tr>
              <a:tr h="1829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Walkthrough 2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WT2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WT2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787315"/>
                  </a:ext>
                </a:extLst>
              </a:tr>
              <a:tr h="1829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Data Migration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DMI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SDI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TDI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FDI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424604"/>
                  </a:ext>
                </a:extLst>
              </a:tr>
              <a:tr h="1829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</a:t>
                      </a: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Integrations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5510534"/>
                  </a:ext>
                </a:extLst>
              </a:tr>
              <a:tr h="1829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2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Validate</a:t>
                      </a: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Validate</a:t>
                      </a: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UAT End to End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UAT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UAT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UAT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UAT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855085"/>
                  </a:ext>
                </a:extLst>
              </a:tr>
              <a:tr h="1829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Training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443652"/>
                  </a:ext>
                </a:extLst>
              </a:tr>
              <a:tr h="1829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Deploy</a:t>
                      </a: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Deploy</a:t>
                      </a: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Go-Live -  Cutover 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GL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572290"/>
                  </a:ext>
                </a:extLst>
              </a:tr>
              <a:tr h="1829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Improve</a:t>
                      </a: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Improve</a:t>
                      </a: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6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Post Go-Live Support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PGL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PGL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PGL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PGL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PGL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600" b="0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PGL</a:t>
                      </a:r>
                    </a:p>
                  </a:txBody>
                  <a:tcPr marL="5295" marR="5295" marT="5295" marB="25417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918931"/>
                  </a:ext>
                </a:extLst>
              </a:tr>
              <a:tr h="18292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6440374"/>
                  </a:ext>
                </a:extLst>
              </a:tr>
              <a:tr h="180334">
                <a:tc rowSpan="7"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rowSpan="7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7"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Sponsor (</a:t>
                      </a:r>
                      <a:r>
                        <a:rPr lang="fr-FR" sz="800" b="1" i="0" u="none" strike="noStrike" err="1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hours</a:t>
                      </a: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 / </a:t>
                      </a:r>
                      <a:r>
                        <a:rPr lang="fr-FR" sz="800" b="1" i="0" u="none" strike="noStrike" err="1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week</a:t>
                      </a: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)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043658"/>
                  </a:ext>
                </a:extLst>
              </a:tr>
              <a:tr h="180334"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Project manager (hours / week)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395690"/>
                  </a:ext>
                </a:extLst>
              </a:tr>
              <a:tr h="180334"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Administrator  (hours / week)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810626"/>
                  </a:ext>
                </a:extLst>
              </a:tr>
              <a:tr h="196284"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BPO  (hours / week)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4-8+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319733"/>
                  </a:ext>
                </a:extLst>
              </a:tr>
              <a:tr h="180334"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Key Users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165369"/>
                  </a:ext>
                </a:extLst>
              </a:tr>
              <a:tr h="180334"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Data migration owner (hours / week)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0-5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660814"/>
                  </a:ext>
                </a:extLst>
              </a:tr>
              <a:tr h="180334">
                <a:tc gridSpan="3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IT team (</a:t>
                      </a:r>
                      <a:r>
                        <a:rPr lang="fr-FR" sz="800" b="1" i="0" u="none" strike="noStrike" err="1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hours</a:t>
                      </a: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 / </a:t>
                      </a:r>
                      <a:r>
                        <a:rPr lang="fr-FR" sz="800" b="1" i="0" u="none" strike="noStrike" err="1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week</a:t>
                      </a:r>
                      <a:r>
                        <a:rPr lang="fr-FR" sz="800" b="1" i="0" u="none" strike="noStrike">
                          <a:solidFill>
                            <a:srgbClr val="000000"/>
                          </a:solidFill>
                          <a:effectLst/>
                          <a:latin typeface="Oracle Sans"/>
                        </a:rPr>
                        <a:t>)</a:t>
                      </a:r>
                    </a:p>
                  </a:txBody>
                  <a:tcPr marL="5295" marR="5295" marT="5295" marB="25417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4-8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fr-FR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0-4</a:t>
                      </a:r>
                    </a:p>
                  </a:txBody>
                  <a:tcPr marL="5295" marR="5295" marT="5295" marB="25417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231499"/>
                  </a:ext>
                </a:extLst>
              </a:tr>
              <a:tr h="182923"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fr-FR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295" marR="5295" marT="5295" marB="25417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206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080900"/>
                  </a:ext>
                </a:extLst>
              </a:tr>
            </a:tbl>
          </a:graphicData>
        </a:graphic>
      </p:graphicFrame>
      <p:sp>
        <p:nvSpPr>
          <p:cNvPr id="7" name="Rectangle : coins arrondis 9">
            <a:extLst>
              <a:ext uri="{FF2B5EF4-FFF2-40B4-BE49-F238E27FC236}">
                <a16:creationId xmlns:a16="http://schemas.microsoft.com/office/drawing/2014/main" id="{3F2F378E-7710-AA53-9120-D5944A4D5C9E}"/>
              </a:ext>
            </a:extLst>
          </p:cNvPr>
          <p:cNvSpPr/>
          <p:nvPr/>
        </p:nvSpPr>
        <p:spPr>
          <a:xfrm>
            <a:off x="1049199" y="6184776"/>
            <a:ext cx="10312364" cy="457324"/>
          </a:xfrm>
          <a:prstGeom prst="roundRect">
            <a:avLst>
              <a:gd name="adj" fmla="val 2936"/>
            </a:avLst>
          </a:prstGeom>
          <a:solidFill>
            <a:srgbClr val="FFFFFF">
              <a:alpha val="90000"/>
            </a:srgbClr>
          </a:solidFill>
          <a:ln w="6350" cap="flat" cmpd="sng" algn="ctr">
            <a:noFill/>
            <a:prstDash val="solid"/>
            <a:miter lim="800000"/>
          </a:ln>
          <a:effectLst>
            <a:outerShdw blurRad="88900" sx="101000" sy="101000" algn="tl" rotWithShape="0">
              <a:prstClr val="black">
                <a:alpha val="10000"/>
              </a:prstClr>
            </a:outerShdw>
          </a:effectLst>
        </p:spPr>
        <p:txBody>
          <a:bodyPr lIns="54611" tIns="54611" rIns="54611" bIns="54611" rtlCol="0" anchor="t"/>
          <a:lstStyle/>
          <a:p>
            <a:pPr defTabSz="914377">
              <a:buClr>
                <a:srgbClr val="0F1E59"/>
              </a:buClr>
            </a:pPr>
            <a:endParaRPr lang="en-US" sz="1000" kern="0" noProof="0">
              <a:solidFill>
                <a:srgbClr val="0F1E59"/>
              </a:solidFill>
              <a:latin typeface="Arial" panose="020B0604020202020204"/>
              <a:sym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98CBD7-C428-4C36-C959-62385A5B365C}"/>
              </a:ext>
            </a:extLst>
          </p:cNvPr>
          <p:cNvSpPr/>
          <p:nvPr/>
        </p:nvSpPr>
        <p:spPr>
          <a:xfrm>
            <a:off x="1134203" y="6202536"/>
            <a:ext cx="10059398" cy="4395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000" b="1">
                <a:solidFill>
                  <a:srgbClr val="0C233C"/>
                </a:solidFill>
              </a:rPr>
              <a:t>Additional workload cost: The extra workload required from the Finance and IT teams needs to be quantified and costed in order to assess the project’s total cost. </a:t>
            </a:r>
            <a:r>
              <a:rPr lang="en-US" sz="1000" b="1" err="1">
                <a:solidFill>
                  <a:srgbClr val="0C233C"/>
                </a:solidFill>
              </a:rPr>
              <a:t>Netsuite</a:t>
            </a:r>
            <a:r>
              <a:rPr lang="en-US" sz="1000" b="1">
                <a:solidFill>
                  <a:srgbClr val="0C233C"/>
                </a:solidFill>
              </a:rPr>
              <a:t> has provided here a first vision of </a:t>
            </a:r>
            <a:r>
              <a:rPr lang="en-US" sz="1000" b="1" err="1">
                <a:solidFill>
                  <a:srgbClr val="0C233C"/>
                </a:solidFill>
              </a:rPr>
              <a:t>Abivax</a:t>
            </a:r>
            <a:r>
              <a:rPr lang="en-US" sz="1000" b="1">
                <a:solidFill>
                  <a:srgbClr val="0C233C"/>
                </a:solidFill>
              </a:rPr>
              <a:t> workload. Hypothesis could change if we get external support for example. </a:t>
            </a:r>
            <a:endParaRPr lang="en-US" sz="1000">
              <a:solidFill>
                <a:srgbClr val="0C233C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91D6C22-2CEA-9CDA-3155-100F59EA995F}"/>
              </a:ext>
            </a:extLst>
          </p:cNvPr>
          <p:cNvSpPr txBox="1">
            <a:spLocks/>
          </p:cNvSpPr>
          <p:nvPr/>
        </p:nvSpPr>
        <p:spPr>
          <a:xfrm>
            <a:off x="560980" y="5881982"/>
            <a:ext cx="1545057" cy="359562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i="0" kern="1200">
                <a:solidFill>
                  <a:schemeClr val="tx1"/>
                </a:solidFill>
                <a:latin typeface="ABChanel Corpo Regular" panose="020B0505030101020001" pitchFamily="34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100" b="1" i="1" u="none" strike="noStrike" kern="1200" cap="none" spc="0" normalizeH="0" baseline="0" noProof="0">
                <a:ln>
                  <a:noFill/>
                </a:ln>
                <a:solidFill>
                  <a:srgbClr val="5E5E5E"/>
                </a:solidFill>
                <a:effectLst/>
                <a:uLnTx/>
                <a:uFillTx/>
                <a:latin typeface="ABChanel Corpo Regular" panose="020B0505030101020001" pitchFamily="34" charset="0"/>
                <a:ea typeface="+mj-ea"/>
                <a:cs typeface="+mj-cs"/>
                <a:sym typeface="Arial"/>
              </a:rPr>
              <a:t>Comments</a:t>
            </a:r>
            <a:endParaRPr kumimoji="0" lang="en-US" sz="1050" b="1" i="1" u="none" strike="noStrike" kern="1200" cap="none" spc="0" normalizeH="0" baseline="0" noProof="0">
              <a:ln>
                <a:noFill/>
              </a:ln>
              <a:solidFill>
                <a:srgbClr val="5E5E5E"/>
              </a:solidFill>
              <a:effectLst/>
              <a:uLnTx/>
              <a:uFillTx/>
              <a:latin typeface="ABChanel Corpo Regular" panose="020B0505030101020001" pitchFamily="34" charset="0"/>
              <a:ea typeface="+mj-ea"/>
              <a:cs typeface="+mj-cs"/>
              <a:sym typeface="Arial"/>
            </a:endParaRPr>
          </a:p>
        </p:txBody>
      </p:sp>
      <p:cxnSp>
        <p:nvCxnSpPr>
          <p:cNvPr id="10" name="Gerader Verbinder 54">
            <a:extLst>
              <a:ext uri="{FF2B5EF4-FFF2-40B4-BE49-F238E27FC236}">
                <a16:creationId xmlns:a16="http://schemas.microsoft.com/office/drawing/2014/main" id="{EC0A3180-9C5E-8F01-3B3E-D2196C75C6FE}"/>
              </a:ext>
            </a:extLst>
          </p:cNvPr>
          <p:cNvCxnSpPr>
            <a:cxnSpLocks/>
          </p:cNvCxnSpPr>
          <p:nvPr/>
        </p:nvCxnSpPr>
        <p:spPr>
          <a:xfrm>
            <a:off x="990779" y="6131309"/>
            <a:ext cx="103123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re 1">
            <a:extLst>
              <a:ext uri="{FF2B5EF4-FFF2-40B4-BE49-F238E27FC236}">
                <a16:creationId xmlns:a16="http://schemas.microsoft.com/office/drawing/2014/main" id="{AD019C4B-9851-9A5B-CCFE-7DE94B5A82A2}"/>
              </a:ext>
            </a:extLst>
          </p:cNvPr>
          <p:cNvSpPr txBox="1">
            <a:spLocks/>
          </p:cNvSpPr>
          <p:nvPr/>
        </p:nvSpPr>
        <p:spPr>
          <a:xfrm>
            <a:off x="998400" y="431800"/>
            <a:ext cx="10195200" cy="533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4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/>
              <a:t>Detailed internal workload needed</a:t>
            </a:r>
          </a:p>
        </p:txBody>
      </p:sp>
    </p:spTree>
    <p:extLst>
      <p:ext uri="{BB962C8B-B14F-4D97-AF65-F5344CB8AC3E}">
        <p14:creationId xmlns:p14="http://schemas.microsoft.com/office/powerpoint/2010/main" val="3401416149"/>
      </p:ext>
    </p:extLst>
  </p:cSld>
  <p:clrMapOvr>
    <a:masterClrMapping/>
  </p:clrMapOvr>
</p:sld>
</file>

<file path=ppt/theme/theme1.xml><?xml version="1.0" encoding="utf-8"?>
<a:theme xmlns:a="http://schemas.openxmlformats.org/drawingml/2006/main" name="KPMG Widescreen [16:9] Feb 2022">
  <a:themeElements>
    <a:clrScheme name="Personnalisé 2">
      <a:dk1>
        <a:srgbClr val="0C233C"/>
      </a:dk1>
      <a:lt1>
        <a:srgbClr val="FFFFFF"/>
      </a:lt1>
      <a:dk2>
        <a:srgbClr val="00338D"/>
      </a:dk2>
      <a:lt2>
        <a:srgbClr val="E5E5E5"/>
      </a:lt2>
      <a:accent1>
        <a:srgbClr val="0C233C"/>
      </a:accent1>
      <a:accent2>
        <a:srgbClr val="0C233C"/>
      </a:accent2>
      <a:accent3>
        <a:srgbClr val="0C233C"/>
      </a:accent3>
      <a:accent4>
        <a:srgbClr val="0C233C"/>
      </a:accent4>
      <a:accent5>
        <a:srgbClr val="0C233C"/>
      </a:accent5>
      <a:accent6>
        <a:srgbClr val="0C233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FR-KPMG Widescreen Standard Template" id="{1B51785E-8CB2-4C49-BF82-F8B893A8BF8A}" vid="{BB1EADD7-D62E-43AE-ACDD-F64DD4BB6E35}"/>
    </a:ext>
  </a:extLst>
</a:theme>
</file>

<file path=ppt/theme/theme2.xml><?xml version="1.0" encoding="utf-8"?>
<a:theme xmlns:a="http://schemas.openxmlformats.org/drawingml/2006/main" name="1_KPMG Widescreen [16:9] Feb 2022">
  <a:themeElements>
    <a:clrScheme name="Personnalisé 2">
      <a:dk1>
        <a:srgbClr val="0C233C"/>
      </a:dk1>
      <a:lt1>
        <a:srgbClr val="FFFFFF"/>
      </a:lt1>
      <a:dk2>
        <a:srgbClr val="00338D"/>
      </a:dk2>
      <a:lt2>
        <a:srgbClr val="E5E5E5"/>
      </a:lt2>
      <a:accent1>
        <a:srgbClr val="0C233C"/>
      </a:accent1>
      <a:accent2>
        <a:srgbClr val="0C233C"/>
      </a:accent2>
      <a:accent3>
        <a:srgbClr val="0C233C"/>
      </a:accent3>
      <a:accent4>
        <a:srgbClr val="0C233C"/>
      </a:accent4>
      <a:accent5>
        <a:srgbClr val="0C233C"/>
      </a:accent5>
      <a:accent6>
        <a:srgbClr val="0C233C"/>
      </a:accent6>
      <a:hlink>
        <a:srgbClr val="00B8F5"/>
      </a:hlink>
      <a:folHlink>
        <a:srgbClr val="098E7E"/>
      </a:folHlink>
    </a:clrScheme>
    <a:fontScheme name="Custom 49">
      <a:majorFont>
        <a:latin typeface="KPMG Bold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54610" tIns="54610" rIns="54610" bIns="54610" rtlCol="0" anchor="ctr"/>
      <a:lstStyle>
        <a:defPPr algn="l">
          <a:defRPr sz="15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3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 anchor="t" anchorCtr="0">
        <a:noAutofit/>
      </a:bodyPr>
      <a:lstStyle>
        <a:defPPr algn="l">
          <a:spcAft>
            <a:spcPts val="600"/>
          </a:spcAft>
          <a:defRPr sz="1500" b="1" dirty="0" smtClean="0">
            <a:solidFill>
              <a:schemeClr val="tx2"/>
            </a:solidFill>
          </a:defRPr>
        </a:defPPr>
      </a:lstStyle>
    </a:txDef>
  </a:objectDefaults>
  <a:extraClrSchemeLst/>
  <a:custClrLst>
    <a:custClr name="KPMG Blue">
      <a:srgbClr val="00338D"/>
    </a:custClr>
    <a:custClr name="Medium Blue">
      <a:srgbClr val="005EB8"/>
    </a:custClr>
    <a:custClr name="Light Blue">
      <a:srgbClr val="0091DA"/>
    </a:custClr>
    <a:custClr name="Violet">
      <a:srgbClr val="483698"/>
    </a:custClr>
    <a:custClr name="Purple">
      <a:srgbClr val="470A68"/>
    </a:custClr>
    <a:custClr name="Light Purple">
      <a:srgbClr val="6D2077"/>
    </a:custClr>
    <a:custClr name="Green">
      <a:srgbClr val="00A3A1"/>
    </a:custClr>
    <a:custClr name="Dark Green">
      <a:srgbClr val="009A44"/>
    </a:custClr>
    <a:custClr name="Light Green">
      <a:srgbClr val="43B02A"/>
    </a:custClr>
    <a:custClr name="Yellow">
      <a:srgbClr val="EAAA00"/>
    </a:custClr>
    <a:custClr name="Orange">
      <a:srgbClr val="F68D2E"/>
    </a:custClr>
    <a:custClr name="Red ">
      <a:srgbClr val="BC204B"/>
    </a:custClr>
    <a:custClr name="Pink">
      <a:srgbClr val="C6007E"/>
    </a:custClr>
    <a:custClr name="Dark Brown">
      <a:srgbClr val="753F19"/>
    </a:custClr>
    <a:custClr name="Light Brown">
      <a:srgbClr val="9B642E"/>
    </a:custClr>
    <a:custClr name="Olive">
      <a:srgbClr val="9D9375"/>
    </a:custClr>
    <a:custClr name="Beige">
      <a:srgbClr val="E3BC9F"/>
    </a:custClr>
    <a:custClr name="Light Pink">
      <a:srgbClr val="E36877"/>
    </a:custClr>
  </a:custClrLst>
  <a:extLst>
    <a:ext uri="{05A4C25C-085E-4340-85A3-A5531E510DB2}">
      <thm15:themeFamily xmlns:thm15="http://schemas.microsoft.com/office/thememl/2012/main" name="FR-KPMG Widescreen Standard Template" id="{1B51785E-8CB2-4C49-BF82-F8B893A8BF8A}" vid="{BB1EADD7-D62E-43AE-ACDD-F64DD4BB6E3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253e506-aea2-40df-8810-09f86a3d725d" xsi:nil="true"/>
    <lcf76f155ced4ddcb4097134ff3c332f xmlns="38f7e399-e057-480d-bf58-a131d3470fe8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AE463A34C58B48BE33A14B0FA1E653" ma:contentTypeVersion="11" ma:contentTypeDescription="Crée un document." ma:contentTypeScope="" ma:versionID="8494c1e9035391534e19b6d5083709ab">
  <xsd:schema xmlns:xsd="http://www.w3.org/2001/XMLSchema" xmlns:xs="http://www.w3.org/2001/XMLSchema" xmlns:p="http://schemas.microsoft.com/office/2006/metadata/properties" xmlns:ns2="38f7e399-e057-480d-bf58-a131d3470fe8" xmlns:ns3="f253e506-aea2-40df-8810-09f86a3d725d" targetNamespace="http://schemas.microsoft.com/office/2006/metadata/properties" ma:root="true" ma:fieldsID="354bcdd9164bf82153cf363b583cd455" ns2:_="" ns3:_="">
    <xsd:import namespace="38f7e399-e057-480d-bf58-a131d3470fe8"/>
    <xsd:import namespace="f253e506-aea2-40df-8810-09f86a3d72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f7e399-e057-480d-bf58-a131d3470f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d4e72897-25bb-4cd1-b9ab-f1a8d4e29f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253e506-aea2-40df-8810-09f86a3d725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2955704-7c2c-4e3f-9de3-52e40fe2617c}" ma:internalName="TaxCatchAll" ma:showField="CatchAllData" ma:web="f253e506-aea2-40df-8810-09f86a3d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9FD0EB-53AC-44B4-8B91-4892A6B4593F}">
  <ds:schemaRefs>
    <ds:schemaRef ds:uri="3f2eb478-941e-4976-97fc-4cb7dd3a950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f253e506-aea2-40df-8810-09f86a3d725d"/>
    <ds:schemaRef ds:uri="38f7e399-e057-480d-bf58-a131d3470fe8"/>
  </ds:schemaRefs>
</ds:datastoreItem>
</file>

<file path=customXml/itemProps2.xml><?xml version="1.0" encoding="utf-8"?>
<ds:datastoreItem xmlns:ds="http://schemas.openxmlformats.org/officeDocument/2006/customXml" ds:itemID="{CF525BD2-6FA6-4850-B927-022F90A81B5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8f7e399-e057-480d-bf58-a131d3470fe8"/>
    <ds:schemaRef ds:uri="f253e506-aea2-40df-8810-09f86a3d72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3B9BEE-E361-42CA-8671-67739579B8F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5653b52-df9b-47d2-8549-8de78ac04e21}" enabled="1" method="Standard" siteId="{deff24bb-2089-4400-8c8e-f71e680378b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2095</Words>
  <Application>Microsoft Office PowerPoint</Application>
  <PresentationFormat>Widescreen</PresentationFormat>
  <Paragraphs>832</Paragraphs>
  <Slides>14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KPMG Widescreen [16:9] Feb 2022</vt:lpstr>
      <vt:lpstr>1_KPMG Widescreen [16:9] Feb 2022</vt:lpstr>
      <vt:lpstr>Audit Committee   ERP project   Thursday 26th February 2026 </vt:lpstr>
      <vt:lpstr>PowerPoint Presentation</vt:lpstr>
      <vt:lpstr>High level summary </vt:lpstr>
      <vt:lpstr>PowerPoint Presentation</vt:lpstr>
      <vt:lpstr>PowerPoint Presentation</vt:lpstr>
      <vt:lpstr>Timeline</vt:lpstr>
      <vt:lpstr>PowerPoint Presentation</vt:lpstr>
      <vt:lpstr>PowerPoint Presentation</vt:lpstr>
      <vt:lpstr>Financial overview</vt:lpstr>
      <vt:lpstr>PowerPoint Presentation</vt:lpstr>
      <vt:lpstr>Zoom on Financial - Detailed costs for Build</vt:lpstr>
      <vt:lpstr>Zoom on Financial - Detailed costs for Run </vt:lpstr>
      <vt:lpstr>Overall costs and first thoughts about TCO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Alaya, Aymen</dc:creator>
  <cp:lastModifiedBy>Ben Alaya, Aymen</cp:lastModifiedBy>
  <cp:revision>4</cp:revision>
  <dcterms:created xsi:type="dcterms:W3CDTF">2026-02-19T14:08:06Z</dcterms:created>
  <dcterms:modified xsi:type="dcterms:W3CDTF">2026-03-02T17:34:44Z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0x01010053AE463A34C58B48BE33A14B0FA1E653</vt:lpwstr>
  </property>
</Properties>
</file>