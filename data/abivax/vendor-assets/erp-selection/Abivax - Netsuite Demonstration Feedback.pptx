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9" r:id="rId5"/>
  </p:sldMasterIdLst>
  <p:notesMasterIdLst>
    <p:notesMasterId r:id="rId11"/>
  </p:notesMasterIdLst>
  <p:sldIdLst>
    <p:sldId id="481" r:id="rId6"/>
    <p:sldId id="2147483621" r:id="rId7"/>
    <p:sldId id="2147483623" r:id="rId8"/>
    <p:sldId id="2147483622" r:id="rId9"/>
    <p:sldId id="214748358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AC5660-1D00-7FF8-62DF-14F2E9DF1971}" name="Ben Alaya, Aymen" initials="AB" userId="S::abenalaya@kpmg.fr::fc14b768-23a0-4ffe-8b01-06be8443bb6f" providerId="AD"/>
  <p188:author id="{79BEB662-3BEF-2FF7-D5D3-676661A3CDD0}" name="Girard, Camille" initials="CG" userId="S::camillegirard@kpmg.fr::63925eb6-c654-4533-8598-4b02ef07fa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5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05A59-FF61-4B33-ACA2-DC6279EACB7A}" v="980" dt="2026-02-17T17:28:18.788"/>
    <p1510:client id="{E9EA13E6-82B4-4CA8-A0FC-237293124920}" v="313" dt="2026-02-17T15:08:04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64" autoAdjust="0"/>
  </p:normalViewPr>
  <p:slideViewPr>
    <p:cSldViewPr snapToGrid="0">
      <p:cViewPr>
        <p:scale>
          <a:sx n="150" d="100"/>
          <a:sy n="150" d="100"/>
        </p:scale>
        <p:origin x="-1122" y="-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64F74-E396-4E61-AE19-70E570B9F8F3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8EB2F-38E2-4736-AB0F-889D9F68A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92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F5F9A4-423F-4847-9D99-4A8B8B8C90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31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7FCC-DAC2-F534-6EF5-3A1374EB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35E8A2-1A38-EA22-999B-07A189E95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4DE6799-F559-CC13-77DE-EFAF940F3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A4F727-A5AE-EF5E-3CA5-890F12FFB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8B39C7-716E-4862-996B-767A9D240FC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92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/>
          </p:cNvSpPr>
          <p:nvPr userDrawn="1"/>
        </p:nvSpPr>
        <p:spPr>
          <a:xfrm>
            <a:off x="998476" y="1485244"/>
            <a:ext cx="6277559" cy="436062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74841" y="1764699"/>
            <a:ext cx="5719338" cy="2880000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KPMG Blue | </a:t>
            </a:r>
            <a:br>
              <a:rPr lang="en-GB"/>
            </a:br>
            <a:r>
              <a:rPr lang="en-GB"/>
              <a:t>Title slide text only</a:t>
            </a:r>
            <a:endParaRPr lang="en-US"/>
          </a:p>
        </p:txBody>
      </p:sp>
      <p:sp>
        <p:nvSpPr>
          <p:cNvPr id="7" name="Freeform 19">
            <a:extLst>
              <a:ext uri="{FF2B5EF4-FFF2-40B4-BE49-F238E27FC236}">
                <a16:creationId xmlns:a16="http://schemas.microsoft.com/office/drawing/2014/main" id="{A5A5FA9B-A901-4A1F-9358-436BDE66E0B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37131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274841" y="4752153"/>
            <a:ext cx="571933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1106891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68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6" name="Freeform 19">
            <a:extLst>
              <a:ext uri="{FF2B5EF4-FFF2-40B4-BE49-F238E27FC236}">
                <a16:creationId xmlns:a16="http://schemas.microsoft.com/office/drawing/2014/main" id="{989CBA86-3836-4832-B1AE-9FEA1A8FB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© 2024 KPMG ADVISORY, société par actions simplifiée, membre français de l’organisation mondiale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KPMG constituée de cabinets indépendants affiliés à KPMG International Limited, une société de droit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anglais (« private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company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limited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guarantee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»). Tous droits réservés. Le nom et le logo KPMG sont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des marques utilisées sous licence par les cabinets indépendants membres de l’organisation mondiale KPMG.</a:t>
            </a:r>
            <a:endParaRPr lang="en-US" sz="400" kern="1200" noProof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10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10195200" cy="4546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40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9">
            <a:extLst>
              <a:ext uri="{FF2B5EF4-FFF2-40B4-BE49-F238E27FC236}">
                <a16:creationId xmlns:a16="http://schemas.microsoft.com/office/drawing/2014/main" id="{C5124DCF-42F4-4BBE-BCAC-C24058AAE43A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37131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E9CC-2A2B-4C75-8522-60824F3AC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702050"/>
            <a:ext cx="6660000" cy="1843088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E01CBC1-FC71-43BD-845D-21EEEFA256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2" y="3351965"/>
            <a:ext cx="2411738" cy="119064"/>
          </a:xfrm>
        </p:spPr>
        <p:txBody>
          <a:bodyPr/>
          <a:lstStyle>
            <a:lvl1pPr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2170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1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99EBB9-9F37-4E4F-A46E-A453E970D66A}"/>
              </a:ext>
            </a:extLst>
          </p:cNvPr>
          <p:cNvSpPr/>
          <p:nvPr userDrawn="1"/>
        </p:nvSpPr>
        <p:spPr>
          <a:xfrm>
            <a:off x="1004888" y="762000"/>
            <a:ext cx="7524000" cy="53492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lvl="0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40BCF3-D817-4EAC-8866-C2530BBB02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38925" y="2325831"/>
            <a:ext cx="6263956" cy="2300407"/>
          </a:xfrm>
        </p:spPr>
        <p:txBody>
          <a:bodyPr anchor="t" anchorCtr="0"/>
          <a:lstStyle>
            <a:lvl1pPr algn="l">
              <a:defRPr sz="88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copy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3CE8DB4-A186-4059-9C81-D90597F800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38925" y="5233260"/>
            <a:ext cx="6263956" cy="216000"/>
          </a:xfrm>
        </p:spPr>
        <p:txBody>
          <a:bodyPr/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0CEBDA0-4368-4F6C-8352-18BF87F8F0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8924" y="1339850"/>
            <a:ext cx="876300" cy="690562"/>
          </a:xfrm>
        </p:spPr>
        <p:txBody>
          <a:bodyPr/>
          <a:lstStyle>
            <a:lvl1pPr>
              <a:lnSpc>
                <a:spcPct val="7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5EB5FA9-D117-4324-A3D4-5F62C3F1B10A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57ED9708-511F-4342-AFA6-8AD96CBF05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54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71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ublication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20D102-B539-8324-A9E2-0E2F6DCD9873}"/>
              </a:ext>
            </a:extLst>
          </p:cNvPr>
          <p:cNvSpPr/>
          <p:nvPr userDrawn="1"/>
        </p:nvSpPr>
        <p:spPr>
          <a:xfrm>
            <a:off x="409358" y="2917596"/>
            <a:ext cx="5565288" cy="326803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541" tIns="49541" rIns="49541" bIns="49541" rtlCol="0" anchor="ctr"/>
          <a:lstStyle/>
          <a:p>
            <a:pPr algn="l"/>
            <a:endParaRPr lang="fr-FR" sz="1361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D87B02-7CF7-4117-9A1B-AF20C9A914E9}"/>
              </a:ext>
            </a:extLst>
          </p:cNvPr>
          <p:cNvSpPr/>
          <p:nvPr userDrawn="1"/>
        </p:nvSpPr>
        <p:spPr>
          <a:xfrm>
            <a:off x="6171114" y="418249"/>
            <a:ext cx="5611529" cy="643975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471" tIns="53471" rIns="53471" bIns="53471" anchor="ctr"/>
          <a:lstStyle/>
          <a:p>
            <a:pPr defTabSz="90309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69" err="1">
              <a:solidFill>
                <a:schemeClr val="bg1"/>
              </a:solidFill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4905E83-B56F-7046-AAF1-CCFA8D767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673" y="936702"/>
            <a:ext cx="5275024" cy="88825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</a:t>
            </a:r>
            <a:br>
              <a:rPr lang="fr-FR"/>
            </a:br>
            <a:r>
              <a:rPr lang="fr-FR"/>
              <a:t>le style du titre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62D797E-E8E7-A6C3-4A5D-CE4BB0B4CF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3673" y="1898583"/>
            <a:ext cx="5275024" cy="1491725"/>
          </a:xfrm>
          <a:prstGeom prst="rect">
            <a:avLst/>
          </a:prstGeom>
          <a:ln w="3175">
            <a:noFill/>
            <a:prstDash val="lgDash"/>
          </a:ln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907">
                <a:solidFill>
                  <a:schemeClr val="tx2"/>
                </a:solidFill>
              </a:defRPr>
            </a:lvl1pPr>
            <a:lvl2pPr>
              <a:spcBef>
                <a:spcPts val="544"/>
              </a:spcBef>
              <a:spcAft>
                <a:spcPts val="0"/>
              </a:spcAft>
              <a:defRPr sz="816">
                <a:solidFill>
                  <a:schemeClr val="tx1"/>
                </a:solidFill>
              </a:defRPr>
            </a:lvl2pPr>
            <a:lvl3pPr marL="241950" indent="-112334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726">
                <a:solidFill>
                  <a:schemeClr val="tx1"/>
                </a:solidFill>
              </a:defRPr>
            </a:lvl3pPr>
            <a:lvl4pPr>
              <a:buClr>
                <a:schemeClr val="bg1"/>
              </a:buClr>
              <a:defRPr sz="1077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77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niveau2</a:t>
            </a:r>
          </a:p>
        </p:txBody>
      </p:sp>
      <p:sp>
        <p:nvSpPr>
          <p:cNvPr id="3" name="Rectangle à coins arrondis 86">
            <a:extLst>
              <a:ext uri="{FF2B5EF4-FFF2-40B4-BE49-F238E27FC236}">
                <a16:creationId xmlns:a16="http://schemas.microsoft.com/office/drawing/2014/main" id="{A1156F94-50A6-FF57-3B0A-9756D31B9FF6}"/>
              </a:ext>
            </a:extLst>
          </p:cNvPr>
          <p:cNvSpPr/>
          <p:nvPr userDrawn="1"/>
        </p:nvSpPr>
        <p:spPr>
          <a:xfrm>
            <a:off x="613674" y="2962621"/>
            <a:ext cx="3476178" cy="16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1516"/>
            <a:r>
              <a:rPr lang="fr-FR" sz="1089" b="1" spc="9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PUBLICATIONS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BD3CCEB-6650-5B2D-BD07-69540AEF2D03}"/>
              </a:ext>
            </a:extLst>
          </p:cNvPr>
          <p:cNvCxnSpPr>
            <a:cxnSpLocks/>
          </p:cNvCxnSpPr>
          <p:nvPr userDrawn="1"/>
        </p:nvCxnSpPr>
        <p:spPr>
          <a:xfrm>
            <a:off x="605826" y="3151903"/>
            <a:ext cx="266165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8AE51A3-8159-9D46-F4EE-32A12B6469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535" y="3892729"/>
            <a:ext cx="3794531" cy="162737"/>
          </a:xfrm>
        </p:spPr>
        <p:txBody>
          <a:bodyPr/>
          <a:lstStyle>
            <a:lvl1pPr>
              <a:defRPr sz="726" b="0" cap="all" baseline="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Espace réservé du texte 34">
            <a:extLst>
              <a:ext uri="{FF2B5EF4-FFF2-40B4-BE49-F238E27FC236}">
                <a16:creationId xmlns:a16="http://schemas.microsoft.com/office/drawing/2014/main" id="{FC25B4B2-4D08-1F0E-3F59-DC5B008352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84072" y="1602354"/>
            <a:ext cx="896071" cy="457968"/>
          </a:xfrm>
        </p:spPr>
        <p:txBody>
          <a:bodyPr anchor="b"/>
          <a:lstStyle>
            <a:lvl1pPr>
              <a:spcAft>
                <a:spcPts val="0"/>
              </a:spcAft>
              <a:defRPr sz="2177">
                <a:solidFill>
                  <a:schemeClr val="bg1"/>
                </a:solidFill>
                <a:latin typeface="+mj-lt"/>
              </a:defRPr>
            </a:lvl1pPr>
            <a:lvl2pPr>
              <a:defRPr sz="635">
                <a:solidFill>
                  <a:schemeClr val="bg1"/>
                </a:solidFill>
              </a:defRPr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00000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6" name="Espace réservé du texte 34">
            <a:extLst>
              <a:ext uri="{FF2B5EF4-FFF2-40B4-BE49-F238E27FC236}">
                <a16:creationId xmlns:a16="http://schemas.microsoft.com/office/drawing/2014/main" id="{59D49A93-79D0-3A5A-DE6E-AA1D3A487C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29487" y="1602354"/>
            <a:ext cx="896071" cy="457968"/>
          </a:xfrm>
        </p:spPr>
        <p:txBody>
          <a:bodyPr anchor="b"/>
          <a:lstStyle>
            <a:lvl1pPr>
              <a:spcAft>
                <a:spcPts val="0"/>
              </a:spcAft>
              <a:defRPr sz="2177">
                <a:solidFill>
                  <a:schemeClr val="bg1"/>
                </a:solidFill>
                <a:latin typeface="+mj-lt"/>
              </a:defRPr>
            </a:lvl1pPr>
            <a:lvl2pPr>
              <a:defRPr sz="635">
                <a:solidFill>
                  <a:schemeClr val="bg1"/>
                </a:solidFill>
              </a:defRPr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00000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57EAC4EC-5A4C-A39F-3113-8BD870D60930}"/>
              </a:ext>
            </a:extLst>
          </p:cNvPr>
          <p:cNvCxnSpPr/>
          <p:nvPr userDrawn="1"/>
        </p:nvCxnSpPr>
        <p:spPr>
          <a:xfrm>
            <a:off x="8309963" y="1602354"/>
            <a:ext cx="0" cy="457968"/>
          </a:xfrm>
          <a:prstGeom prst="line">
            <a:avLst/>
          </a:prstGeom>
          <a:ln w="63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8FE77A04-10B2-EAE1-2FCE-5AB3751DB91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29188" y="936099"/>
            <a:ext cx="5038275" cy="666255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2" name="Espace réservé du texte 50">
            <a:extLst>
              <a:ext uri="{FF2B5EF4-FFF2-40B4-BE49-F238E27FC236}">
                <a16:creationId xmlns:a16="http://schemas.microsoft.com/office/drawing/2014/main" id="{0E7183FD-C141-721D-E11C-36C38D10D7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29188" y="2311433"/>
            <a:ext cx="5038275" cy="45796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0">
            <a:extLst>
              <a:ext uri="{FF2B5EF4-FFF2-40B4-BE49-F238E27FC236}">
                <a16:creationId xmlns:a16="http://schemas.microsoft.com/office/drawing/2014/main" id="{EBE21D71-8D6E-D200-15B5-116085D773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29188" y="2873966"/>
            <a:ext cx="5038275" cy="1832858"/>
          </a:xfrm>
        </p:spPr>
        <p:txBody>
          <a:bodyPr numCol="2" spcCol="108000"/>
          <a:lstStyle>
            <a:lvl1pPr>
              <a:lnSpc>
                <a:spcPct val="90000"/>
              </a:lnSpc>
              <a:spcAft>
                <a:spcPts val="0"/>
              </a:spcAft>
              <a:defRPr sz="907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363"/>
              </a:spcBef>
              <a:spcAft>
                <a:spcPts val="181"/>
              </a:spcAft>
              <a:defRPr sz="816" b="1">
                <a:solidFill>
                  <a:schemeClr val="bg1"/>
                </a:solidFill>
              </a:defRPr>
            </a:lvl2pPr>
            <a:lvl3pPr marL="123855" indent="-79210">
              <a:spcAft>
                <a:spcPts val="181"/>
              </a:spcAft>
              <a:buFont typeface="Arial" panose="020B0604020202020204" pitchFamily="34" charset="0"/>
              <a:buChar char="•"/>
              <a:tabLst/>
              <a:defRPr sz="816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 err="1"/>
              <a:t>gggg</a:t>
            </a:r>
            <a:endParaRPr lang="fr-FR"/>
          </a:p>
        </p:txBody>
      </p:sp>
      <p:sp>
        <p:nvSpPr>
          <p:cNvPr id="54" name="Espace réservé du texte 50">
            <a:extLst>
              <a:ext uri="{FF2B5EF4-FFF2-40B4-BE49-F238E27FC236}">
                <a16:creationId xmlns:a16="http://schemas.microsoft.com/office/drawing/2014/main" id="{AD2A89DE-3583-6C83-1E82-AC47ABA7C1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9188" y="5633951"/>
            <a:ext cx="5038275" cy="45796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61CEC8BF-0762-CED3-DF3D-1F0C587D82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623745" y="4071435"/>
            <a:ext cx="977860" cy="925932"/>
          </a:xfrm>
          <a:custGeom>
            <a:avLst/>
            <a:gdLst>
              <a:gd name="connsiteX0" fmla="*/ 0 w 857537"/>
              <a:gd name="connsiteY0" fmla="*/ 0 h 1020669"/>
              <a:gd name="connsiteX1" fmla="*/ 857537 w 857537"/>
              <a:gd name="connsiteY1" fmla="*/ 0 h 1020669"/>
              <a:gd name="connsiteX2" fmla="*/ 857537 w 857537"/>
              <a:gd name="connsiteY2" fmla="*/ 1020669 h 1020669"/>
              <a:gd name="connsiteX3" fmla="*/ 0 w 857537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537" h="1020669">
                <a:moveTo>
                  <a:pt x="0" y="0"/>
                </a:moveTo>
                <a:lnTo>
                  <a:pt x="857537" y="0"/>
                </a:lnTo>
                <a:lnTo>
                  <a:pt x="857537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DDD58C22-2ACF-73DE-813E-AFFAAD5EFE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3426726" y="4071435"/>
            <a:ext cx="992340" cy="925932"/>
          </a:xfrm>
          <a:custGeom>
            <a:avLst/>
            <a:gdLst>
              <a:gd name="connsiteX0" fmla="*/ 0 w 870236"/>
              <a:gd name="connsiteY0" fmla="*/ 0 h 1020669"/>
              <a:gd name="connsiteX1" fmla="*/ 870236 w 870236"/>
              <a:gd name="connsiteY1" fmla="*/ 0 h 1020669"/>
              <a:gd name="connsiteX2" fmla="*/ 870236 w 870236"/>
              <a:gd name="connsiteY2" fmla="*/ 1020669 h 1020669"/>
              <a:gd name="connsiteX3" fmla="*/ 0 w 870236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0236" h="1020669">
                <a:moveTo>
                  <a:pt x="0" y="0"/>
                </a:moveTo>
                <a:lnTo>
                  <a:pt x="870236" y="0"/>
                </a:lnTo>
                <a:lnTo>
                  <a:pt x="870236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F0CA81EE-DF97-9F9A-D740-40F379CA81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auto">
          <a:xfrm>
            <a:off x="623745" y="5305272"/>
            <a:ext cx="2085569" cy="925932"/>
          </a:xfrm>
          <a:custGeom>
            <a:avLst/>
            <a:gdLst>
              <a:gd name="connsiteX0" fmla="*/ 0 w 857537"/>
              <a:gd name="connsiteY0" fmla="*/ 0 h 1020669"/>
              <a:gd name="connsiteX1" fmla="*/ 857537 w 857537"/>
              <a:gd name="connsiteY1" fmla="*/ 0 h 1020669"/>
              <a:gd name="connsiteX2" fmla="*/ 857537 w 857537"/>
              <a:gd name="connsiteY2" fmla="*/ 1020669 h 1020669"/>
              <a:gd name="connsiteX3" fmla="*/ 0 w 857537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537" h="1020669">
                <a:moveTo>
                  <a:pt x="0" y="0"/>
                </a:moveTo>
                <a:lnTo>
                  <a:pt x="857537" y="0"/>
                </a:lnTo>
                <a:lnTo>
                  <a:pt x="857537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9" name="Espace réservé du texte 34">
            <a:extLst>
              <a:ext uri="{FF2B5EF4-FFF2-40B4-BE49-F238E27FC236}">
                <a16:creationId xmlns:a16="http://schemas.microsoft.com/office/drawing/2014/main" id="{DE775849-5F33-F813-E110-0180E18AB2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97187" y="5773236"/>
            <a:ext cx="1292664" cy="457968"/>
          </a:xfrm>
        </p:spPr>
        <p:txBody>
          <a:bodyPr anchor="b"/>
          <a:lstStyle>
            <a:lvl1pPr>
              <a:defRPr sz="635" b="0"/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34">
            <a:extLst>
              <a:ext uri="{FF2B5EF4-FFF2-40B4-BE49-F238E27FC236}">
                <a16:creationId xmlns:a16="http://schemas.microsoft.com/office/drawing/2014/main" id="{587F2DB5-453D-6EAA-E8E1-DD185B2365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63616" y="4545200"/>
            <a:ext cx="1292664" cy="457968"/>
          </a:xfrm>
        </p:spPr>
        <p:txBody>
          <a:bodyPr anchor="b"/>
          <a:lstStyle>
            <a:lvl1pPr>
              <a:defRPr lang="fr-FR" sz="635" b="0" kern="120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 algn="l" defTabSz="894352" rtl="0" eaLnBrk="0" fontAlgn="base" hangingPunct="0">
              <a:spcBef>
                <a:spcPct val="0"/>
              </a:spcBef>
              <a:spcAft>
                <a:spcPts val="590"/>
              </a:spcAft>
            </a:pPr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34">
            <a:extLst>
              <a:ext uri="{FF2B5EF4-FFF2-40B4-BE49-F238E27FC236}">
                <a16:creationId xmlns:a16="http://schemas.microsoft.com/office/drawing/2014/main" id="{A707801A-C831-E5D8-D3BE-4AC6142DEB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2574" y="4545200"/>
            <a:ext cx="1292664" cy="457968"/>
          </a:xfrm>
        </p:spPr>
        <p:txBody>
          <a:bodyPr anchor="b"/>
          <a:lstStyle>
            <a:lvl1pPr>
              <a:defRPr sz="635" b="0"/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17114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54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/>
          </p:cNvSpPr>
          <p:nvPr userDrawn="1"/>
        </p:nvSpPr>
        <p:spPr>
          <a:xfrm>
            <a:off x="998476" y="971550"/>
            <a:ext cx="7091424" cy="492596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vert="horz" lIns="0" tIns="0" rIns="0" bIns="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sz="1000" b="0" err="1">
              <a:solidFill>
                <a:schemeClr val="bg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rgbClr val="7890B0"/>
                </a:solidFill>
              </a:defRPr>
            </a:lvl1pPr>
            <a:lvl2pPr>
              <a:defRPr sz="1400">
                <a:solidFill>
                  <a:srgbClr val="7890B0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32857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b="0" kern="1200" baseline="0" dirty="0" smtClean="0">
                <a:solidFill>
                  <a:srgbClr val="624ED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20EE40B-068A-4A4D-8C36-7ABD7F8F5276}"/>
              </a:ext>
            </a:extLst>
          </p:cNvPr>
          <p:cNvSpPr txBox="1">
            <a:spLocks/>
          </p:cNvSpPr>
          <p:nvPr userDrawn="1"/>
        </p:nvSpPr>
        <p:spPr>
          <a:xfrm>
            <a:off x="11425170" y="629073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700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Right Vertical Window Image_Cobal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98476" y="1485900"/>
            <a:ext cx="5249471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998476" y="5035866"/>
            <a:ext cx="5249471" cy="850652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3BD1F9C-C7CA-4162-BCD4-0E8701D300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22732" y="431801"/>
            <a:ext cx="3770792" cy="5454717"/>
          </a:xfrm>
          <a:solidFill>
            <a:srgbClr val="000000">
              <a:alpha val="20000"/>
            </a:srgbClr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91BD7904-A0EC-4665-99EF-039A51C5C5B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43180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963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C Aesthetics - 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0A07396-39A0-44BC-BBB0-91218DCD3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10" y="3232298"/>
            <a:ext cx="3776330" cy="28258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21549099-4B1F-491F-9539-FAFD3186F07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9210" y="2411754"/>
            <a:ext cx="7536116" cy="4716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Marcador de gráfico 11">
            <a:extLst>
              <a:ext uri="{FF2B5EF4-FFF2-40B4-BE49-F238E27FC236}">
                <a16:creationId xmlns:a16="http://schemas.microsoft.com/office/drawing/2014/main" id="{7815255D-2E8A-4313-AAE0-ED18B1CC25D2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890977" y="3232150"/>
            <a:ext cx="6462823" cy="2825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Cliquez sur l'icône pour ajouter un graphique</a:t>
            </a:r>
            <a:endParaRPr lang="en-US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E0F03536-10F4-4965-87BA-5AE45B3B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210" y="1177498"/>
            <a:ext cx="7537704" cy="1160260"/>
          </a:xfrm>
          <a:prstGeom prst="rect">
            <a:avLst/>
          </a:prstGeom>
        </p:spPr>
        <p:txBody>
          <a:bodyPr anchor="b"/>
          <a:lstStyle>
            <a:lvl1pPr>
              <a:defRPr sz="4000"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Título 8">
            <a:extLst>
              <a:ext uri="{FF2B5EF4-FFF2-40B4-BE49-F238E27FC236}">
                <a16:creationId xmlns:a16="http://schemas.microsoft.com/office/drawing/2014/main" id="{0B02C539-F825-45BB-BB35-CF1FFCA81F33}"/>
              </a:ext>
            </a:extLst>
          </p:cNvPr>
          <p:cNvSpPr txBox="1">
            <a:spLocks/>
          </p:cNvSpPr>
          <p:nvPr userDrawn="1"/>
        </p:nvSpPr>
        <p:spPr>
          <a:xfrm>
            <a:off x="248816" y="6373568"/>
            <a:ext cx="1828801" cy="204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E24826"/>
                </a:solidFill>
                <a:latin typeface="+mn-lt"/>
                <a:ea typeface="Source Sans Pro SemiBold" panose="020B0603030403020204" pitchFamily="34" charset="0"/>
                <a:cs typeface="+mj-cs"/>
              </a:defRPr>
            </a:lvl1pPr>
          </a:lstStyle>
          <a:p>
            <a:r>
              <a:rPr lang="en-US" sz="1000">
                <a:latin typeface="Source Sans Pro" panose="020B0503030403020204" pitchFamily="34" charset="0"/>
                <a:ea typeface="Source Sans Pro" panose="020B0503030403020204" pitchFamily="34" charset="0"/>
              </a:rPr>
              <a:t>CONFIDENTIAL &amp; RESTRICTED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F4281DD6-B99A-4EFB-B8D7-364C35643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8189" y="315870"/>
            <a:ext cx="1054454" cy="105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3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C Aesthetics - 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0A07396-39A0-44BC-BBB0-91218DCD3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10" y="3232298"/>
            <a:ext cx="3517618" cy="28258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21549099-4B1F-491F-9539-FAFD3186F07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9210" y="2411754"/>
            <a:ext cx="7536116" cy="4716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D294578-D0AA-4FB1-888C-5B000F0673E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48703" y="3232296"/>
            <a:ext cx="3517618" cy="28258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54FEB7EF-5A1B-4A4B-968C-8E8DF178796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178196" y="3232296"/>
            <a:ext cx="3517618" cy="28258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14" name="Título 8">
            <a:extLst>
              <a:ext uri="{FF2B5EF4-FFF2-40B4-BE49-F238E27FC236}">
                <a16:creationId xmlns:a16="http://schemas.microsoft.com/office/drawing/2014/main" id="{D5A9BA77-5974-4E5B-BA43-01F7F28D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210" y="1177498"/>
            <a:ext cx="7537704" cy="1160260"/>
          </a:xfrm>
          <a:prstGeom prst="rect">
            <a:avLst/>
          </a:prstGeom>
        </p:spPr>
        <p:txBody>
          <a:bodyPr anchor="b"/>
          <a:lstStyle>
            <a:lvl1pPr>
              <a:defRPr sz="4000"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7" name="Título 8">
            <a:extLst>
              <a:ext uri="{FF2B5EF4-FFF2-40B4-BE49-F238E27FC236}">
                <a16:creationId xmlns:a16="http://schemas.microsoft.com/office/drawing/2014/main" id="{1540CA80-4200-46C5-A6F8-C73CDF1083E8}"/>
              </a:ext>
            </a:extLst>
          </p:cNvPr>
          <p:cNvSpPr txBox="1">
            <a:spLocks/>
          </p:cNvSpPr>
          <p:nvPr userDrawn="1"/>
        </p:nvSpPr>
        <p:spPr>
          <a:xfrm>
            <a:off x="248816" y="6373568"/>
            <a:ext cx="1828801" cy="204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E24826"/>
                </a:solidFill>
                <a:latin typeface="+mn-lt"/>
                <a:ea typeface="Source Sans Pro SemiBold" panose="020B0603030403020204" pitchFamily="34" charset="0"/>
                <a:cs typeface="+mj-cs"/>
              </a:defRPr>
            </a:lvl1pPr>
          </a:lstStyle>
          <a:p>
            <a:r>
              <a:rPr lang="en-US" sz="1000">
                <a:latin typeface="Source Sans Pro" panose="020B0503030403020204" pitchFamily="34" charset="0"/>
                <a:ea typeface="Source Sans Pro" panose="020B0503030403020204" pitchFamily="34" charset="0"/>
              </a:rPr>
              <a:t>CONFIDENTIAL &amp; RESTRICTED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F979FFA-AAA8-4997-A618-E9B1DAEEAE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8189" y="315870"/>
            <a:ext cx="1054454" cy="105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2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49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1" y="1330126"/>
            <a:ext cx="10194470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6" name="Freeform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spc="-5">
                <a:solidFill>
                  <a:schemeClr val="tx1"/>
                </a:solidFill>
                <a:latin typeface="+mn-lt"/>
                <a:ea typeface="+mn-ea"/>
                <a:cs typeface="Arial"/>
              </a:rPr>
              <a:t>© 2025 KPMG ADVISORY, a French simplified joint stock company (société par actions simplifiée) and a member firm of the KPMG global organization of independent member firms affiliated with KPMG International Limited, a Private English company limited by guarantee. All rights reserved. The KPMG name and logo are trademarks used under license by the independent member firms of the KPMG global organization.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75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1102" y="431800"/>
            <a:ext cx="11156554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938" y="1330126"/>
            <a:ext cx="11155755" cy="47277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1429207" y="629073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00" smtClean="0">
                <a:solidFill>
                  <a:schemeClr val="accent3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US" sz="900">
              <a:solidFill>
                <a:schemeClr val="accent3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87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3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8">
          <p15:clr>
            <a:srgbClr val="F26B43"/>
          </p15:clr>
        </p15:guide>
        <p15:guide id="7" orient="horz" pos="3816">
          <p15:clr>
            <a:srgbClr val="F26B43"/>
          </p15:clr>
        </p15:guide>
        <p15:guide id="8" pos="7355">
          <p15:clr>
            <a:srgbClr val="F26B43"/>
          </p15:clr>
        </p15:guide>
        <p15:guide id="9" orient="horz" pos="40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7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74841" y="1764699"/>
            <a:ext cx="5719338" cy="3157498"/>
          </a:xfrm>
        </p:spPr>
        <p:txBody>
          <a:bodyPr/>
          <a:lstStyle/>
          <a:p>
            <a:r>
              <a:rPr lang="en-US" sz="6000" err="1"/>
              <a:t>Netsuite</a:t>
            </a:r>
            <a:br>
              <a:rPr lang="en-US" sz="6000" noProof="0"/>
            </a:br>
            <a:r>
              <a:rPr lang="en-US" sz="6000" noProof="0"/>
              <a:t> – </a:t>
            </a:r>
            <a:br>
              <a:rPr lang="en-US" sz="6000" noProof="0"/>
            </a:br>
            <a:r>
              <a:rPr lang="en-US" sz="6000"/>
              <a:t>D</a:t>
            </a:r>
            <a:r>
              <a:rPr lang="en-US" sz="6000" noProof="0"/>
              <a:t>emonstration feedback</a:t>
            </a:r>
            <a:br>
              <a:rPr lang="en-US" noProof="0"/>
            </a:br>
            <a:br>
              <a:rPr lang="en-US" sz="2000" noProof="0"/>
            </a:br>
            <a:br>
              <a:rPr lang="en-US" sz="2000" noProof="0"/>
            </a:br>
            <a:br>
              <a:rPr lang="en-US" sz="2400"/>
            </a:br>
            <a:br>
              <a:rPr lang="en-US" b="1">
                <a:solidFill>
                  <a:srgbClr val="FFFFFF"/>
                </a:solidFill>
                <a:latin typeface="Arial"/>
              </a:rPr>
            </a:br>
            <a:r>
              <a:rPr lang="en-US" sz="1600" b="1">
                <a:solidFill>
                  <a:srgbClr val="FFFFFF"/>
                </a:solidFill>
                <a:latin typeface="Arial"/>
              </a:rPr>
              <a:t>17/02/2026</a:t>
            </a:r>
            <a:br>
              <a:rPr lang="en-US" sz="1600" b="1">
                <a:solidFill>
                  <a:srgbClr val="FFFFFF"/>
                </a:solidFill>
                <a:latin typeface="Arial"/>
              </a:rPr>
            </a:br>
            <a:endParaRPr lang="en-US" noProof="0">
              <a:highlight>
                <a:srgbClr val="FF00FF"/>
              </a:highligh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body" sz="quarter" idx="11"/>
          </p:nvPr>
        </p:nvSpPr>
        <p:spPr>
          <a:xfrm>
            <a:off x="1274841" y="5251269"/>
            <a:ext cx="5719338" cy="310884"/>
          </a:xfrm>
        </p:spPr>
        <p:txBody>
          <a:bodyPr/>
          <a:lstStyle/>
          <a:p>
            <a:pPr lvl="1"/>
            <a:endParaRPr lang="en-US" noProof="0"/>
          </a:p>
          <a:p>
            <a:pPr lvl="1"/>
            <a:r>
              <a:rPr lang="en-US" b="1" noProof="0"/>
              <a:t>KPMG. Make the Difference.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23BCEAA-8B8F-C726-A581-F07F45FE6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662" y="369318"/>
            <a:ext cx="2508570" cy="372105"/>
          </a:xfrm>
          <a:prstGeom prst="rect">
            <a:avLst/>
          </a:prstGeom>
        </p:spPr>
      </p:pic>
      <p:sp>
        <p:nvSpPr>
          <p:cNvPr id="3" name="Subtitle 4">
            <a:extLst>
              <a:ext uri="{FF2B5EF4-FFF2-40B4-BE49-F238E27FC236}">
                <a16:creationId xmlns:a16="http://schemas.microsoft.com/office/drawing/2014/main" id="{B39AEAC4-6214-AFCB-36D1-A6441DD17393}"/>
              </a:ext>
            </a:extLst>
          </p:cNvPr>
          <p:cNvSpPr txBox="1">
            <a:spLocks/>
          </p:cNvSpPr>
          <p:nvPr/>
        </p:nvSpPr>
        <p:spPr>
          <a:xfrm>
            <a:off x="1274841" y="4596711"/>
            <a:ext cx="4199166" cy="810000"/>
          </a:xfrm>
          <a:prstGeom prst="rect">
            <a:avLst/>
          </a:prstGeom>
          <a:ln w="3175">
            <a:noFill/>
            <a:prstDash val="lgDash"/>
          </a:ln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-"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29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719138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0747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57300" indent="-1825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6120E-3FD9-1BED-07B2-547B5882D8A6}"/>
              </a:ext>
            </a:extLst>
          </p:cNvPr>
          <p:cNvSpPr/>
          <p:nvPr/>
        </p:nvSpPr>
        <p:spPr>
          <a:xfrm>
            <a:off x="-1420239" y="369318"/>
            <a:ext cx="1118681" cy="496444"/>
          </a:xfrm>
          <a:prstGeom prst="rect">
            <a:avLst/>
          </a:prstGeom>
          <a:solidFill>
            <a:srgbClr val="6959D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B47E25-A4BC-C575-D8B3-8F0D0721FECA}"/>
              </a:ext>
            </a:extLst>
          </p:cNvPr>
          <p:cNvSpPr/>
          <p:nvPr/>
        </p:nvSpPr>
        <p:spPr>
          <a:xfrm>
            <a:off x="-1420238" y="1200160"/>
            <a:ext cx="1118681" cy="496444"/>
          </a:xfrm>
          <a:prstGeom prst="rect">
            <a:avLst/>
          </a:prstGeom>
          <a:solidFill>
            <a:srgbClr val="7890B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27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B0C8-3B2E-A682-97EF-E90ADCC34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2804-A3BA-CD55-2983-D207B2E50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Netsuite</a:t>
            </a:r>
            <a:r>
              <a:rPr lang="fr-FR"/>
              <a:t> - </a:t>
            </a:r>
            <a:r>
              <a:rPr lang="fr-FR" err="1"/>
              <a:t>Demonstration</a:t>
            </a:r>
            <a:r>
              <a:rPr lang="fr-FR"/>
              <a:t> Feedback</a:t>
            </a:r>
          </a:p>
        </p:txBody>
      </p:sp>
      <p:graphicFrame>
        <p:nvGraphicFramePr>
          <p:cNvPr id="3" name="Tableau 97">
            <a:extLst>
              <a:ext uri="{FF2B5EF4-FFF2-40B4-BE49-F238E27FC236}">
                <a16:creationId xmlns:a16="http://schemas.microsoft.com/office/drawing/2014/main" id="{1E59FEB0-3BA1-80A1-93D9-7644F177C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395924"/>
              </p:ext>
            </p:extLst>
          </p:nvPr>
        </p:nvGraphicFramePr>
        <p:xfrm>
          <a:off x="998400" y="869287"/>
          <a:ext cx="10926276" cy="50081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2190">
                  <a:extLst>
                    <a:ext uri="{9D8B030D-6E8A-4147-A177-3AD203B41FA5}">
                      <a16:colId xmlns:a16="http://schemas.microsoft.com/office/drawing/2014/main" val="1903865753"/>
                    </a:ext>
                  </a:extLst>
                </a:gridCol>
                <a:gridCol w="3598680">
                  <a:extLst>
                    <a:ext uri="{9D8B030D-6E8A-4147-A177-3AD203B41FA5}">
                      <a16:colId xmlns:a16="http://schemas.microsoft.com/office/drawing/2014/main" val="2100788058"/>
                    </a:ext>
                  </a:extLst>
                </a:gridCol>
                <a:gridCol w="5335406">
                  <a:extLst>
                    <a:ext uri="{9D8B030D-6E8A-4147-A177-3AD203B41FA5}">
                      <a16:colId xmlns:a16="http://schemas.microsoft.com/office/drawing/2014/main" val="3869803886"/>
                    </a:ext>
                  </a:extLst>
                </a:gridCol>
              </a:tblGrid>
              <a:tr h="173222">
                <a:tc>
                  <a:txBody>
                    <a:bodyPr/>
                    <a:lstStyle/>
                    <a:p>
                      <a:pPr algn="ctr"/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Point to </a:t>
                      </a:r>
                      <a:r>
                        <a:rPr lang="fr-FR" sz="10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investigate</a:t>
                      </a:r>
                      <a:endParaRPr lang="fr-FR" sz="10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Proposal</a:t>
                      </a:r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V2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249137"/>
                  </a:ext>
                </a:extLst>
              </a:tr>
              <a:tr h="173222">
                <a:tc gridSpan="3">
                  <a:txBody>
                    <a:bodyPr/>
                    <a:lstStyle/>
                    <a:p>
                      <a:pPr algn="l"/>
                      <a:r>
                        <a:rPr lang="fr-FR" sz="10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Technical</a:t>
                      </a:r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aspect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fr-FR" sz="10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857451"/>
                  </a:ext>
                </a:extLst>
              </a:tr>
              <a:tr h="249006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Trust Pair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demonstration was not clear whether a connection/integration with </a:t>
                      </a:r>
                      <a:r>
                        <a:rPr lang="en-US" sz="85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TrustPair</a:t>
                      </a:r>
                      <a:r>
                        <a:rPr lang="en-US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was feasible.</a:t>
                      </a:r>
                      <a:endParaRPr lang="fr-FR" sz="85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proof points of an existing </a:t>
                      </a:r>
                      <a:r>
                        <a:rPr lang="en-US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TrustPair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integration/connection if it has already been implemented.</a:t>
                      </a:r>
                      <a:endParaRPr lang="fr-FR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751226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r>
                        <a:rPr lang="fr-FR" sz="9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NetSuite</a:t>
                      </a:r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App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Participants want to understand the nature of the proposed integrations.</a:t>
                      </a:r>
                      <a:endParaRPr lang="fr-FR" sz="85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a detailed list of interfaces, specifying what will be custom developments vs. what is covered by the free NetSuite app vs. what requires the paid NetSuite app </a:t>
                      </a:r>
                      <a:r>
                        <a:rPr lang="en-US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Confirm required interfaces are included in the pricing</a:t>
                      </a:r>
                      <a:endParaRPr lang="en-US" sz="85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an impact view of the different options: classic integration vs. free NetSuite app vs. paid NetSuite app.</a:t>
                      </a:r>
                      <a:endParaRPr lang="fr-FR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781442"/>
                  </a:ext>
                </a:extLst>
              </a:tr>
              <a:tr h="249006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E-invoicing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E-invoicing process was not clear on the model used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Clarify the assumptions used for the costing and reconfirm the “tunnel + OCR” model, including compatibility with the French requirements </a:t>
                      </a:r>
                      <a:r>
                        <a:rPr lang="en-US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Answered in session</a:t>
                      </a:r>
                      <a:endParaRPr lang="fr-FR" sz="85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643575"/>
                  </a:ext>
                </a:extLst>
              </a:tr>
              <a:tr h="1623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FX rate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 wants more clarification on the FX rate process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</a:t>
                      </a:r>
                      <a:r>
                        <a:rPr lang="fr-FR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more explication on 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the FX rate is managed by the system.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495403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Treasury management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 wants more clarification on interfaces with the TMS and payment capabilities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TMS : can you connect to </a:t>
                      </a:r>
                      <a:r>
                        <a:rPr lang="en-US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Agicap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/Kyriba/FIS with the same ability ?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</a:t>
                      </a:r>
                      <a:r>
                        <a:rPr lang="fr-FR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more explication on 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possibility to implement hedge accounting in </a:t>
                      </a:r>
                      <a:r>
                        <a:rPr lang="en-US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Netsuite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it possible to do direct payment from </a:t>
                      </a:r>
                      <a:r>
                        <a:rPr lang="en-US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netsuite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(without selecting an invoice, to allow to not use web-banking anymore)</a:t>
                      </a:r>
                      <a:endParaRPr lang="fr-FR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60807"/>
                  </a:ext>
                </a:extLst>
              </a:tr>
              <a:tr h="166869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Technical opening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technical openning was not enough focusing on Abivax context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Organize a dedicated call to go deeper into the technical aspects, aligned with the ABIVAX context.</a:t>
                      </a:r>
                      <a:r>
                        <a:rPr lang="en-US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send 2 hours time slot </a:t>
                      </a:r>
                      <a:endParaRPr lang="fr-FR" sz="85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431441"/>
                  </a:ext>
                </a:extLst>
              </a:tr>
              <a:tr h="249006">
                <a:tc>
                  <a:txBody>
                    <a:bodyPr/>
                    <a:lstStyle/>
                    <a:p>
                      <a:r>
                        <a:rPr lang="fr-FR" sz="9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VAT </a:t>
                      </a:r>
                      <a:r>
                        <a:rPr lang="fr-FR" sz="9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declaration</a:t>
                      </a:r>
                      <a:endParaRPr lang="fr-FR" sz="9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demo did not allow enough time to explain how VAT declaration works.</a:t>
                      </a:r>
                      <a:endParaRPr lang="fr-FR" sz="85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a short demo video or a single slide explaining NetSuite VAT declaration management.</a:t>
                      </a:r>
                      <a:endParaRPr lang="fr-FR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444902"/>
                  </a:ext>
                </a:extLst>
              </a:tr>
              <a:tr h="173222">
                <a:tc gridSpan="3">
                  <a:txBody>
                    <a:bodyPr/>
                    <a:lstStyle/>
                    <a:p>
                      <a:r>
                        <a:rPr lang="fr-FR" sz="10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Proposal</a:t>
                      </a:r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feedbacks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0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262813"/>
                  </a:ext>
                </a:extLst>
              </a:tr>
              <a:tr h="249006">
                <a:tc>
                  <a:txBody>
                    <a:bodyPr/>
                    <a:lstStyle/>
                    <a:p>
                      <a:r>
                        <a:rPr lang="fr-FR" sz="9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General timeline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presented timeline started in March, but the teams will only be available from April.</a:t>
                      </a:r>
                      <a:endParaRPr lang="fr-FR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Propose an updated timeline that accounts for </a:t>
                      </a:r>
                      <a:r>
                        <a:rPr lang="en-US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Abivax’s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availability starting in April.</a:t>
                      </a:r>
                      <a:endParaRPr lang="fr-FR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34127"/>
                  </a:ext>
                </a:extLst>
              </a:tr>
              <a:tr h="469143">
                <a:tc>
                  <a:txBody>
                    <a:bodyPr/>
                    <a:lstStyle/>
                    <a:p>
                      <a:r>
                        <a:rPr lang="fr-FR" sz="9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</a:t>
                      </a:r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9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workload</a:t>
                      </a:r>
                      <a:endParaRPr lang="fr-FR" sz="9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proposal was not specific enough regarding the workload expected from </a:t>
                      </a:r>
                      <a:r>
                        <a:rPr lang="en-US" sz="85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</a:t>
                      </a:r>
                      <a:r>
                        <a:rPr lang="en-US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teams.</a:t>
                      </a:r>
                      <a:endParaRPr lang="fr-FR" sz="85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Organize a dedicated session to work on </a:t>
                      </a:r>
                      <a:r>
                        <a:rPr lang="en-US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workload and realign on the right hypothesis</a:t>
                      </a: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Send 2 hours timeslot (the same one, we will take 1 hour to address this topic)</a:t>
                      </a:r>
                      <a:endParaRPr lang="en-US" sz="85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077187"/>
                  </a:ext>
                </a:extLst>
              </a:tr>
              <a:tr h="359075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Change management support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5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Teams would like stronger change management support, especially for operational teams.</a:t>
                      </a:r>
                      <a:endParaRPr lang="fr-FR" sz="85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Strengthen the change management support proposal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&amp; IT involvement to be refined. There needs to be some provision for change management &amp; </a:t>
                      </a:r>
                      <a:r>
                        <a:rPr lang="en-US" sz="8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hypercare</a:t>
                      </a:r>
                      <a:r>
                        <a:rPr lang="fr-FR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No </a:t>
                      </a:r>
                      <a:r>
                        <a:rPr lang="fr-FR" sz="85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need</a:t>
                      </a:r>
                      <a:r>
                        <a:rPr lang="fr-FR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for the moment, </a:t>
                      </a:r>
                      <a:r>
                        <a:rPr lang="fr-FR" sz="85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Abivax</a:t>
                      </a:r>
                      <a:r>
                        <a:rPr lang="fr-FR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fr-FR" sz="85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will</a:t>
                      </a:r>
                      <a:r>
                        <a:rPr lang="fr-FR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come back </a:t>
                      </a:r>
                      <a:r>
                        <a:rPr lang="fr-FR" sz="85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with</a:t>
                      </a:r>
                      <a:r>
                        <a:rPr lang="fr-FR" sz="85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inputs </a:t>
                      </a:r>
                      <a:r>
                        <a:rPr lang="fr-FR" sz="8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fr-FR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66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47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46CF-D308-B021-EF89-EF41C05E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0E03-0FC2-1A6A-1CC1-AEED40EC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Netsuite</a:t>
            </a:r>
            <a:r>
              <a:rPr lang="fr-FR"/>
              <a:t> – Financial </a:t>
            </a:r>
            <a:r>
              <a:rPr lang="fr-FR" err="1"/>
              <a:t>proposal</a:t>
            </a:r>
            <a:r>
              <a:rPr lang="fr-FR"/>
              <a:t> Feedback</a:t>
            </a:r>
          </a:p>
        </p:txBody>
      </p:sp>
      <p:graphicFrame>
        <p:nvGraphicFramePr>
          <p:cNvPr id="3" name="Tableau 97">
            <a:extLst>
              <a:ext uri="{FF2B5EF4-FFF2-40B4-BE49-F238E27FC236}">
                <a16:creationId xmlns:a16="http://schemas.microsoft.com/office/drawing/2014/main" id="{EA942011-934D-33B3-0AA3-FDC620C84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04457"/>
              </p:ext>
            </p:extLst>
          </p:nvPr>
        </p:nvGraphicFramePr>
        <p:xfrm>
          <a:off x="1038725" y="1367331"/>
          <a:ext cx="10042227" cy="34878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1173">
                  <a:extLst>
                    <a:ext uri="{9D8B030D-6E8A-4147-A177-3AD203B41FA5}">
                      <a16:colId xmlns:a16="http://schemas.microsoft.com/office/drawing/2014/main" val="1903865753"/>
                    </a:ext>
                  </a:extLst>
                </a:gridCol>
                <a:gridCol w="4175527">
                  <a:extLst>
                    <a:ext uri="{9D8B030D-6E8A-4147-A177-3AD203B41FA5}">
                      <a16:colId xmlns:a16="http://schemas.microsoft.com/office/drawing/2014/main" val="1181499086"/>
                    </a:ext>
                  </a:extLst>
                </a:gridCol>
                <a:gridCol w="4175527">
                  <a:extLst>
                    <a:ext uri="{9D8B030D-6E8A-4147-A177-3AD203B41FA5}">
                      <a16:colId xmlns:a16="http://schemas.microsoft.com/office/drawing/2014/main" val="3052496396"/>
                    </a:ext>
                  </a:extLst>
                </a:gridCol>
              </a:tblGrid>
              <a:tr h="313985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Point to </a:t>
                      </a:r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investigate</a:t>
                      </a:r>
                      <a:endParaRPr lang="fr-FR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Hypothesis</a:t>
                      </a:r>
                      <a:r>
                        <a:rPr lang="fr-FR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 clarification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38099">
                      <a:solidFill>
                        <a:schemeClr val="bg1"/>
                      </a:solidFill>
                    </a:lnT>
                    <a:lnB w="38099">
                      <a:solidFill>
                        <a:schemeClr val="bg1"/>
                      </a:solidFill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Proposal</a:t>
                      </a:r>
                      <a:r>
                        <a:rPr lang="fr-FR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V2</a:t>
                      </a:r>
                    </a:p>
                  </a:txBody>
                  <a:tcPr>
                    <a:lnL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24913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</a:t>
                      </a:r>
                      <a:r>
                        <a:rPr lang="fr-FR" sz="10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proposal</a:t>
                      </a:r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716143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Management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A Project Sponsor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A Project Manager 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Solution Architects, Functional, Technical and Education Consultants that work on the project daily activities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Answered in session: approximately 20% of build costs (without customization included) / confirmation that it fits the necessary workload / forfeit: E</a:t>
                      </a:r>
                      <a:r>
                        <a:rPr lang="en-US" sz="1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xcess costs at NetSuite’s expense.</a:t>
                      </a:r>
                      <a:endParaRPr lang="fr-FR" sz="1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922356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00" b="1">
                          <a:latin typeface="Calibri"/>
                          <a:ea typeface="Calibri"/>
                          <a:cs typeface="Calibri"/>
                        </a:rPr>
                        <a:t>Solution design &amp; implementation</a:t>
                      </a:r>
                    </a:p>
                  </a:txBody>
                  <a:tcPr>
                    <a:lnL w="38099">
                      <a:solidFill>
                        <a:schemeClr val="bg1"/>
                      </a:solidFill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Extraction Data &amp; Data cleaning: Abivax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Configuration: Netsuite (Abivax consultation)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Data Loading: Netsuite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Data validation:Abivax &amp; Netsuite 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Sign-off: Abivax &amp; Netsuite 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Interfaces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Wingdings" panose="05000000000000000000" pitchFamily="2" charset="2"/>
                        </a:rPr>
                        <a:t> ½ interfaces (beside SuiteApps)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099">
                      <a:solidFill>
                        <a:schemeClr val="bg1"/>
                      </a:solidFill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 b="1" dirty="0">
                          <a:latin typeface="Calibri"/>
                          <a:ea typeface="Calibri"/>
                          <a:cs typeface="Calibri"/>
                        </a:rPr>
                        <a:t>Provide an estimate of a additional assistance for data loading / management / as an option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endParaRPr lang="en-US" sz="10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099">
                      <a:solidFill>
                        <a:schemeClr val="bg1"/>
                      </a:solidFill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504460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Acceptance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Netsuite will provide test scripts</a:t>
                      </a:r>
                    </a:p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Abivax team will run the scripts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answer expected / clarified in session</a:t>
                      </a:r>
                    </a:p>
                  </a:txBody>
                  <a:tcPr>
                    <a:lnL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65572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 start-up and assistance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Post Go-Live Support: access to log issues, questions and items raised will be resolved via email or meeting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260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02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6F8B5F-5DA7-D31B-5D36-1064DAD3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Credentials</a:t>
            </a:r>
            <a:r>
              <a:rPr lang="fr-FR"/>
              <a:t> contacts</a:t>
            </a:r>
          </a:p>
        </p:txBody>
      </p:sp>
      <p:graphicFrame>
        <p:nvGraphicFramePr>
          <p:cNvPr id="4" name="Tableau 97">
            <a:extLst>
              <a:ext uri="{FF2B5EF4-FFF2-40B4-BE49-F238E27FC236}">
                <a16:creationId xmlns:a16="http://schemas.microsoft.com/office/drawing/2014/main" id="{8947D843-04F7-58BA-244D-94D2D067D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520051"/>
              </p:ext>
            </p:extLst>
          </p:nvPr>
        </p:nvGraphicFramePr>
        <p:xfrm>
          <a:off x="1038724" y="1367332"/>
          <a:ext cx="9008789" cy="1602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6932">
                  <a:extLst>
                    <a:ext uri="{9D8B030D-6E8A-4147-A177-3AD203B41FA5}">
                      <a16:colId xmlns:a16="http://schemas.microsoft.com/office/drawing/2014/main" val="1903865753"/>
                    </a:ext>
                  </a:extLst>
                </a:gridCol>
                <a:gridCol w="6411857">
                  <a:extLst>
                    <a:ext uri="{9D8B030D-6E8A-4147-A177-3AD203B41FA5}">
                      <a16:colId xmlns:a16="http://schemas.microsoft.com/office/drawing/2014/main" val="1181499086"/>
                    </a:ext>
                  </a:extLst>
                </a:gridCol>
              </a:tblGrid>
              <a:tr h="265887">
                <a:tc>
                  <a:txBody>
                    <a:bodyPr/>
                    <a:lstStyle/>
                    <a:p>
                      <a:pPr algn="ctr"/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Credential</a:t>
                      </a:r>
                      <a:endParaRPr lang="fr-FR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Contact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38099">
                      <a:solidFill>
                        <a:schemeClr val="bg1"/>
                      </a:solidFill>
                    </a:lnT>
                    <a:lnB w="38099">
                      <a:solidFill>
                        <a:schemeClr val="bg1"/>
                      </a:solidFill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249137"/>
                  </a:ext>
                </a:extLst>
              </a:tr>
              <a:tr h="442625">
                <a:tc>
                  <a:txBody>
                    <a:bodyPr/>
                    <a:lstStyle/>
                    <a:p>
                      <a:r>
                        <a:rPr lang="fr-FR" sz="10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Ennov</a:t>
                      </a:r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922356"/>
                  </a:ext>
                </a:extLst>
              </a:tr>
              <a:tr h="4426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00" b="1" err="1">
                          <a:latin typeface="Calibri"/>
                          <a:ea typeface="Calibri"/>
                          <a:cs typeface="Calibri"/>
                        </a:rPr>
                        <a:t>ITBMed</a:t>
                      </a:r>
                      <a:endParaRPr lang="fr-FR" sz="10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38099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504460"/>
                  </a:ext>
                </a:extLst>
              </a:tr>
              <a:tr h="442625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EFESO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65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04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7139-43FC-33A7-98F5-3EB0E166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7DB75A-2350-49AB-1AE1-2CA6E5BF1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476" y="1785554"/>
            <a:ext cx="6839238" cy="2482099"/>
          </a:xfrm>
        </p:spPr>
        <p:txBody>
          <a:bodyPr anchor="ctr"/>
          <a:lstStyle/>
          <a:p>
            <a:pPr algn="ctr">
              <a:spcAft>
                <a:spcPts val="300"/>
              </a:spcAft>
            </a:pPr>
            <a:r>
              <a:rPr lang="en-US" sz="4800" noProof="0"/>
              <a:t>Thank you !</a:t>
            </a:r>
            <a:endParaRPr lang="en-US" sz="5400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82D56E-0166-DEAD-A43B-44021887E3ED}"/>
              </a:ext>
            </a:extLst>
          </p:cNvPr>
          <p:cNvSpPr/>
          <p:nvPr/>
        </p:nvSpPr>
        <p:spPr>
          <a:xfrm>
            <a:off x="8801262" y="820328"/>
            <a:ext cx="2964671" cy="4640239"/>
          </a:xfrm>
          <a:prstGeom prst="rect">
            <a:avLst/>
          </a:prstGeom>
          <a:noFill/>
          <a:ln w="762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Image 3">
            <a:extLst>
              <a:ext uri="{FF2B5EF4-FFF2-40B4-BE49-F238E27FC236}">
                <a16:creationId xmlns:a16="http://schemas.microsoft.com/office/drawing/2014/main" id="{D54A71CE-309D-1F71-F8E2-7C42774A5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7645" y="1112137"/>
            <a:ext cx="2964671" cy="463372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C1A261C-91A2-A09E-4956-5628C1ED5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276" y="463938"/>
            <a:ext cx="1598676" cy="23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5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2"/>
    </mc:Choice>
    <mc:Fallback xmlns="">
      <p:transition spd="slow" advTm="2102"/>
    </mc:Fallback>
  </mc:AlternateContent>
</p:sld>
</file>

<file path=ppt/theme/theme1.xml><?xml version="1.0" encoding="utf-8"?>
<a:theme xmlns:a="http://schemas.openxmlformats.org/drawingml/2006/main" name="KPMG Widescreen [16:9] Feb 2022">
  <a:themeElements>
    <a:clrScheme name="Personnalisé 2">
      <a:dk1>
        <a:srgbClr val="0C233C"/>
      </a:dk1>
      <a:lt1>
        <a:srgbClr val="FFFFFF"/>
      </a:lt1>
      <a:dk2>
        <a:srgbClr val="00338D"/>
      </a:dk2>
      <a:lt2>
        <a:srgbClr val="E5E5E5"/>
      </a:lt2>
      <a:accent1>
        <a:srgbClr val="0C233C"/>
      </a:accent1>
      <a:accent2>
        <a:srgbClr val="0C233C"/>
      </a:accent2>
      <a:accent3>
        <a:srgbClr val="0C233C"/>
      </a:accent3>
      <a:accent4>
        <a:srgbClr val="0C233C"/>
      </a:accent4>
      <a:accent5>
        <a:srgbClr val="0C233C"/>
      </a:accent5>
      <a:accent6>
        <a:srgbClr val="0C233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FR-KPMG Widescreen Standard Template" id="{1B51785E-8CB2-4C49-BF82-F8B893A8BF8A}" vid="{BB1EADD7-D62E-43AE-ACDD-F64DD4BB6E35}"/>
    </a:ext>
  </a:extLst>
</a:theme>
</file>

<file path=ppt/theme/theme2.xml><?xml version="1.0" encoding="utf-8"?>
<a:theme xmlns:a="http://schemas.openxmlformats.org/drawingml/2006/main" name="3_KPMG Widescreen [16:9] Feb 2022">
  <a:themeElements>
    <a:clrScheme name="KPMG New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BDC3BE6DD3AB4CB68E69BB42813B95" ma:contentTypeVersion="8" ma:contentTypeDescription="Crée un document." ma:contentTypeScope="" ma:versionID="0c5582e064913cbe124860bf243292c6">
  <xsd:schema xmlns:xsd="http://www.w3.org/2001/XMLSchema" xmlns:xs="http://www.w3.org/2001/XMLSchema" xmlns:p="http://schemas.microsoft.com/office/2006/metadata/properties" xmlns:ns2="3f2eb478-941e-4976-97fc-4cb7dd3a9501" targetNamespace="http://schemas.microsoft.com/office/2006/metadata/properties" ma:root="true" ma:fieldsID="b4da7d05adfdcc09fbe07db25d852eec" ns2:_="">
    <xsd:import namespace="3f2eb478-941e-4976-97fc-4cb7dd3a95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eb478-941e-4976-97fc-4cb7dd3a95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F94863-B8B0-4D27-9ADB-CA8B3C3101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2eb478-941e-4976-97fc-4cb7dd3a95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747782-843C-4FE9-A7B4-BE8A5B8A77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5EE831-4F0D-4C75-9A8C-0719896711D5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3f2eb478-941e-4976-97fc-4cb7dd3a9501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0723fe73-2359-40d2-8c34-7e2aa7415594}" enabled="0" method="" siteId="{0723fe73-2359-40d2-8c34-7e2aa7415594}" removed="1"/>
  <clbl:label id="{95653b52-df9b-47d2-8549-8de78ac04e21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663</Words>
  <Application>Microsoft Office PowerPoint</Application>
  <PresentationFormat>Widescreen</PresentationFormat>
  <Paragraphs>81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Calibri</vt:lpstr>
      <vt:lpstr>KPMG Bold</vt:lpstr>
      <vt:lpstr>Source Sans Pro</vt:lpstr>
      <vt:lpstr>Source Sans Pro SemiBold</vt:lpstr>
      <vt:lpstr>KPMG Widescreen [16:9] Feb 2022</vt:lpstr>
      <vt:lpstr>3_KPMG Widescreen [16:9] Feb 2022</vt:lpstr>
      <vt:lpstr>Netsuite  –  Demonstration feedback     17/02/2026 </vt:lpstr>
      <vt:lpstr>Netsuite - Demonstration Feedback</vt:lpstr>
      <vt:lpstr>Netsuite – Financial proposal Feedback</vt:lpstr>
      <vt:lpstr>Credentials contacts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Ben Alaya, Aymen</cp:lastModifiedBy>
  <cp:revision>2</cp:revision>
  <dcterms:created xsi:type="dcterms:W3CDTF">2026-02-13T15:09:52Z</dcterms:created>
  <dcterms:modified xsi:type="dcterms:W3CDTF">2026-02-18T08:39:59Z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0x010100EFBDC3BE6DD3AB4CB68E69BB42813B95</vt:lpwstr>
  </property>
  <property fmtid="{D5CDD505-2E9C-101B-9397-08002B2CF9AE}" pid="3" name="MediaServiceImageTags">
    <vt:lpwstr/>
  </property>
</Properties>
</file>