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11"/>
  </p:notesMasterIdLst>
  <p:sldIdLst>
    <p:sldId id="481" r:id="rId6"/>
    <p:sldId id="2147483620" r:id="rId7"/>
    <p:sldId id="2147483621" r:id="rId8"/>
    <p:sldId id="2147483622" r:id="rId9"/>
    <p:sldId id="214748358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BEB662-3BEF-2FF7-D5D3-676661A3CDD0}" name="Girard, Camille" initials="CG" userId="S::camillegirard@kpmg.fr::63925eb6-c654-4533-8598-4b02ef07fa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5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75E0A-526F-40D9-B019-B5B615FF00B2}" v="817" dt="2026-02-16T16:03:12.878"/>
    <p1510:client id="{79CDA59E-C023-457D-B0CB-03AAEEC6A7B1}" v="2027" dt="2026-02-16T15:29:42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64F74-E396-4E61-AE19-70E570B9F8F3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8EB2F-38E2-4736-AB0F-889D9F68AAE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92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31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7FCC-DAC2-F534-6EF5-3A1374EB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35E8A2-1A38-EA22-999B-07A189E95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DE6799-F559-CC13-77DE-EFAF940F3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A4F727-A5AE-EF5E-3CA5-890F12FF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8B39C7-716E-4862-996B-767A9D240FC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92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/>
          </p:cNvSpPr>
          <p:nvPr userDrawn="1"/>
        </p:nvSpPr>
        <p:spPr>
          <a:xfrm>
            <a:off x="998476" y="1485244"/>
            <a:ext cx="6277559" cy="436062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64699"/>
            <a:ext cx="5719338" cy="2880000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KPMG Blue | </a:t>
            </a:r>
            <a:br>
              <a:rPr lang="en-GB"/>
            </a:br>
            <a:r>
              <a:rPr lang="en-GB"/>
              <a:t>Title slide text only</a:t>
            </a:r>
            <a:endParaRPr lang="en-US"/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A5A5FA9B-A901-4A1F-9358-436BDE66E0B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1933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106891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68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989CBA86-3836-4832-B1AE-9FEA1A8F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© 2024 KPMG ADVISORY, société par actions simplifiée, membre français de l’organisation mondiale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KPMG constituée de cabinets indépendants affiliés à KPMG International Limited, une société de droit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anglais (« private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company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limited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guarantee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»). Tous droits réservés. Le nom et le logo KPMG sont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des marques utilisées sous licence par les cabinets indépendants membres de l’organisation mondiale KPMG.</a:t>
            </a:r>
            <a:endParaRPr lang="en-US" sz="4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10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195200" cy="4546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40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2170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99EBB9-9F37-4E4F-A46E-A453E970D66A}"/>
              </a:ext>
            </a:extLst>
          </p:cNvPr>
          <p:cNvSpPr/>
          <p:nvPr userDrawn="1"/>
        </p:nvSpPr>
        <p:spPr>
          <a:xfrm>
            <a:off x="1004888" y="762000"/>
            <a:ext cx="7524000" cy="53492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lvl="0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0BCF3-D817-4EAC-8866-C2530BBB02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38925" y="2325831"/>
            <a:ext cx="6263956" cy="2300407"/>
          </a:xfrm>
        </p:spPr>
        <p:txBody>
          <a:bodyPr anchor="t" anchorCtr="0"/>
          <a:lstStyle>
            <a:lvl1pPr algn="l">
              <a:defRPr sz="8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copy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3CE8DB4-A186-4059-9C81-D90597F800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8925" y="5233260"/>
            <a:ext cx="6263956" cy="216000"/>
          </a:xfrm>
        </p:spPr>
        <p:txBody>
          <a:bodyPr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0CEBDA0-4368-4F6C-8352-18BF87F8F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8924" y="1339850"/>
            <a:ext cx="876300" cy="690562"/>
          </a:xfrm>
        </p:spPr>
        <p:txBody>
          <a:bodyPr/>
          <a:lstStyle>
            <a:lvl1pPr>
              <a:lnSpc>
                <a:spcPct val="7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5EB5FA9-D117-4324-A3D4-5F62C3F1B10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57ED9708-511F-4342-AFA6-8AD96CBF05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54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71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ublica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20D102-B539-8324-A9E2-0E2F6DCD9873}"/>
              </a:ext>
            </a:extLst>
          </p:cNvPr>
          <p:cNvSpPr/>
          <p:nvPr userDrawn="1"/>
        </p:nvSpPr>
        <p:spPr>
          <a:xfrm>
            <a:off x="409358" y="2917596"/>
            <a:ext cx="5565288" cy="326803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541" tIns="49541" rIns="49541" bIns="49541" rtlCol="0" anchor="ctr"/>
          <a:lstStyle/>
          <a:p>
            <a:pPr algn="l"/>
            <a:endParaRPr lang="fr-FR" sz="1361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87B02-7CF7-4117-9A1B-AF20C9A914E9}"/>
              </a:ext>
            </a:extLst>
          </p:cNvPr>
          <p:cNvSpPr/>
          <p:nvPr userDrawn="1"/>
        </p:nvSpPr>
        <p:spPr>
          <a:xfrm>
            <a:off x="6171114" y="418249"/>
            <a:ext cx="5611529" cy="643975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471" tIns="53471" rIns="53471" bIns="53471" anchor="ctr"/>
          <a:lstStyle/>
          <a:p>
            <a:pPr defTabSz="90309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69" err="1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4905E83-B56F-7046-AAF1-CCFA8D767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673" y="936702"/>
            <a:ext cx="5275024" cy="8882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2D797E-E8E7-A6C3-4A5D-CE4BB0B4C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673" y="1898583"/>
            <a:ext cx="5275024" cy="1491725"/>
          </a:xfrm>
          <a:prstGeom prst="rect">
            <a:avLst/>
          </a:prstGeom>
          <a:ln w="3175">
            <a:noFill/>
            <a:prstDash val="lgDash"/>
          </a:ln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907">
                <a:solidFill>
                  <a:schemeClr val="tx2"/>
                </a:solidFill>
              </a:defRPr>
            </a:lvl1pPr>
            <a:lvl2pPr>
              <a:spcBef>
                <a:spcPts val="544"/>
              </a:spcBef>
              <a:spcAft>
                <a:spcPts val="0"/>
              </a:spcAft>
              <a:defRPr sz="816">
                <a:solidFill>
                  <a:schemeClr val="tx1"/>
                </a:solidFill>
              </a:defRPr>
            </a:lvl2pPr>
            <a:lvl3pPr marL="241950" indent="-112334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726">
                <a:solidFill>
                  <a:schemeClr val="tx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niveau2</a:t>
            </a:r>
          </a:p>
        </p:txBody>
      </p:sp>
      <p:sp>
        <p:nvSpPr>
          <p:cNvPr id="3" name="Rectangle à coins arrondis 86">
            <a:extLst>
              <a:ext uri="{FF2B5EF4-FFF2-40B4-BE49-F238E27FC236}">
                <a16:creationId xmlns:a16="http://schemas.microsoft.com/office/drawing/2014/main" id="{A1156F94-50A6-FF57-3B0A-9756D31B9FF6}"/>
              </a:ext>
            </a:extLst>
          </p:cNvPr>
          <p:cNvSpPr/>
          <p:nvPr userDrawn="1"/>
        </p:nvSpPr>
        <p:spPr>
          <a:xfrm>
            <a:off x="613674" y="2962621"/>
            <a:ext cx="3476178" cy="16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1516"/>
            <a:r>
              <a:rPr lang="fr-FR" sz="1089" b="1" spc="9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PUBLICATIONS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D3CCEB-6650-5B2D-BD07-69540AEF2D03}"/>
              </a:ext>
            </a:extLst>
          </p:cNvPr>
          <p:cNvCxnSpPr>
            <a:cxnSpLocks/>
          </p:cNvCxnSpPr>
          <p:nvPr userDrawn="1"/>
        </p:nvCxnSpPr>
        <p:spPr>
          <a:xfrm>
            <a:off x="605826" y="3151903"/>
            <a:ext cx="26616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8AE51A3-8159-9D46-F4EE-32A12B646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535" y="3892729"/>
            <a:ext cx="3794531" cy="162737"/>
          </a:xfrm>
        </p:spPr>
        <p:txBody>
          <a:bodyPr/>
          <a:lstStyle>
            <a:lvl1pPr>
              <a:defRPr sz="726" b="0" cap="all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4">
            <a:extLst>
              <a:ext uri="{FF2B5EF4-FFF2-40B4-BE49-F238E27FC236}">
                <a16:creationId xmlns:a16="http://schemas.microsoft.com/office/drawing/2014/main" id="{FC25B4B2-4D08-1F0E-3F59-DC5B008352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84072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6" name="Espace réservé du texte 34">
            <a:extLst>
              <a:ext uri="{FF2B5EF4-FFF2-40B4-BE49-F238E27FC236}">
                <a16:creationId xmlns:a16="http://schemas.microsoft.com/office/drawing/2014/main" id="{59D49A93-79D0-3A5A-DE6E-AA1D3A487C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29487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7EAC4EC-5A4C-A39F-3113-8BD870D60930}"/>
              </a:ext>
            </a:extLst>
          </p:cNvPr>
          <p:cNvCxnSpPr/>
          <p:nvPr userDrawn="1"/>
        </p:nvCxnSpPr>
        <p:spPr>
          <a:xfrm>
            <a:off x="8309963" y="1602354"/>
            <a:ext cx="0" cy="457968"/>
          </a:xfrm>
          <a:prstGeom prst="line">
            <a:avLst/>
          </a:prstGeom>
          <a:ln w="63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8FE77A04-10B2-EAE1-2FCE-5AB3751DB91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29188" y="936099"/>
            <a:ext cx="5038275" cy="666255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50">
            <a:extLst>
              <a:ext uri="{FF2B5EF4-FFF2-40B4-BE49-F238E27FC236}">
                <a16:creationId xmlns:a16="http://schemas.microsoft.com/office/drawing/2014/main" id="{0E7183FD-C141-721D-E11C-36C38D10D7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29188" y="2311433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0">
            <a:extLst>
              <a:ext uri="{FF2B5EF4-FFF2-40B4-BE49-F238E27FC236}">
                <a16:creationId xmlns:a16="http://schemas.microsoft.com/office/drawing/2014/main" id="{EBE21D71-8D6E-D200-15B5-116085D773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29188" y="2873966"/>
            <a:ext cx="5038275" cy="1832858"/>
          </a:xfrm>
        </p:spPr>
        <p:txBody>
          <a:bodyPr numCol="2" spcCol="108000"/>
          <a:lstStyle>
            <a:lvl1pPr>
              <a:lnSpc>
                <a:spcPct val="90000"/>
              </a:lnSpc>
              <a:spcAft>
                <a:spcPts val="0"/>
              </a:spcAft>
              <a:defRPr sz="907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363"/>
              </a:spcBef>
              <a:spcAft>
                <a:spcPts val="181"/>
              </a:spcAft>
              <a:defRPr sz="816" b="1">
                <a:solidFill>
                  <a:schemeClr val="bg1"/>
                </a:solidFill>
              </a:defRPr>
            </a:lvl2pPr>
            <a:lvl3pPr marL="123855" indent="-79210">
              <a:spcAft>
                <a:spcPts val="181"/>
              </a:spcAft>
              <a:buFont typeface="Arial" panose="020B0604020202020204" pitchFamily="34" charset="0"/>
              <a:buChar char="•"/>
              <a:tabLst/>
              <a:defRPr sz="816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 err="1"/>
              <a:t>gggg</a:t>
            </a:r>
            <a:endParaRPr lang="fr-FR"/>
          </a:p>
        </p:txBody>
      </p:sp>
      <p:sp>
        <p:nvSpPr>
          <p:cNvPr id="54" name="Espace réservé du texte 50">
            <a:extLst>
              <a:ext uri="{FF2B5EF4-FFF2-40B4-BE49-F238E27FC236}">
                <a16:creationId xmlns:a16="http://schemas.microsoft.com/office/drawing/2014/main" id="{AD2A89DE-3583-6C83-1E82-AC47ABA7C1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9188" y="5633951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61CEC8BF-0762-CED3-DF3D-1F0C587D8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23745" y="4071435"/>
            <a:ext cx="977860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DDD58C22-2ACF-73DE-813E-AFFAAD5EFE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3426726" y="4071435"/>
            <a:ext cx="992340" cy="925932"/>
          </a:xfrm>
          <a:custGeom>
            <a:avLst/>
            <a:gdLst>
              <a:gd name="connsiteX0" fmla="*/ 0 w 870236"/>
              <a:gd name="connsiteY0" fmla="*/ 0 h 1020669"/>
              <a:gd name="connsiteX1" fmla="*/ 870236 w 870236"/>
              <a:gd name="connsiteY1" fmla="*/ 0 h 1020669"/>
              <a:gd name="connsiteX2" fmla="*/ 870236 w 870236"/>
              <a:gd name="connsiteY2" fmla="*/ 1020669 h 1020669"/>
              <a:gd name="connsiteX3" fmla="*/ 0 w 870236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236" h="1020669">
                <a:moveTo>
                  <a:pt x="0" y="0"/>
                </a:moveTo>
                <a:lnTo>
                  <a:pt x="870236" y="0"/>
                </a:lnTo>
                <a:lnTo>
                  <a:pt x="870236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F0CA81EE-DF97-9F9A-D740-40F379CA81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623745" y="5305272"/>
            <a:ext cx="2085569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9" name="Espace réservé du texte 34">
            <a:extLst>
              <a:ext uri="{FF2B5EF4-FFF2-40B4-BE49-F238E27FC236}">
                <a16:creationId xmlns:a16="http://schemas.microsoft.com/office/drawing/2014/main" id="{DE775849-5F33-F813-E110-0180E18AB2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97187" y="5773236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34">
            <a:extLst>
              <a:ext uri="{FF2B5EF4-FFF2-40B4-BE49-F238E27FC236}">
                <a16:creationId xmlns:a16="http://schemas.microsoft.com/office/drawing/2014/main" id="{587F2DB5-453D-6EAA-E8E1-DD185B2365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3616" y="4545200"/>
            <a:ext cx="1292664" cy="457968"/>
          </a:xfrm>
        </p:spPr>
        <p:txBody>
          <a:bodyPr anchor="b"/>
          <a:lstStyle>
            <a:lvl1pPr>
              <a:defRPr lang="fr-FR" sz="635" b="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 algn="l" defTabSz="894352" rtl="0" eaLnBrk="0" fontAlgn="base" hangingPunct="0">
              <a:spcBef>
                <a:spcPct val="0"/>
              </a:spcBef>
              <a:spcAft>
                <a:spcPts val="590"/>
              </a:spcAft>
            </a:pPr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34">
            <a:extLst>
              <a:ext uri="{FF2B5EF4-FFF2-40B4-BE49-F238E27FC236}">
                <a16:creationId xmlns:a16="http://schemas.microsoft.com/office/drawing/2014/main" id="{A707801A-C831-E5D8-D3BE-4AC6142DEB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2574" y="4545200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17114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54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998476" y="971550"/>
            <a:ext cx="7091424" cy="492596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vert="horz" lIns="0" tIns="0" rIns="0" bIns="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endParaRPr lang="en-US" sz="1000" b="0" err="1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rgbClr val="7890B0"/>
                </a:solidFill>
              </a:defRPr>
            </a:lvl1pPr>
            <a:lvl2pPr>
              <a:defRPr sz="1400">
                <a:solidFill>
                  <a:srgbClr val="7890B0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32857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b="0" kern="1200" baseline="0" dirty="0" smtClean="0">
                <a:solidFill>
                  <a:srgbClr val="624ED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20EE40B-068A-4A4D-8C36-7ABD7F8F5276}"/>
              </a:ext>
            </a:extLst>
          </p:cNvPr>
          <p:cNvSpPr txBox="1">
            <a:spLocks/>
          </p:cNvSpPr>
          <p:nvPr userDrawn="1"/>
        </p:nvSpPr>
        <p:spPr>
          <a:xfrm>
            <a:off x="11425170" y="629073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0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Right Vertical Window Image_Cobal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98476" y="1485900"/>
            <a:ext cx="5249471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998476" y="5035866"/>
            <a:ext cx="5249471" cy="850652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3BD1F9C-C7CA-4162-BCD4-0E8701D3007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22732" y="431801"/>
            <a:ext cx="3770792" cy="5454717"/>
          </a:xfrm>
          <a:solidFill>
            <a:srgbClr val="000000">
              <a:alpha val="20000"/>
            </a:srgbClr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Freeform 19">
            <a:extLst>
              <a:ext uri="{FF2B5EF4-FFF2-40B4-BE49-F238E27FC236}">
                <a16:creationId xmlns:a16="http://schemas.microsoft.com/office/drawing/2014/main" id="{91BD7904-A0EC-4665-99EF-039A51C5C5B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43180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963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C Aesthetics - 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0A07396-39A0-44BC-BBB0-91218DCD3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10" y="3232298"/>
            <a:ext cx="3776330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1549099-4B1F-491F-9539-FAFD3186F07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9210" y="2411754"/>
            <a:ext cx="7536116" cy="4716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Marcador de gráfico 11">
            <a:extLst>
              <a:ext uri="{FF2B5EF4-FFF2-40B4-BE49-F238E27FC236}">
                <a16:creationId xmlns:a16="http://schemas.microsoft.com/office/drawing/2014/main" id="{7815255D-2E8A-4313-AAE0-ED18B1CC25D2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890977" y="3232150"/>
            <a:ext cx="6462823" cy="2825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Cliquez sur l'icône pour ajouter un graphique</a:t>
            </a:r>
            <a:endParaRPr lang="en-US"/>
          </a:p>
        </p:txBody>
      </p:sp>
      <p:sp>
        <p:nvSpPr>
          <p:cNvPr id="13" name="Título 8">
            <a:extLst>
              <a:ext uri="{FF2B5EF4-FFF2-40B4-BE49-F238E27FC236}">
                <a16:creationId xmlns:a16="http://schemas.microsoft.com/office/drawing/2014/main" id="{E0F03536-10F4-4965-87BA-5AE45B3B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10" y="1177498"/>
            <a:ext cx="7537704" cy="1160260"/>
          </a:xfrm>
          <a:prstGeom prst="rect">
            <a:avLst/>
          </a:prstGeom>
        </p:spPr>
        <p:txBody>
          <a:bodyPr anchor="b"/>
          <a:lstStyle>
            <a:lvl1pPr>
              <a:defRPr sz="4000"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Título 8">
            <a:extLst>
              <a:ext uri="{FF2B5EF4-FFF2-40B4-BE49-F238E27FC236}">
                <a16:creationId xmlns:a16="http://schemas.microsoft.com/office/drawing/2014/main" id="{0B02C539-F825-45BB-BB35-CF1FFCA81F33}"/>
              </a:ext>
            </a:extLst>
          </p:cNvPr>
          <p:cNvSpPr txBox="1">
            <a:spLocks/>
          </p:cNvSpPr>
          <p:nvPr userDrawn="1"/>
        </p:nvSpPr>
        <p:spPr>
          <a:xfrm>
            <a:off x="248816" y="6373568"/>
            <a:ext cx="1828801" cy="20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24826"/>
                </a:solidFill>
                <a:latin typeface="+mn-lt"/>
                <a:ea typeface="Source Sans Pro SemiBold" panose="020B0603030403020204" pitchFamily="34" charset="0"/>
                <a:cs typeface="+mj-cs"/>
              </a:defRPr>
            </a:lvl1pPr>
          </a:lstStyle>
          <a:p>
            <a:r>
              <a:rPr lang="en-US" sz="1000">
                <a:latin typeface="Source Sans Pro" panose="020B0503030403020204" pitchFamily="34" charset="0"/>
                <a:ea typeface="Source Sans Pro" panose="020B0503030403020204" pitchFamily="34" charset="0"/>
              </a:rPr>
              <a:t>CONFIDENTIAL &amp; RESTRICTED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4281DD6-B99A-4EFB-B8D7-364C35643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8189" y="315870"/>
            <a:ext cx="1054454" cy="105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3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C Aesthetics - 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0A07396-39A0-44BC-BBB0-91218DCD3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10" y="3232298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1549099-4B1F-491F-9539-FAFD3186F07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9210" y="2411754"/>
            <a:ext cx="7536116" cy="4716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D294578-D0AA-4FB1-888C-5B000F0673E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48703" y="3232296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54FEB7EF-5A1B-4A4B-968C-8E8DF178796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178196" y="3232296"/>
            <a:ext cx="3517618" cy="28258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ES"/>
          </a:p>
        </p:txBody>
      </p:sp>
      <p:sp>
        <p:nvSpPr>
          <p:cNvPr id="14" name="Título 8">
            <a:extLst>
              <a:ext uri="{FF2B5EF4-FFF2-40B4-BE49-F238E27FC236}">
                <a16:creationId xmlns:a16="http://schemas.microsoft.com/office/drawing/2014/main" id="{D5A9BA77-5974-4E5B-BA43-01F7F28D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10" y="1177498"/>
            <a:ext cx="7537704" cy="1160260"/>
          </a:xfrm>
          <a:prstGeom prst="rect">
            <a:avLst/>
          </a:prstGeom>
        </p:spPr>
        <p:txBody>
          <a:bodyPr anchor="b"/>
          <a:lstStyle>
            <a:lvl1pPr>
              <a:defRPr sz="4000">
                <a:latin typeface="Source Sans Pro SemiBold" panose="020B0603030403020204" pitchFamily="34" charset="0"/>
                <a:ea typeface="Source Sans Pro SemiBold" panose="020B0603030403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Título 8">
            <a:extLst>
              <a:ext uri="{FF2B5EF4-FFF2-40B4-BE49-F238E27FC236}">
                <a16:creationId xmlns:a16="http://schemas.microsoft.com/office/drawing/2014/main" id="{1540CA80-4200-46C5-A6F8-C73CDF1083E8}"/>
              </a:ext>
            </a:extLst>
          </p:cNvPr>
          <p:cNvSpPr txBox="1">
            <a:spLocks/>
          </p:cNvSpPr>
          <p:nvPr userDrawn="1"/>
        </p:nvSpPr>
        <p:spPr>
          <a:xfrm>
            <a:off x="248816" y="6373568"/>
            <a:ext cx="1828801" cy="204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E24826"/>
                </a:solidFill>
                <a:latin typeface="+mn-lt"/>
                <a:ea typeface="Source Sans Pro SemiBold" panose="020B0603030403020204" pitchFamily="34" charset="0"/>
                <a:cs typeface="+mj-cs"/>
              </a:defRPr>
            </a:lvl1pPr>
          </a:lstStyle>
          <a:p>
            <a:r>
              <a:rPr lang="en-US" sz="1000">
                <a:latin typeface="Source Sans Pro" panose="020B0503030403020204" pitchFamily="34" charset="0"/>
                <a:ea typeface="Source Sans Pro" panose="020B0503030403020204" pitchFamily="34" charset="0"/>
              </a:rPr>
              <a:t>CONFIDENTIAL &amp; RESTRICTED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F979FFA-AAA8-4997-A618-E9B1DAEEAE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8189" y="315870"/>
            <a:ext cx="1054454" cy="105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2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49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spc="-5">
                <a:solidFill>
                  <a:schemeClr val="tx1"/>
                </a:solidFill>
                <a:latin typeface="+mn-lt"/>
                <a:ea typeface="+mn-ea"/>
                <a:cs typeface="Arial"/>
              </a:rPr>
              <a:t>© 2025 KPMG ADVISORY, a French simplified joint stock company (société par actions simplifiée) and a member firm of the KPMG global organization of independent member firms affiliated with KPMG International Limited, a Private English company limited by guarantee. All rights reserved. The KPMG name and logo are trademarks used under license by the independent member firms of the KPMG global organization.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75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1102" y="431800"/>
            <a:ext cx="11156554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1330126"/>
            <a:ext cx="11155755" cy="4727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1429207" y="629073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00" smtClean="0">
                <a:solidFill>
                  <a:schemeClr val="accent3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900">
              <a:solidFill>
                <a:schemeClr val="accent3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8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3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orient="horz" pos="3816">
          <p15:clr>
            <a:srgbClr val="F26B43"/>
          </p15:clr>
        </p15:guide>
        <p15:guide id="8" pos="7355">
          <p15:clr>
            <a:srgbClr val="F26B43"/>
          </p15:clr>
        </p15:guide>
        <p15:guide id="9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7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4841" y="1764699"/>
            <a:ext cx="5719338" cy="3157498"/>
          </a:xfrm>
        </p:spPr>
        <p:txBody>
          <a:bodyPr/>
          <a:lstStyle/>
          <a:p>
            <a:r>
              <a:rPr lang="en-US" sz="6000" noProof="0"/>
              <a:t>SAP</a:t>
            </a:r>
            <a:br>
              <a:rPr lang="en-US" sz="6000" noProof="0"/>
            </a:br>
            <a:r>
              <a:rPr lang="en-US" sz="6000" noProof="0"/>
              <a:t> – </a:t>
            </a:r>
            <a:br>
              <a:rPr lang="en-US" sz="6000" noProof="0"/>
            </a:br>
            <a:r>
              <a:rPr lang="en-US" sz="6000"/>
              <a:t>D</a:t>
            </a:r>
            <a:r>
              <a:rPr lang="en-US" sz="6000" noProof="0"/>
              <a:t>emonstration feedback</a:t>
            </a:r>
            <a:br>
              <a:rPr lang="en-US" noProof="0"/>
            </a:br>
            <a:br>
              <a:rPr lang="en-US" sz="2000" noProof="0"/>
            </a:br>
            <a:br>
              <a:rPr lang="en-US" sz="2000" noProof="0"/>
            </a:br>
            <a:br>
              <a:rPr lang="en-US" sz="2400"/>
            </a:br>
            <a:br>
              <a:rPr lang="en-US" b="1">
                <a:solidFill>
                  <a:srgbClr val="FFFFFF"/>
                </a:solidFill>
                <a:latin typeface="Arial"/>
              </a:rPr>
            </a:br>
            <a:r>
              <a:rPr lang="en-US" sz="1600" b="1">
                <a:solidFill>
                  <a:srgbClr val="FFFFFF"/>
                </a:solidFill>
                <a:latin typeface="Arial"/>
              </a:rPr>
              <a:t>16/02/2026</a:t>
            </a:r>
            <a:br>
              <a:rPr lang="en-US" sz="1600" b="1">
                <a:solidFill>
                  <a:srgbClr val="FFFFFF"/>
                </a:solidFill>
                <a:latin typeface="Arial"/>
              </a:rPr>
            </a:br>
            <a:endParaRPr lang="en-US" noProof="0">
              <a:highlight>
                <a:srgbClr val="FF00FF"/>
              </a:highligh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body" sz="quarter" idx="11"/>
          </p:nvPr>
        </p:nvSpPr>
        <p:spPr>
          <a:xfrm>
            <a:off x="1274841" y="5251269"/>
            <a:ext cx="5719338" cy="310884"/>
          </a:xfrm>
        </p:spPr>
        <p:txBody>
          <a:bodyPr/>
          <a:lstStyle/>
          <a:p>
            <a:pPr lvl="1"/>
            <a:endParaRPr lang="en-US" noProof="0"/>
          </a:p>
          <a:p>
            <a:pPr lvl="1"/>
            <a:r>
              <a:rPr lang="en-US" b="1" noProof="0"/>
              <a:t>KPMG. Make the Difference.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23BCEAA-8B8F-C726-A581-F07F45FE6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  <p:sp>
        <p:nvSpPr>
          <p:cNvPr id="3" name="Subtitle 4">
            <a:extLst>
              <a:ext uri="{FF2B5EF4-FFF2-40B4-BE49-F238E27FC236}">
                <a16:creationId xmlns:a16="http://schemas.microsoft.com/office/drawing/2014/main" id="{B39AEAC4-6214-AFCB-36D1-A6441DD17393}"/>
              </a:ext>
            </a:extLst>
          </p:cNvPr>
          <p:cNvSpPr txBox="1">
            <a:spLocks/>
          </p:cNvSpPr>
          <p:nvPr/>
        </p:nvSpPr>
        <p:spPr>
          <a:xfrm>
            <a:off x="1274841" y="4596711"/>
            <a:ext cx="4199166" cy="810000"/>
          </a:xfrm>
          <a:prstGeom prst="rect">
            <a:avLst/>
          </a:prstGeom>
          <a:ln w="3175">
            <a:noFill/>
            <a:prstDash val="lgDash"/>
          </a:ln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-"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1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27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7656-88C1-6A98-89B3-41E8B6C4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F5F6-6AAB-20A9-965C-48F8C563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/>
          <a:lstStyle/>
          <a:p>
            <a:r>
              <a:rPr lang="fr-FR"/>
              <a:t>SAP - </a:t>
            </a:r>
            <a:r>
              <a:rPr lang="fr-FR" err="1"/>
              <a:t>Demonstration</a:t>
            </a:r>
            <a:r>
              <a:rPr lang="fr-FR"/>
              <a:t> Feedback</a:t>
            </a:r>
          </a:p>
        </p:txBody>
      </p:sp>
      <p:graphicFrame>
        <p:nvGraphicFramePr>
          <p:cNvPr id="3" name="Tableau 97">
            <a:extLst>
              <a:ext uri="{FF2B5EF4-FFF2-40B4-BE49-F238E27FC236}">
                <a16:creationId xmlns:a16="http://schemas.microsoft.com/office/drawing/2014/main" id="{B244BFAB-4E49-C5A8-DEF7-5B66D9E81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738351"/>
              </p:ext>
            </p:extLst>
          </p:nvPr>
        </p:nvGraphicFramePr>
        <p:xfrm>
          <a:off x="998400" y="893746"/>
          <a:ext cx="10762750" cy="5042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2375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3955250">
                  <a:extLst>
                    <a:ext uri="{9D8B030D-6E8A-4147-A177-3AD203B41FA5}">
                      <a16:colId xmlns:a16="http://schemas.microsoft.com/office/drawing/2014/main" val="2100788058"/>
                    </a:ext>
                  </a:extLst>
                </a:gridCol>
                <a:gridCol w="4845125">
                  <a:extLst>
                    <a:ext uri="{9D8B030D-6E8A-4147-A177-3AD203B41FA5}">
                      <a16:colId xmlns:a16="http://schemas.microsoft.com/office/drawing/2014/main" val="3052496396"/>
                    </a:ext>
                  </a:extLst>
                </a:gridCol>
              </a:tblGrid>
              <a:tr h="234554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Point to </a:t>
                      </a:r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investigate</a:t>
                      </a:r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V2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208492">
                <a:tc gridSpan="3">
                  <a:txBody>
                    <a:bodyPr/>
                    <a:lstStyle/>
                    <a:p>
                      <a:pPr algn="l"/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Technical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aspect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857451"/>
                  </a:ext>
                </a:extLst>
              </a:tr>
              <a:tr h="312739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 master data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Participants would have liked more detail on how the item/material master data is managed in SAP.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a short demo video or a single slide explaining SAP item/master data management.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751226"/>
                  </a:ext>
                </a:extLst>
              </a:tr>
              <a:tr h="334457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 solution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Teams felt the proposed BI solution did not match </a:t>
                      </a:r>
                      <a:r>
                        <a:rPr lang="en-US" sz="9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Abivax’s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needs.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Propose an alternative architecture with another BI solution rather than a full SAP lock in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Organize a dedicated session to see reporting possibilities inside SAP BI module for P2P and finance process (1 hour call)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781442"/>
                  </a:ext>
                </a:extLst>
              </a:tr>
              <a:tr h="430016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solution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found the AI solution description and the call/approach to AI options too vague.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more details on the AI tools used (including the predictive approach).Clarify contractual safeguards to govern the use of AI models and prevent the activation/use of unwanted AI features or functionalities.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444902"/>
                  </a:ext>
                </a:extLst>
              </a:tr>
              <a:tr h="2131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FX rate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wants more clarification on the FX rate process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more explication on 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the FX rate is managed by the system.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578350"/>
                  </a:ext>
                </a:extLst>
              </a:tr>
              <a:tr h="5690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Invoice record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wants more clarification on the invoice record process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more explication on 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 invoices record are done, is it automatically proposed from which DATA Source it comes from ? </a:t>
                      </a:r>
                    </a:p>
                    <a:p>
                      <a:pPr marL="628650" lvl="1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 it possible to implement a rule (ex : to do hedge accounting).for Budget, PO, how it is input.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980741"/>
                  </a:ext>
                </a:extLst>
              </a:tr>
              <a:tr h="312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Rules implementation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wants more clarification on the rules implementation functionality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more explication on 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rules implementation functionality, Is it possible to implement a rule (ex : to do hedge accounting).?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045985"/>
                  </a:ext>
                </a:extLst>
              </a:tr>
              <a:tr h="451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Agicap</a:t>
                      </a: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integration</a:t>
                      </a:r>
                      <a:endParaRPr lang="fr-FR" sz="9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 is unclear whether an </a:t>
                      </a:r>
                      <a:r>
                        <a:rPr lang="en-US" sz="9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Agicap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connection/integration exists; this needs to be investigated.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proof points of an existing Agicap integration/connection if it has already been implemented.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According to you what should be in the TMS and what should be in the ERP ?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852720"/>
                  </a:ext>
                </a:extLst>
              </a:tr>
              <a:tr h="208492">
                <a:tc gridSpan="3">
                  <a:txBody>
                    <a:bodyPr/>
                    <a:lstStyle/>
                    <a:p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feedbacks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262813"/>
                  </a:ext>
                </a:extLst>
              </a:tr>
              <a:tr h="416894">
                <a:tc>
                  <a:txBody>
                    <a:bodyPr/>
                    <a:lstStyle/>
                    <a:p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9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workload</a:t>
                      </a:r>
                      <a:endParaRPr lang="fr-FR" sz="9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proposal was not specific enough regarding the workload expected from </a:t>
                      </a:r>
                      <a:r>
                        <a:rPr lang="en-US" sz="9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teams.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Reassess/increase the Abivax effort assumptions, as the current estimate is insufficient and unrealistic to ensure a secure, controlled transformation. 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Call to be organized (1h call)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077187"/>
                  </a:ext>
                </a:extLst>
              </a:tr>
              <a:tr h="334457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Change management support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Teams would like stronger change management support, especially for operational teams.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Strengthen the change management support proposal 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not expected for now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665501"/>
                  </a:ext>
                </a:extLst>
              </a:tr>
              <a:tr h="312739">
                <a:tc>
                  <a:txBody>
                    <a:bodyPr/>
                    <a:lstStyle/>
                    <a:p>
                      <a:r>
                        <a:rPr lang="fr-FR" sz="9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TMA / AMS (support &amp; maintenance)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TMA context for Abivax is special due to it’s dual timestamp (US/France).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Specify the US/FR support coverage and processes</a:t>
                      </a:r>
                      <a:r>
                        <a:rPr lang="en-US" sz="9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 clarified in session / no need to answer</a:t>
                      </a:r>
                      <a:endParaRPr lang="fr-FR" sz="9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364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378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46CF-D308-B021-EF89-EF41C05E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0E03-0FC2-1A6A-1CC1-AEED40EC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SAP – Financial </a:t>
            </a:r>
            <a:r>
              <a:rPr lang="fr-FR" err="1"/>
              <a:t>proposal</a:t>
            </a:r>
            <a:r>
              <a:rPr lang="fr-FR"/>
              <a:t> Feedback</a:t>
            </a:r>
          </a:p>
        </p:txBody>
      </p:sp>
      <p:graphicFrame>
        <p:nvGraphicFramePr>
          <p:cNvPr id="3" name="Tableau 97">
            <a:extLst>
              <a:ext uri="{FF2B5EF4-FFF2-40B4-BE49-F238E27FC236}">
                <a16:creationId xmlns:a16="http://schemas.microsoft.com/office/drawing/2014/main" id="{EA942011-934D-33B3-0AA3-FDC620C84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409230"/>
              </p:ext>
            </p:extLst>
          </p:nvPr>
        </p:nvGraphicFramePr>
        <p:xfrm>
          <a:off x="1038725" y="944545"/>
          <a:ext cx="10400801" cy="52074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1089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5599233">
                  <a:extLst>
                    <a:ext uri="{9D8B030D-6E8A-4147-A177-3AD203B41FA5}">
                      <a16:colId xmlns:a16="http://schemas.microsoft.com/office/drawing/2014/main" val="192441584"/>
                    </a:ext>
                  </a:extLst>
                </a:gridCol>
                <a:gridCol w="3520479">
                  <a:extLst>
                    <a:ext uri="{9D8B030D-6E8A-4147-A177-3AD203B41FA5}">
                      <a16:colId xmlns:a16="http://schemas.microsoft.com/office/drawing/2014/main" val="3503782821"/>
                    </a:ext>
                  </a:extLst>
                </a:gridCol>
              </a:tblGrid>
              <a:tr h="460607"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Point to </a:t>
                      </a:r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investigate</a:t>
                      </a:r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Hypothesis</a:t>
                      </a:r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clarification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 V2 (ABIVAX expectations)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233924">
                <a:tc gridSpan="3">
                  <a:txBody>
                    <a:bodyPr/>
                    <a:lstStyle/>
                    <a:p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</a:t>
                      </a:r>
                      <a:r>
                        <a:rPr lang="fr-FR" sz="10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proposal</a:t>
                      </a:r>
                      <a:r>
                        <a:rPr lang="fr-FR" sz="10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0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716143"/>
                  </a:ext>
                </a:extLst>
              </a:tr>
              <a:tr h="526330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 Management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Higher risk of delaying planning with insufficient project management (one month of postpone  100K€ of project) 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decision to strengthen the PMO part / normally between 12% and 15% of total build costs)</a:t>
                      </a:r>
                      <a:endParaRPr lang="fr-FR" sz="1000" b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project management budget by focusing only on integrator role regarding project management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922356"/>
                  </a:ext>
                </a:extLst>
              </a:tr>
              <a:tr h="1086774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&amp; </a:t>
                      </a:r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implementation</a:t>
                      </a:r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is way higher for SAP / kPMG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standard: KPMG/SAP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Interfaces : 50/50 except for Concur (100% KPMG/SAP) and exchange rate (ABIVAX 100%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Forms / Editions = All KPMG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Extensions = All KPMG</a:t>
                      </a:r>
                    </a:p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Workflows = Abivax (KPMG assisting)</a:t>
                      </a:r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Answered in session: Possible to review the RACI for Forms and extensions / nothing to change for now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39082"/>
                  </a:ext>
                </a:extLst>
              </a:tr>
              <a:tr h="301728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Acceptance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(KPMG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assisting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 – 84K€?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of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hymothesis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of assistance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suring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acceptance phase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62292"/>
                  </a:ext>
                </a:extLst>
              </a:tr>
              <a:tr h="526330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</a:t>
                      </a:r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recovery</a:t>
                      </a:r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/ Training / </a:t>
                      </a:r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reversibility</a:t>
                      </a:r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recovery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: KPMG 4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loading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production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loading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 :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only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key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users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training (end </a:t>
                      </a:r>
                      <a:r>
                        <a:rPr lang="fr-FR" sz="1000" b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users</a:t>
                      </a:r>
                      <a:r>
                        <a:rPr lang="fr-FR" sz="10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by ABIVAX)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details on dedicated price line for those 3 items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65572"/>
                  </a:ext>
                </a:extLst>
              </a:tr>
              <a:tr h="477030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</a:t>
                      </a:r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invoicing</a:t>
                      </a:r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requirements needed to review the budget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823464"/>
                  </a:ext>
                </a:extLst>
              </a:tr>
              <a:tr h="477030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SaaS </a:t>
                      </a:r>
                      <a:r>
                        <a:rPr lang="fr-FR" sz="1000" b="1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rent</a:t>
                      </a:r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details regarding the initial discount proposed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389310"/>
                  </a:ext>
                </a:extLst>
              </a:tr>
              <a:tr h="526330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Abivax workload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Organize a dedicated call to review the ABIVA workload hypothesis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330110"/>
                  </a:ext>
                </a:extLst>
              </a:tr>
              <a:tr h="380127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mandays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0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high total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mandays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 KPMG VS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competitor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 impact of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nearshore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clarified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in session / no expectation at </a:t>
                      </a:r>
                      <a:r>
                        <a:rPr lang="fr-FR" sz="10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this</a:t>
                      </a:r>
                      <a:r>
                        <a:rPr lang="fr-FR" sz="1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a:t> stage</a:t>
                      </a:r>
                      <a:endParaRPr lang="fr-FR" sz="1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932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02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6F8B5F-5DA7-D31B-5D36-1064DAD3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Credentials</a:t>
            </a:r>
            <a:r>
              <a:rPr lang="fr-FR"/>
              <a:t> contacts</a:t>
            </a:r>
          </a:p>
        </p:txBody>
      </p:sp>
      <p:graphicFrame>
        <p:nvGraphicFramePr>
          <p:cNvPr id="4" name="Tableau 97">
            <a:extLst>
              <a:ext uri="{FF2B5EF4-FFF2-40B4-BE49-F238E27FC236}">
                <a16:creationId xmlns:a16="http://schemas.microsoft.com/office/drawing/2014/main" id="{957EFA53-C686-A31C-C7DC-ED282A034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017661"/>
              </p:ext>
            </p:extLst>
          </p:nvPr>
        </p:nvGraphicFramePr>
        <p:xfrm>
          <a:off x="1038724" y="1367332"/>
          <a:ext cx="9008789" cy="1602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932">
                  <a:extLst>
                    <a:ext uri="{9D8B030D-6E8A-4147-A177-3AD203B41FA5}">
                      <a16:colId xmlns:a16="http://schemas.microsoft.com/office/drawing/2014/main" val="1903865753"/>
                    </a:ext>
                  </a:extLst>
                </a:gridCol>
                <a:gridCol w="6411857">
                  <a:extLst>
                    <a:ext uri="{9D8B030D-6E8A-4147-A177-3AD203B41FA5}">
                      <a16:colId xmlns:a16="http://schemas.microsoft.com/office/drawing/2014/main" val="1181499086"/>
                    </a:ext>
                  </a:extLst>
                </a:gridCol>
              </a:tblGrid>
              <a:tr h="265887">
                <a:tc>
                  <a:txBody>
                    <a:bodyPr/>
                    <a:lstStyle/>
                    <a:p>
                      <a:pPr algn="ctr"/>
                      <a:r>
                        <a:rPr lang="fr-FR" sz="1200" b="1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Credential</a:t>
                      </a:r>
                      <a:endParaRPr lang="fr-FR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9D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200" b="1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Contact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38099">
                      <a:solidFill>
                        <a:schemeClr val="bg1"/>
                      </a:solidFill>
                    </a:lnT>
                    <a:lnB w="38099">
                      <a:solidFill>
                        <a:schemeClr val="bg1"/>
                      </a:solidFill>
                    </a:lnB>
                    <a:solidFill>
                      <a:srgbClr val="6959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49137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Doctolib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38099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922356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000" b="1">
                          <a:latin typeface="Calibri"/>
                          <a:ea typeface="Calibri"/>
                          <a:cs typeface="Calibri"/>
                        </a:rPr>
                        <a:t>H2air</a:t>
                      </a:r>
                    </a:p>
                  </a:txBody>
                  <a:tcPr>
                    <a:lnL w="38099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504460"/>
                  </a:ext>
                </a:extLst>
              </a:tr>
              <a:tr h="442625">
                <a:tc>
                  <a:txBody>
                    <a:bodyPr/>
                    <a:lstStyle/>
                    <a:p>
                      <a:r>
                        <a:rPr lang="fr-FR" sz="1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Cerba Research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5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Aft>
                          <a:spcPts val="200"/>
                        </a:spcAft>
                        <a:buFont typeface="Arial"/>
                        <a:buChar char="•"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</a:rPr>
                        <a:t>TBD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099">
                      <a:solidFill>
                        <a:schemeClr val="bg1"/>
                      </a:solidFill>
                    </a:lnR>
                    <a:lnT w="12700">
                      <a:solidFill>
                        <a:srgbClr val="6959D5"/>
                      </a:solidFill>
                    </a:lnT>
                    <a:lnB w="12700">
                      <a:solidFill>
                        <a:srgbClr val="6959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56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04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7139-43FC-33A7-98F5-3EB0E166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7DB75A-2350-49AB-1AE1-2CA6E5BF1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476" y="1785554"/>
            <a:ext cx="6839238" cy="2482099"/>
          </a:xfrm>
        </p:spPr>
        <p:txBody>
          <a:bodyPr anchor="ctr"/>
          <a:lstStyle/>
          <a:p>
            <a:pPr algn="ctr">
              <a:spcAft>
                <a:spcPts val="300"/>
              </a:spcAft>
            </a:pPr>
            <a:r>
              <a:rPr lang="en-US" sz="4800" noProof="0"/>
              <a:t>Thank you !</a:t>
            </a:r>
            <a:endParaRPr lang="en-US" sz="5400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2D56E-0166-DEAD-A43B-44021887E3ED}"/>
              </a:ext>
            </a:extLst>
          </p:cNvPr>
          <p:cNvSpPr/>
          <p:nvPr/>
        </p:nvSpPr>
        <p:spPr>
          <a:xfrm>
            <a:off x="8801262" y="820328"/>
            <a:ext cx="2964671" cy="4640239"/>
          </a:xfrm>
          <a:prstGeom prst="rect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Image 3">
            <a:extLst>
              <a:ext uri="{FF2B5EF4-FFF2-40B4-BE49-F238E27FC236}">
                <a16:creationId xmlns:a16="http://schemas.microsoft.com/office/drawing/2014/main" id="{D54A71CE-309D-1F71-F8E2-7C42774A5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7645" y="1112137"/>
            <a:ext cx="2964671" cy="463372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C1A261C-91A2-A09E-4956-5628C1ED5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276" y="463938"/>
            <a:ext cx="1598676" cy="23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2"/>
    </mc:Choice>
    <mc:Fallback xmlns="">
      <p:transition spd="slow" advTm="2102"/>
    </mc:Fallback>
  </mc:AlternateContent>
</p:sld>
</file>

<file path=ppt/theme/theme1.xml><?xml version="1.0" encoding="utf-8"?>
<a:theme xmlns:a="http://schemas.openxmlformats.org/drawingml/2006/main" name="KPMG Widescreen [16:9] Feb 2022">
  <a:themeElements>
    <a:clrScheme name="Personnalisé 2">
      <a:dk1>
        <a:srgbClr val="0C233C"/>
      </a:dk1>
      <a:lt1>
        <a:srgbClr val="FFFFFF"/>
      </a:lt1>
      <a:dk2>
        <a:srgbClr val="00338D"/>
      </a:dk2>
      <a:lt2>
        <a:srgbClr val="E5E5E5"/>
      </a:lt2>
      <a:accent1>
        <a:srgbClr val="0C233C"/>
      </a:accent1>
      <a:accent2>
        <a:srgbClr val="0C233C"/>
      </a:accent2>
      <a:accent3>
        <a:srgbClr val="0C233C"/>
      </a:accent3>
      <a:accent4>
        <a:srgbClr val="0C233C"/>
      </a:accent4>
      <a:accent5>
        <a:srgbClr val="0C233C"/>
      </a:accent5>
      <a:accent6>
        <a:srgbClr val="0C233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FR-KPMG Widescreen Standard Template" id="{1B51785E-8CB2-4C49-BF82-F8B893A8BF8A}" vid="{BB1EADD7-D62E-43AE-ACDD-F64DD4BB6E35}"/>
    </a:ext>
  </a:extLst>
</a:theme>
</file>

<file path=ppt/theme/theme2.xml><?xml version="1.0" encoding="utf-8"?>
<a:theme xmlns:a="http://schemas.openxmlformats.org/drawingml/2006/main" name="3_KPMG Widescreen [16:9] Feb 2022">
  <a:themeElements>
    <a:clrScheme name="KPMG New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53e506-aea2-40df-8810-09f86a3d725d" xsi:nil="true"/>
    <lcf76f155ced4ddcb4097134ff3c332f xmlns="38f7e399-e057-480d-bf58-a131d3470fe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E463A34C58B48BE33A14B0FA1E653" ma:contentTypeVersion="11" ma:contentTypeDescription="Create a new document." ma:contentTypeScope="" ma:versionID="74603d0dc0b4edf2429df7069483f5ca">
  <xsd:schema xmlns:xsd="http://www.w3.org/2001/XMLSchema" xmlns:xs="http://www.w3.org/2001/XMLSchema" xmlns:p="http://schemas.microsoft.com/office/2006/metadata/properties" xmlns:ns2="38f7e399-e057-480d-bf58-a131d3470fe8" xmlns:ns3="f253e506-aea2-40df-8810-09f86a3d725d" targetNamespace="http://schemas.microsoft.com/office/2006/metadata/properties" ma:root="true" ma:fieldsID="15f78840a7f0e6bf64ecea17a85adc23" ns2:_="" ns3:_="">
    <xsd:import namespace="38f7e399-e057-480d-bf58-a131d3470fe8"/>
    <xsd:import namespace="f253e506-aea2-40df-8810-09f86a3d72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7e399-e057-480d-bf58-a131d3470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e72897-25bb-4cd1-b9ab-f1a8d4e29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3e506-aea2-40df-8810-09f86a3d72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2955704-7c2c-4e3f-9de3-52e40fe2617c}" ma:internalName="TaxCatchAll" ma:showField="CatchAllData" ma:web="f253e506-aea2-40df-8810-09f86a3d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5EE831-4F0D-4C75-9A8C-0719896711D5}">
  <ds:schemaRefs>
    <ds:schemaRef ds:uri="3f2eb478-941e-4976-97fc-4cb7dd3a95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253e506-aea2-40df-8810-09f86a3d725d"/>
    <ds:schemaRef ds:uri="38f7e399-e057-480d-bf58-a131d3470fe8"/>
  </ds:schemaRefs>
</ds:datastoreItem>
</file>

<file path=customXml/itemProps2.xml><?xml version="1.0" encoding="utf-8"?>
<ds:datastoreItem xmlns:ds="http://schemas.openxmlformats.org/officeDocument/2006/customXml" ds:itemID="{C61F13BF-116C-45E2-B7C7-6D985E4F7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f7e399-e057-480d-bf58-a131d3470fe8"/>
    <ds:schemaRef ds:uri="f253e506-aea2-40df-8810-09f86a3d72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747782-843C-4FE9-A7B4-BE8A5B8A777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723fe73-2359-40d2-8c34-7e2aa7415594}" enabled="0" method="" siteId="{0723fe73-2359-40d2-8c34-7e2aa7415594}" removed="1"/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KPMG Widescreen [16:9] Feb 2022</vt:lpstr>
      <vt:lpstr>3_KPMG Widescreen [16:9] Feb 2022</vt:lpstr>
      <vt:lpstr>SAP  –  Demonstration feedback     16/02/2026 </vt:lpstr>
      <vt:lpstr>SAP - Demonstration Feedback</vt:lpstr>
      <vt:lpstr>SAP – Financial proposal Feedback</vt:lpstr>
      <vt:lpstr>Credentials contacts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2026-02-13T15:09:52Z</dcterms:created>
  <dcterms:modified xsi:type="dcterms:W3CDTF">2026-02-24T16:09:55Z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0x01010053AE463A34C58B48BE33A14B0FA1E653</vt:lpwstr>
  </property>
  <property fmtid="{D5CDD505-2E9C-101B-9397-08002B2CF9AE}" pid="3" name="MediaServiceImageTags">
    <vt:lpwstr/>
  </property>
</Properties>
</file>