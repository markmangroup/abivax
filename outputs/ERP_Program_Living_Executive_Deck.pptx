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457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600" kern="0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ABIVAX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100584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 Program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Priorities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Readiness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02920" y="3072384"/>
            <a:ext cx="5029200" cy="36576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6382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Executive Deck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34564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weekly  ·  Owner: Mike Markman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502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Updated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17920" y="7863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[Update date here]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0" y="12435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591056"/>
            <a:ext cx="91440" cy="91440"/>
          </a:xfrm>
          <a:prstGeom prst="oval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82512" y="153619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Didier Blondel (CFO / Sponsor)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2029968"/>
            <a:ext cx="91440" cy="91440"/>
          </a:xfrm>
          <a:prstGeom prst="oval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97510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Directors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468880"/>
            <a:ext cx="91440" cy="91440"/>
          </a:xfrm>
          <a:prstGeom prst="oval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24140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Committee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2907792"/>
            <a:ext cx="91440" cy="91440"/>
          </a:xfrm>
          <a:prstGeom prst="oval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82512" y="285292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Team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3493008"/>
            <a:ext cx="2834640" cy="1005840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63056" y="356616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Phase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63056" y="378561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Post-Selection →</a:t>
            </a: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Mobilization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63056" y="42611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NetSuite selected Feb 26, 2026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754880"/>
            <a:ext cx="859536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EXECUTIVE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ABIVAX ERP PROGRAM  ·  EXECUTIVE UPDATE  ·  LIVING DECK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 · Slide 1 of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 Program Mandate and Why It Matters Now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8869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Program — Living Executive Deck  ·  Update weekly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408176"/>
            <a:ext cx="4023360" cy="1261872"/>
          </a:xfrm>
          <a:prstGeom prst="rect">
            <a:avLst/>
          </a:prstGeom>
          <a:solidFill>
            <a:srgbClr val="0E1E38"/>
          </a:solidFill>
          <a:ln w="12700">
            <a:solidFill>
              <a:srgbClr val="C9A4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" y="1499616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Jan 1, 2027 Go-Live Is Non-Negotiable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" y="1837944"/>
            <a:ext cx="3767328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" y="1901952"/>
            <a:ext cx="3767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ERP target date is directly tied to US public launch (Dec 2027) and commercialization commitments. Every month of delay increases implementation risk exponentially.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408176"/>
            <a:ext cx="4023360" cy="1261872"/>
          </a:xfrm>
          <a:prstGeom prst="rect">
            <a:avLst/>
          </a:prstGeom>
          <a:solidFill>
            <a:srgbClr val="0E1E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1499616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ERP/SOX Is a 2026 Finance Priority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18888" y="1837944"/>
            <a:ext cx="3767328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18888" y="1901952"/>
            <a:ext cx="3767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Declared as a priority with direct executive sponsorship. Selection process completed Sep 2025–Feb 2026. Program now moves to mobilization and execution.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779776"/>
            <a:ext cx="4023360" cy="1261872"/>
          </a:xfrm>
          <a:prstGeom prst="rect">
            <a:avLst/>
          </a:prstGeom>
          <a:solidFill>
            <a:srgbClr val="0E1E38"/>
          </a:solidFill>
          <a:ln w="12700">
            <a:solidFill>
              <a:srgbClr val="10B981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12648" y="2871216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This Is a Business and Controls Program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" y="3209544"/>
            <a:ext cx="3767328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" y="3273552"/>
            <a:ext cx="3767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is foundational to scaling finance and controls toward commercialization. The program governs operating model design — not only a system replacement.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779776"/>
            <a:ext cx="4023360" cy="1261872"/>
          </a:xfrm>
          <a:prstGeom prst="rect">
            <a:avLst/>
          </a:prstGeom>
          <a:solidFill>
            <a:srgbClr val="0E1E3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18888" y="2871216"/>
            <a:ext cx="3767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  Near-Term Decisions Drive Delivery Certainty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18888" y="3209544"/>
            <a:ext cx="3767328" cy="9144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3273552"/>
            <a:ext cx="376732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governance quality and resourcing discipline determine delivery confidence more than vendor feature marketing. Delays in April mobilization shorten the safe delivery window.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" y="4549140"/>
            <a:ext cx="7516368" cy="18288"/>
          </a:xfrm>
          <a:prstGeom prst="rect">
            <a:avLst/>
          </a:prstGeom>
          <a:solidFill>
            <a:srgbClr val="1E3560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664" y="4507992"/>
            <a:ext cx="128016" cy="128016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64592" y="4352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26, 2026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64592" y="46268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NetSuite Selected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615184" y="4507992"/>
            <a:ext cx="128016" cy="128016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39112" y="4352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6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039112" y="46268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Cmte Deck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489704" y="4507992"/>
            <a:ext cx="128016" cy="128016"/>
          </a:xfrm>
          <a:prstGeom prst="oval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13632" y="4352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19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913632" y="46268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Update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64224" y="4507992"/>
            <a:ext cx="128016" cy="128016"/>
          </a:xfrm>
          <a:prstGeom prst="oval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88152" y="4352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788152" y="46268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Mobilization Start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8238744" y="4507992"/>
            <a:ext cx="128016" cy="128016"/>
          </a:xfrm>
          <a:prstGeom prst="oval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662672" y="435254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1, 2027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662672" y="4626864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Go-Live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ABIVAX ERP PROGRAM  ·  EXECUTIVE UPDATE  ·  LIVING DECK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Focus · Slide 2 of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ERP Priorities — The Recurring Scorecard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8869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Program — Living Executive Deck  ·  Update weekly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canonical recurring slide for executive audiences. Status indicators update each cycle. Keep terminology consistent across board, audit, and exec decks.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2606040" cy="2907792"/>
          </a:xfrm>
          <a:prstGeom prst="rect">
            <a:avLst/>
          </a:prstGeom>
          <a:solidFill>
            <a:srgbClr val="0E1E38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37360"/>
            <a:ext cx="2606040" cy="548640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17739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5216" y="20116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/ Transaction Operations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65960" y="1828800"/>
            <a:ext cx="987552" cy="256032"/>
          </a:xfrm>
          <a:prstGeom prst="rect">
            <a:avLst/>
          </a:prstGeom>
          <a:solidFill>
            <a:srgbClr val="0A1A0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182880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Phase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85216" y="2359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Modernize approval workflows, vendor master, and payment control path.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" y="27249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CFTI controls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85216" y="29626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means: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85216" y="3182112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System-enforced approval workflows</a:t>
            </a:r>
            <a:endParaRPr lang="en-US" sz="800" dirty="0"/>
          </a:p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setup/validation path defined</a:t>
            </a:r>
            <a:endParaRPr lang="en-US" sz="800" dirty="0"/>
          </a:p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traceability to approval chain</a:t>
            </a:r>
            <a:endParaRPr lang="en-US" sz="800" dirty="0"/>
          </a:p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retention by transaction type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85216" y="4315968"/>
            <a:ext cx="2368296" cy="914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5216" y="4370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building a scalable transaction engine or recreating today's manual bottlenecks?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246120" y="1737360"/>
            <a:ext cx="2606040" cy="2907792"/>
          </a:xfrm>
          <a:prstGeom prst="rect">
            <a:avLst/>
          </a:prstGeom>
          <a:solidFill>
            <a:srgbClr val="0E1E38"/>
          </a:solidFill>
          <a:ln w="12700">
            <a:solidFill>
              <a:srgbClr val="C9A44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1737360"/>
            <a:ext cx="2606040" cy="548640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74136" y="17739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74136" y="20116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Reporting / Data Model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1828800"/>
            <a:ext cx="987552" cy="256032"/>
          </a:xfrm>
          <a:prstGeom prst="rect">
            <a:avLst/>
          </a:prstGeom>
          <a:solidFill>
            <a:srgbClr val="0A1A0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182880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Phase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374136" y="2359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multi-entity, multi-GAAP, and management reporting capability.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74136" y="27249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CFTI controls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374136" y="29626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means: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374136" y="3182112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COA / cost-center design agreed</a:t>
            </a:r>
            <a:endParaRPr lang="en-US" sz="800" dirty="0"/>
          </a:p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extract supports FP&amp;A needs</a:t>
            </a:r>
            <a:endParaRPr lang="en-US" sz="800" dirty="0"/>
          </a:p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Multi-entity, FX, multi-GAAP explicitly designed</a:t>
            </a:r>
            <a:endParaRPr lang="en-US" sz="800" dirty="0"/>
          </a:p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 dependency vs in-house scope decided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374136" y="4315968"/>
            <a:ext cx="2368296" cy="9144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74136" y="4370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ERP materially improve reporting quality and reduce manual bridging?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035040" y="1737360"/>
            <a:ext cx="2606040" cy="2907792"/>
          </a:xfrm>
          <a:prstGeom prst="rect">
            <a:avLst/>
          </a:prstGeom>
          <a:solidFill>
            <a:srgbClr val="0E1E38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35040" y="1737360"/>
            <a:ext cx="2606040" cy="548640"/>
          </a:xfrm>
          <a:prstGeom prst="rect">
            <a:avLst/>
          </a:prstGeom>
          <a:solidFill>
            <a:srgbClr val="1C3158"/>
          </a:solidFill>
          <a:ln w="12700">
            <a:solidFill>
              <a:srgbClr val="1C315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63056" y="177393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163056" y="20116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SOX / Controls / Auditability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543800" y="1828800"/>
            <a:ext cx="987552" cy="256032"/>
          </a:xfrm>
          <a:prstGeom prst="rect">
            <a:avLst/>
          </a:prstGeom>
          <a:solidFill>
            <a:srgbClr val="0A1A0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43800" y="1828800"/>
            <a:ext cx="987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Identified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163056" y="23591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traceable, testable controls and evidence retention into the operating model.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163056" y="272491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 CFTI controls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63056" y="296265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 means: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63056" y="3182112"/>
            <a:ext cx="23774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controls mapped to named owners</a:t>
            </a:r>
            <a:endParaRPr lang="en-US" sz="800" dirty="0"/>
          </a:p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evidence retention defined</a:t>
            </a:r>
            <a:endParaRPr lang="en-US" sz="800" dirty="0"/>
          </a:p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Deficiency/remediation ownership explicit</a:t>
            </a:r>
            <a:endParaRPr lang="en-US" sz="800" dirty="0"/>
          </a:p>
          <a:p>
            <a:pPr algn="l" marL="342900" indent="-342900">
              <a:buSzPct val="100000"/>
              <a:buChar char="•"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design supports testable, traceable controls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163056" y="4315968"/>
            <a:ext cx="2368296" cy="914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63056" y="43708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ERP make controls more defensible and auditable, or move the same risk into a new system?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ABIVAX ERP PROGRAM  ·  EXECUTIVE UPDATE  ·  LIVING DECK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· Slide 3 of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Reality — Manual Complexity and Control Risk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8869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Program — Living Executive Deck  ·  Update weekly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current system landscape actually looks like — before ERP modernization.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1719072"/>
            <a:ext cx="4846320" cy="1243584"/>
          </a:xfrm>
          <a:prstGeom prst="rect">
            <a:avLst/>
          </a:prstGeom>
          <a:solidFill>
            <a:srgbClr val="0E1E38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719072"/>
            <a:ext cx="50292" cy="124358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18013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System Landscape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" y="2103120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Sage 100 (primary GL), Trustpair (vendor validation), Agicap (cash), DocuShare (document management) — no integrated workflow across them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of 143 CFTI controls reference Sage 100 as the primary system; most rely on IT-dependent manual steps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audit trail from PO to payment across the full P2P chain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54096"/>
            <a:ext cx="4846320" cy="1243584"/>
          </a:xfrm>
          <a:prstGeom prst="rect">
            <a:avLst/>
          </a:prstGeom>
          <a:solidFill>
            <a:srgbClr val="0E1E38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054096"/>
            <a:ext cx="50292" cy="124358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1363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and Bridge Dependency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" y="3438144"/>
            <a:ext cx="4572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 GAAP → IFRS/SEC bridge is quarterly-paced and KPMG-dependent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reporting/data model controls in scope; most are manually maintained</a:t>
            </a:r>
            <a:endParaRPr lang="en-US" sz="1000" dirty="0"/>
          </a:p>
          <a:p>
            <a:pPr algn="l"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multi-entity, multi-GAAP native reporting capability in current stack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0" y="1719072"/>
            <a:ext cx="3200400" cy="2688336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623560" y="17830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DATA GAPS — CONFIRM TO FINALIZE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623560" y="2103120"/>
            <a:ext cx="2926080" cy="676656"/>
          </a:xfrm>
          <a:prstGeom prst="rect">
            <a:avLst/>
          </a:prstGeom>
          <a:solidFill>
            <a:srgbClr val="120D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42432" y="215798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P2P Volume Baseline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42432" y="23774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Quantify: current P2P manual touchpoints, approval gaps, monthly transaction volumes by entity (SA/LLC), 1099-related process pain. Owner: Finance / Mike.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623560" y="2852928"/>
            <a:ext cx="2926080" cy="676656"/>
          </a:xfrm>
          <a:prstGeom prst="rect">
            <a:avLst/>
          </a:prstGeom>
          <a:solidFill>
            <a:srgbClr val="120D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42432" y="290779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Reporting Bridge Detail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42432" y="3127248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Summarize: French GAAP → IFRS/SEC bridge process, who does what (internal vs KPMG), cycle timing, top failure points. Owner: Finance / KPMG.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623560" y="3602736"/>
            <a:ext cx="2926080" cy="676656"/>
          </a:xfrm>
          <a:prstGeom prst="rect">
            <a:avLst/>
          </a:prstGeom>
          <a:solidFill>
            <a:srgbClr val="120D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42432" y="3657600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Controls Deficiency Inventory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42432" y="3877056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Identify: current SOX/control gaps, where remediation tracking lives today, which deficiencies ERP is expected to address directly. Owner: Finance Controls.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57200" y="459028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sources: CFTI control register (143 records, Feb 26 2026), KPMG RFP analysis, process flow diagrams. Open items: see TBD panel above.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ABIVAX ERP PROGRAM  ·  EXECUTIVE UPDATE  ·  LIVING DECK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0" y="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· Slide 4 of 5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Program Readiness, Open Decisions, and Resourcing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846320"/>
            <a:ext cx="8869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Program — Living Executive Deck  ·  Update weekly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1371600"/>
            <a:ext cx="2560320" cy="329184"/>
          </a:xfrm>
          <a:prstGeom prst="rect">
            <a:avLst/>
          </a:prstGeom>
          <a:solidFill>
            <a:srgbClr val="0A2A1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371600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73936"/>
            <a:ext cx="2560320" cy="438912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" y="1938528"/>
            <a:ext cx="91440" cy="9144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8096" y="177393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selection process (Sep 2025–Feb 2026)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249424"/>
            <a:ext cx="2560320" cy="438912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" y="2414016"/>
            <a:ext cx="91440" cy="9144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8096" y="224942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KPMG-supported RFP and bid analysis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2724912"/>
            <a:ext cx="2560320" cy="438912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3504" y="2889504"/>
            <a:ext cx="91440" cy="9144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272491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demonstrations and technical scoring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3200400"/>
            <a:ext cx="2560320" cy="438912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3504" y="3364992"/>
            <a:ext cx="91440" cy="9144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320040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decision: NetSuite selected Feb 26, 2026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" y="3675888"/>
            <a:ext cx="2560320" cy="438912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3504" y="3840480"/>
            <a:ext cx="91440" cy="91440"/>
          </a:xfrm>
          <a:prstGeom prst="oval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8096" y="367588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CFTI control register generated (143 records)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18688" y="1371600"/>
            <a:ext cx="2651760" cy="329184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18688" y="137160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Open Decisions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18688" y="1773936"/>
            <a:ext cx="2651760" cy="438912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64992" y="17739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negotiation terms / owner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76672" y="1773936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3218688" y="2249424"/>
            <a:ext cx="2651760" cy="438912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64992" y="224942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scope confirmation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76672" y="2249424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2026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18688" y="2724912"/>
            <a:ext cx="2651760" cy="438912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64992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decision rights model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376672" y="2724912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218688" y="3200400"/>
            <a:ext cx="2651760" cy="438912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64992" y="32004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capacity commitments by function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76672" y="3200400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TBD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3218688" y="3675888"/>
            <a:ext cx="2651760" cy="438912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64992" y="36758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implementation advisory engagement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376672" y="3675888"/>
            <a:ext cx="457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071616" y="1371600"/>
            <a:ext cx="2615184" cy="329184"/>
          </a:xfrm>
          <a:prstGeom prst="rect">
            <a:avLst/>
          </a:prstGeom>
          <a:solidFill>
            <a:srgbClr val="1A1000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71616" y="1371600"/>
            <a:ext cx="2615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Resourcing TBD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071616" y="1773936"/>
            <a:ext cx="2615184" cy="438912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99632" y="1773936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(Internal)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8028432" y="1773936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confirmed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071616" y="2249424"/>
            <a:ext cx="2615184" cy="438912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2249424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(Integration)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028432" y="2249424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confirmed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071616" y="2724912"/>
            <a:ext cx="2615184" cy="438912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99632" y="272491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KPMG (Advisory)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028432" y="2724912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TBD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6071616" y="3200400"/>
            <a:ext cx="2615184" cy="438912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99632" y="3200400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NetSuite (Vendor)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028432" y="3200400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contract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6071616" y="3675888"/>
            <a:ext cx="2615184" cy="438912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199632" y="3675888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8028432" y="3675888"/>
            <a:ext cx="594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Hema / Didier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57200" y="4334256"/>
            <a:ext cx="8229600" cy="457200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" y="43342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Target Actions: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423160" y="4334256"/>
            <a:ext cx="6080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NetSuite  ·  Negotiate contract  ·  Confirm implementation scope  ·  Lock internal capacity  ·  Establish governance cadence  ·  April mobilization start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92240" y="0"/>
            <a:ext cx="2651760" cy="514350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58368"/>
          </a:xfrm>
          <a:prstGeom prst="rect">
            <a:avLst/>
          </a:prstGeom>
          <a:solidFill>
            <a:srgbClr val="C9A44B"/>
          </a:solidFill>
          <a:ln w="12700">
            <a:solidFill>
              <a:srgbClr val="C9A4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" y="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ABIVAX ERP PROGRAM  ·  EXECUTIVE UPDATE  ·  LIVING DECK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0" y="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· Slide 5 of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498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Executives Should Review Each Update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42238"/>
          </a:solidFill>
          <a:ln w="12700">
            <a:solidFill>
              <a:srgbClr val="1422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46320"/>
            <a:ext cx="886968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74320" y="4846320"/>
            <a:ext cx="54864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Program — Living Executive Deck  ·  Update weekly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57200" y="1371600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recurring operating cadence for this deck. Each executive update covers the same five elements — making it easy to track drift and progress over time.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1828800"/>
            <a:ext cx="5852160" cy="521208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1828800"/>
            <a:ext cx="594360" cy="52120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828800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52144" y="187452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Since Last Update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52144" y="211226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Net-new evidence, decisions made, risks confirmed or resolved. Keeps each update grounded in what actually moved.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404872"/>
            <a:ext cx="5852160" cy="521208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404872"/>
            <a:ext cx="594360" cy="52120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404872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A4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52144" y="245059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Status Summary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2144" y="2688336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/ Reporting / Controls — confidence level, major blockers, and notable changes. One row per pillar, updated each cycle.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2980944"/>
            <a:ext cx="5852160" cy="521208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980944"/>
            <a:ext cx="594360" cy="52120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2980944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52144" y="302666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Requests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52144" y="3264408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items requiring executive action, with owner and due date. Escalated if unresolved for two or more update cycles.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" y="3557016"/>
            <a:ext cx="5852160" cy="521208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3557016"/>
            <a:ext cx="594360" cy="52120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57016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52144" y="360273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Outlook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52144" y="384048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30/60/90-day milestones with accountable owners. Red/amber/green status against plan. No milestone without owner.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" y="4133088"/>
            <a:ext cx="5852160" cy="521208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" y="4133088"/>
            <a:ext cx="594360" cy="521208"/>
          </a:xfrm>
          <a:prstGeom prst="rect">
            <a:avLst/>
          </a:prstGeom>
          <a:solidFill>
            <a:srgbClr val="1C315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133088"/>
            <a:ext cx="5943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52144" y="41788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Stop Watching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52144" y="441655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resolved, de-risked, or removed from scope. Keeps the update focused on live issues — not a growing list of history.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675120" y="1371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Rhythm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75120" y="1737360"/>
            <a:ext cx="2286000" cy="658368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03136" y="17922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803136" y="201168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pillar status + open decisions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675120" y="2468880"/>
            <a:ext cx="2286000" cy="658368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03136" y="252374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03136" y="274320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exec narrative refresh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75120" y="3200400"/>
            <a:ext cx="2286000" cy="658368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803136" y="325526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cycle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803136" y="347472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board/audit derivative cuts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675120" y="3931920"/>
            <a:ext cx="2286000" cy="658368"/>
          </a:xfrm>
          <a:prstGeom prst="rect">
            <a:avLst/>
          </a:prstGeom>
          <a:solidFill>
            <a:srgbClr val="0E1E38"/>
          </a:solidFill>
          <a:ln w="12700">
            <a:solidFill>
              <a:srgbClr val="1E35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03136" y="398678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9A4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803136" y="42062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milestone outlook on slippage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ERP Program Priorities and Readiness — Living Executive Deck</dc:title>
  <dc:subject>PptxGenJS Presentation</dc:subject>
  <dc:creator>Mike Markman</dc:creator>
  <cp:lastModifiedBy>Mike Markman</cp:lastModifiedBy>
  <cp:revision>1</cp:revision>
  <dcterms:created xsi:type="dcterms:W3CDTF">2026-02-28T01:32:13Z</dcterms:created>
  <dcterms:modified xsi:type="dcterms:W3CDTF">2026-02-28T01:32:13Z</dcterms:modified>
</cp:coreProperties>
</file>