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13"/>
    <p:sldId id="263" r:id="rId14"/>
    <p:sldId id="264" r:id="rId15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Committee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Controls Readout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5029200" cy="36576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35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Committee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548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051560"/>
            <a:ext cx="91440" cy="91440"/>
          </a:xfrm>
          <a:prstGeom prst="oval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9966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Control Posture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691640"/>
            <a:ext cx="91440" cy="91440"/>
          </a:xfrm>
          <a:prstGeom prst="oval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16367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Control Gaps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2331720"/>
            <a:ext cx="91440" cy="91440"/>
          </a:xfrm>
          <a:prstGeom prst="oval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2768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Control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971800"/>
            <a:ext cx="91440" cy="91440"/>
          </a:xfrm>
          <a:prstGeom prst="oval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29169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Governance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3611880"/>
            <a:ext cx="91440" cy="91440"/>
          </a:xfrm>
          <a:prstGeom prst="oval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35570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Committee Ask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AUDIT COMMITTEE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 ·  AUDIT COMMITTEE  · 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Slide 1 of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Control Posture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Committee ERP Controls Readout  ·  March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2011680" cy="7772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389888"/>
            <a:ext cx="50292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2648" y="18836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Reviewed (CFTI)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33472" y="1389888"/>
            <a:ext cx="2011680" cy="7772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33472" y="1389888"/>
            <a:ext cx="50292" cy="777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88920" y="18836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9744" y="1389888"/>
            <a:ext cx="2011680" cy="7772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9744" y="1389888"/>
            <a:ext cx="5029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65192" y="18836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or Design-Phase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86016" y="1389888"/>
            <a:ext cx="2011680" cy="7772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86016" y="1389888"/>
            <a:ext cx="5029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1464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41464" y="18836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ERP-Addressable Signals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322576"/>
            <a:ext cx="4023360" cy="107899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322576"/>
            <a:ext cx="50292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" y="241401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 Dependency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5216" y="2715768"/>
            <a:ext cx="3785616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276148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P2P, reporting, and reconciliation activities remain heavily manual across Sage 100, Trustpair, and Agicap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evidence and traceability are inconsistent across systems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IT-dependent manual controls dominate current posture (42 of top automation types)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322576"/>
            <a:ext cx="4023360" cy="107899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322576"/>
            <a:ext cx="50292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241401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Master and Payment Risk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91456" y="2715768"/>
            <a:ext cx="3785616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276148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documented review of vendor additions/deletions in Sage 100 (FR-PTP-02G)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vendor master file not consistently reviewed or approved by Senior GL accountant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Compensating controls exist but are not formalized or evidence-retained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511296"/>
            <a:ext cx="4023360" cy="107899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3511296"/>
            <a:ext cx="50292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" y="360273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and Bridge Dependency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5216" y="3904488"/>
            <a:ext cx="3785616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" y="395020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controls in Reporting/Data Model pillar under review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KPMG-dependent bridge process for French GAAP → IFRS/SEC close cycle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bridging introduces timing and accuracy risk ahead of commercialization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511296"/>
            <a:ext cx="4023360" cy="107899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511296"/>
            <a:ext cx="50292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360273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Risk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91456" y="3904488"/>
            <a:ext cx="3785616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91456" y="395020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posture is not scalable for future SEC filing scrutiny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US/France process divergence increases close and control complexity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design increases key-person and timing dependency risk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 ·  AUDIT COMMITTEE  · 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· Slide 2 of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Control Gaps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Committee ERP Controls Readout  ·  March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ERP pillars face distinct control gaps. Each requires owner accountability and ERP-design remediation.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2606040" cy="2926080"/>
          </a:xfrm>
          <a:prstGeom prst="rect">
            <a:avLst/>
          </a:prstGeom>
          <a:solidFill>
            <a:srgbClr val="0E1E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37360"/>
            <a:ext cx="2606040" cy="502920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" y="20116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controls in scope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" y="2304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" y="2505456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approvals are manual and not system-enforced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 fragmented across Sage, Trustpair, Agicap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vendor validation or change monitoring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execution lacks traceability to approval chain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" y="4041648"/>
            <a:ext cx="2368296" cy="91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40782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design must: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" y="42611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must enforce approval workflows, centralize vendor master, and create audit trail from PO to payment.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1737360"/>
            <a:ext cx="2606040" cy="2926080"/>
          </a:xfrm>
          <a:prstGeom prst="rect">
            <a:avLst/>
          </a:prstGeom>
          <a:solidFill>
            <a:srgbClr val="0E1E38"/>
          </a:solidFill>
          <a:ln w="12700">
            <a:solidFill>
              <a:srgbClr val="C9A4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737360"/>
            <a:ext cx="2606040" cy="502920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/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74136" y="20116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controls in scope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74136" y="2304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74136" y="2505456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process is manual and KPMG-dependent each cycle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multi-entity, multi-GAAP native output capability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extracts lack dimensional tagging for FP&amp;A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 is quarterly-paced with manual reconciliation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74136" y="4041648"/>
            <a:ext cx="2368296" cy="9144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40782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design must: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74136" y="42611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must deliver a reporting data model that supports native close, extracts, and reduces consulting dependency.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1737360"/>
            <a:ext cx="2606040" cy="2926080"/>
          </a:xfrm>
          <a:prstGeom prst="rect">
            <a:avLst/>
          </a:prstGeom>
          <a:solidFill>
            <a:srgbClr val="0E1E3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1737360"/>
            <a:ext cx="2606040" cy="502920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/ Audit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63056" y="20116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controls in scope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63056" y="2304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63056" y="2505456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deficiency register with owner and due-date accountability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evidence is not retained in a system-managed repository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monitoring and failure escalation paths are undefined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 and access controls not consistently designed or tested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63056" y="4041648"/>
            <a:ext cx="2368296" cy="91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40782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design must: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63056" y="42611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must be designed with control-by-design checkpoints: evidence retention, SOD, and audit trail as non-negotiable.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 ·  AUDIT COMMITTEE  · 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· Slide 3 of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Control Model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Committee ERP Controls Readout  ·  March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ERP program should be governed as a control-remediation program — not only a technology rollout. These are the design requirements.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4023360" cy="12344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37360"/>
            <a:ext cx="50292" cy="1234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8105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181051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Approvals and Role Controls In-System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" y="2157984"/>
            <a:ext cx="3767328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212848"/>
            <a:ext cx="3767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workflows, segregation of duties, and role-based access must be designed into the ERP configuration — not managed through compensating manual controls outside the system.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737360"/>
            <a:ext cx="4023360" cy="12344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737360"/>
            <a:ext cx="50292" cy="1234440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18105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4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12080" y="181051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Feed Ownership and Monitoring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18888" y="2157984"/>
            <a:ext cx="3767328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212848"/>
            <a:ext cx="3767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 feed, integration, and handoff must have a named owner, defined monitoring step, and documented failure escalation path. No silent failures.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4023360" cy="12344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108960"/>
            <a:ext cx="5029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31821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318211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Traceable Flow: Transaction → Filing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" y="3529584"/>
            <a:ext cx="3767328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584448"/>
            <a:ext cx="3767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must be traceable through approval, processing, and reporting to filing support. Evidence must be system-retained, not manually assembled each cycle.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108960"/>
            <a:ext cx="4023360" cy="123444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108960"/>
            <a:ext cx="5029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1821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12080" y="318211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Entity Variations Under One Framework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18888" y="3529584"/>
            <a:ext cx="3767328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584448"/>
            <a:ext cx="3767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and France process variants must be rationalized within a common control framework. Divergence must be documented, justified, and bounded — not left to accumulate organically.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6268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France P2P and Reporting/FP&amp;A swimlane process visuals are available in the Process Flows section of the Spine for supporting detail.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 ·  AUDIT COMMITTEE  · 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· Slide 4 of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Remediation Governance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Committee ERP Controls Readout  ·  March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dated remediation program is required now — not post-selection. ERP milestones must tie to control-closure checkpoints.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73936"/>
            <a:ext cx="5120640" cy="65836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73936"/>
            <a:ext cx="50292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8470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Deficiency Register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authoritative register with severity, owner, due date, and status. No parallel lists. Eliminates 'which version is current?' ambiguity.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87168"/>
            <a:ext cx="5120640" cy="65836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87168"/>
            <a:ext cx="50292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5603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Remediation Governance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2816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workstream cadence with monthly audit committee rollup. Owner-dated updates required; no status without evidence.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5120640" cy="65836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0400"/>
            <a:ext cx="5029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2735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Milestones → Control Checkpoints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" y="35295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ERP design and blueprint milestones are tied to control-closure deliverables. Can't advance phase without closed evidence.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13632"/>
            <a:ext cx="5120640" cy="65836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913632"/>
            <a:ext cx="50292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98678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Protocol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" y="42428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against critical control deficiencies triggers defined escalation. Audit committee notified monthly on at-risk items.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 ·  AUDIT COMMITTEE  ·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0" y="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· Slide 5 of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Committee Ask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Committee ERP Controls Readout  ·  March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5852160" cy="749808"/>
          </a:xfrm>
          <a:prstGeom prst="rect">
            <a:avLst/>
          </a:prstGeom>
          <a:solidFill>
            <a:srgbClr val="0E1E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371600"/>
            <a:ext cx="594360" cy="74980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716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2144" y="1444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Control-By-Design as Non-Negotiable ERP Principle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52144" y="17190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that system-enforced controls, evidence retention, and SOD design are foundational ERP requirements — not post-implementation add-ons.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1554480"/>
            <a:ext cx="1463040" cy="38404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554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Cmte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5852160" cy="749808"/>
          </a:xfrm>
          <a:prstGeom prst="rect">
            <a:avLst/>
          </a:prstGeom>
          <a:solidFill>
            <a:srgbClr val="0E1E38"/>
          </a:solidFill>
          <a:ln w="12700">
            <a:solidFill>
              <a:srgbClr val="C9A4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194560"/>
            <a:ext cx="594360" cy="74980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945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4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52144" y="22677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Owner/Date Accountability on Priority Control Gaps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2144" y="2542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that each CFTI-registered control gap has a named owner, dated remediation commitment, and visible status before ERP blueprint begins.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2377440"/>
            <a:ext cx="1463040" cy="38404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377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5852160" cy="749808"/>
          </a:xfrm>
          <a:prstGeom prst="rect">
            <a:avLst/>
          </a:prstGeom>
          <a:solidFill>
            <a:srgbClr val="0E1E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17520"/>
            <a:ext cx="594360" cy="74980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1752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52144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Monthly Remediation Reporting Cadence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2144" y="33649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approve the format and frequency: weekly governance, monthly audit committee update with at-risk escalation and evidence-based status.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3200400"/>
            <a:ext cx="1463040" cy="38404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3200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Cmte / Mike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5852160" cy="749808"/>
          </a:xfrm>
          <a:prstGeom prst="rect">
            <a:avLst/>
          </a:prstGeom>
          <a:solidFill>
            <a:srgbClr val="0E1E3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840480"/>
            <a:ext cx="594360" cy="74980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84048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52144" y="39136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Fast-Track Support on Controls That Threaten Timeline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2144" y="41879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authority to escalate resource constraints or decision delays that put critical control-closure checkpoints at risk ahead of Jan 1, 2027 go-live.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4023360"/>
            <a:ext cx="1463040" cy="38404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023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Cmte / Hema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due: March 6, 2026  ·  Meeting: March 2026 (date TBD with Camille)  ·  Owner: Mike Markman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RP Program Overview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GoldStrip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HeaderLeft"/>
          <p:cNvSpPr/>
          <p:nvPr/>
        </p:nvSpPr>
        <p:spPr>
          <a:xfrm>
            <a:off x="164592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</a:rPr>
              <a:t>ABIVAX  ·  AUDIT COMMITTEE  ·  CONFIDENTIAL</a:t>
            </a:r>
          </a:p>
        </p:txBody>
      </p:sp>
      <p:sp>
        <p:nvSpPr>
          <p:cNvPr id="5" name="HeaderRight"/>
          <p:cNvSpPr/>
          <p:nvPr/>
        </p:nvSpPr>
        <p:spPr>
          <a:xfrm>
            <a:off x="5486400" y="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</a:rPr>
              <a:t>Overview · Slide 2 of 9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</a:rPr>
              <a:t>ERP Program Overview</a:t>
            </a:r>
          </a:p>
        </p:txBody>
      </p:sp>
      <p:sp>
        <p:nvSpPr>
          <p:cNvPr id="7" name="Subtitle"/>
          <p:cNvSpPr/>
          <p:nvPr/>
        </p:nvSpPr>
        <p:spPr>
          <a:xfrm>
            <a:off x="45720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NetSuite selected February 26, 2026 over SAP. Contract execution underway. Program mobilizes April 2026; go-live January 1, 2027.</a:t>
            </a:r>
          </a:p>
        </p:txBody>
      </p:sp>
      <p:sp>
        <p:nvSpPr>
          <p:cNvPr id="8" name="Card1BG"/>
          <p:cNvSpPr/>
          <p:nvPr/>
        </p:nvSpPr>
        <p:spPr>
          <a:xfrm>
            <a:off x="457200" y="1737360"/>
            <a:ext cx="2590000" cy="280000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Card1Accent"/>
          <p:cNvSpPr/>
          <p:nvPr/>
        </p:nvSpPr>
        <p:spPr>
          <a:xfrm>
            <a:off x="457200" y="1737360"/>
            <a:ext cx="50292" cy="2800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Card1Num"/>
          <p:cNvSpPr/>
          <p:nvPr/>
        </p:nvSpPr>
        <p:spPr>
          <a:xfrm>
            <a:off x="612648" y="18105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</a:rPr>
              <a:t>01</a:t>
            </a:r>
          </a:p>
        </p:txBody>
      </p:sp>
      <p:sp>
        <p:nvSpPr>
          <p:cNvPr id="11" name="Card1Title"/>
          <p:cNvSpPr/>
          <p:nvPr/>
        </p:nvSpPr>
        <p:spPr>
          <a:xfrm>
            <a:off x="1005840" y="1810512"/>
            <a:ext cx="1900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</a:rPr>
              <a:t>Vendor Selection</a:t>
            </a:r>
          </a:p>
        </p:txBody>
      </p:sp>
      <p:sp>
        <p:nvSpPr>
          <p:cNvPr id="12" name="Card1Div"/>
          <p:cNvSpPr/>
          <p:nvPr/>
        </p:nvSpPr>
        <p:spPr>
          <a:xfrm>
            <a:off x="612648" y="2157984"/>
            <a:ext cx="2300000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13" name="Card1Body"/>
          <p:cNvSpPr/>
          <p:nvPr/>
        </p:nvSpPr>
        <p:spPr>
          <a:xfrm>
            <a:off x="612648" y="2212848"/>
            <a:ext cx="2300000" cy="2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NetSuite selected over SAP on February 26, 2026. Key factors: implementation speed (9 months vs. 18+), SaaS-native architecture, proven biotech install base, and total cost advantage. Contract execution underway with prep start targeted March 15, 2026.</a:t>
            </a:r>
          </a:p>
        </p:txBody>
      </p:sp>
      <p:sp>
        <p:nvSpPr>
          <p:cNvPr id="14" name="Card2BG"/>
          <p:cNvSpPr/>
          <p:nvPr/>
        </p:nvSpPr>
        <p:spPr>
          <a:xfrm>
            <a:off x="3261800" y="1737360"/>
            <a:ext cx="2590000" cy="280000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Card2Accent"/>
          <p:cNvSpPr/>
          <p:nvPr/>
        </p:nvSpPr>
        <p:spPr>
          <a:xfrm>
            <a:off x="3261800" y="1737360"/>
            <a:ext cx="50292" cy="2800000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6" name="Card2Num"/>
          <p:cNvSpPr/>
          <p:nvPr/>
        </p:nvSpPr>
        <p:spPr>
          <a:xfrm>
            <a:off x="3417248" y="18105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44B"/>
                </a:solidFill>
                <a:latin typeface="Georgia" pitchFamily="34" charset="0"/>
              </a:rPr>
              <a:t>02</a:t>
            </a:r>
          </a:p>
        </p:txBody>
      </p:sp>
      <p:sp>
        <p:nvSpPr>
          <p:cNvPr id="17" name="Card2Title"/>
          <p:cNvSpPr/>
          <p:nvPr/>
        </p:nvSpPr>
        <p:spPr>
          <a:xfrm>
            <a:off x="3810440" y="1810512"/>
            <a:ext cx="1900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</a:rPr>
              <a:t>Implementation Path</a:t>
            </a:r>
          </a:p>
        </p:txBody>
      </p:sp>
      <p:sp>
        <p:nvSpPr>
          <p:cNvPr id="18" name="Card2Div"/>
          <p:cNvSpPr/>
          <p:nvPr/>
        </p:nvSpPr>
        <p:spPr>
          <a:xfrm>
            <a:off x="3417248" y="2157984"/>
            <a:ext cx="2300000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19" name="Card2Body"/>
          <p:cNvSpPr/>
          <p:nvPr/>
        </p:nvSpPr>
        <p:spPr>
          <a:xfrm>
            <a:off x="3417248" y="2212848"/>
            <a:ext cx="2300000" cy="2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Apr 2026: Mobilization — team, blueprint prep, data planning. Apr–Nov 2026: Configure, walkthrough rounds, data migration, integrations, UAT across US and France. Dec 27, 2026: Go-live. Non-negotiable — tied to US public launch Dec 2027.</a:t>
            </a:r>
          </a:p>
        </p:txBody>
      </p:sp>
      <p:sp>
        <p:nvSpPr>
          <p:cNvPr id="20" name="Card3BG"/>
          <p:cNvSpPr/>
          <p:nvPr/>
        </p:nvSpPr>
        <p:spPr>
          <a:xfrm>
            <a:off x="6066400" y="1737360"/>
            <a:ext cx="2590000" cy="280000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Card3Accent"/>
          <p:cNvSpPr/>
          <p:nvPr/>
        </p:nvSpPr>
        <p:spPr>
          <a:xfrm>
            <a:off x="6066400" y="1737360"/>
            <a:ext cx="50292" cy="2800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Card3Num"/>
          <p:cNvSpPr/>
          <p:nvPr/>
        </p:nvSpPr>
        <p:spPr>
          <a:xfrm>
            <a:off x="6221848" y="18105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</a:rPr>
              <a:t>03</a:t>
            </a:r>
          </a:p>
        </p:txBody>
      </p:sp>
      <p:sp>
        <p:nvSpPr>
          <p:cNvPr id="23" name="Card3Title"/>
          <p:cNvSpPr/>
          <p:nvPr/>
        </p:nvSpPr>
        <p:spPr>
          <a:xfrm>
            <a:off x="6614840" y="1810512"/>
            <a:ext cx="1900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</a:rPr>
              <a:t>Strategic Purpose</a:t>
            </a:r>
          </a:p>
        </p:txBody>
      </p:sp>
      <p:sp>
        <p:nvSpPr>
          <p:cNvPr id="24" name="Card3Div"/>
          <p:cNvSpPr/>
          <p:nvPr/>
        </p:nvSpPr>
        <p:spPr>
          <a:xfrm>
            <a:off x="6221848" y="2157984"/>
            <a:ext cx="2300000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25" name="Card3Body"/>
          <p:cNvSpPr/>
          <p:nvPr/>
        </p:nvSpPr>
        <p:spPr>
          <a:xfrm>
            <a:off x="6221848" y="2212848"/>
            <a:ext cx="2300000" cy="2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This program is primarily a SOX control-remediation program. NetSuite replaces fragmented manual processes with system-enforced controls across P2P, Audit/Reporting, and period close. Automation efficiency is a Phase 2 objective — after January 1, 2027 go-live.</a:t>
            </a:r>
          </a:p>
        </p:txBody>
      </p:sp>
      <p:sp>
        <p:nvSpPr>
          <p:cNvPr id="26" name="FooterBar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27" name="FooterPageNum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2 / 9</a:t>
            </a:r>
          </a:p>
        </p:txBody>
      </p:sp>
      <p:sp>
        <p:nvSpPr>
          <p:cNvPr id="28" name="FooterLabel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Audit Committee ERP Controls Readout  · 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plementation Timeline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GoldStrip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HeaderLeft"/>
          <p:cNvSpPr/>
          <p:nvPr/>
        </p:nvSpPr>
        <p:spPr>
          <a:xfrm>
            <a:off x="164592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</a:rPr>
              <a:t>ABIVAX  ·  AUDIT COMMITTEE  ·  CONFIDENTIAL</a:t>
            </a:r>
          </a:p>
        </p:txBody>
      </p:sp>
      <p:sp>
        <p:nvSpPr>
          <p:cNvPr id="5" name="HeaderRight"/>
          <p:cNvSpPr/>
          <p:nvPr/>
        </p:nvSpPr>
        <p:spPr>
          <a:xfrm>
            <a:off x="5486400" y="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</a:rPr>
              <a:t>Timeline · Slide 3 of 9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</a:rPr>
              <a:t>Implementation Timeline</a:t>
            </a:r>
          </a:p>
        </p:txBody>
      </p:sp>
      <p:sp>
        <p:nvSpPr>
          <p:cNvPr id="7" name="Subtitle"/>
          <p:cNvSpPr/>
          <p:nvPr/>
        </p:nvSpPr>
        <p:spPr>
          <a:xfrm>
            <a:off x="45720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NetSuite implementation: March 15, 2026 prep start → December 27, 2026 go-live → January 17, 2027 post-support complete</a:t>
            </a:r>
          </a:p>
        </p:txBody>
      </p:sp>
      <p:sp>
        <p:nvSpPr>
          <p:cNvPr id="8" name="Phase1Box"/>
          <p:cNvSpPr/>
          <p:nvPr/>
        </p:nvSpPr>
        <p:spPr>
          <a:xfrm>
            <a:off x="457200" y="1750000"/>
            <a:ext cx="1500000" cy="700000"/>
          </a:xfrm>
          <a:prstGeom prst="rect">
            <a:avLst/>
          </a:prstGeom>
          <a:solidFill>
            <a:srgbClr val="0E204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Phase1Label"/>
          <p:cNvSpPr/>
          <p:nvPr/>
        </p:nvSpPr>
        <p:spPr>
          <a:xfrm>
            <a:off x="457200" y="1750000"/>
            <a:ext cx="1500000" cy="7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</a:rPr>
              <a:t>Initiation &amp; Design</a:t>
            </a:r>
          </a:p>
        </p:txBody>
      </p:sp>
      <p:sp>
        <p:nvSpPr>
          <p:cNvPr id="10" name="Phase2Box"/>
          <p:cNvSpPr/>
          <p:nvPr/>
        </p:nvSpPr>
        <p:spPr>
          <a:xfrm>
            <a:off x="2139600" y="1750000"/>
            <a:ext cx="1820000" cy="700000"/>
          </a:xfrm>
          <a:prstGeom prst="rect">
            <a:avLst/>
          </a:prstGeom>
          <a:solidFill>
            <a:srgbClr val="1A1600"/>
          </a:solidFill>
          <a:ln w="19050">
            <a:solidFill>
              <a:srgbClr val="C9A44B"/>
            </a:solidFill>
            <a:prstDash val="solid"/>
          </a:ln>
        </p:spPr>
      </p:sp>
      <p:sp>
        <p:nvSpPr>
          <p:cNvPr id="11" name="Phase2Label"/>
          <p:cNvSpPr/>
          <p:nvPr/>
        </p:nvSpPr>
        <p:spPr>
          <a:xfrm>
            <a:off x="2139600" y="1750000"/>
            <a:ext cx="1820000" cy="7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44B"/>
                </a:solidFill>
                <a:latin typeface="Calibri" pitchFamily="34" charset="0"/>
              </a:rPr>
              <a:t>Configure &amp; Build</a:t>
            </a:r>
          </a:p>
        </p:txBody>
      </p:sp>
      <p:sp>
        <p:nvSpPr>
          <p:cNvPr id="12" name="Phase3Box"/>
          <p:cNvSpPr/>
          <p:nvPr/>
        </p:nvSpPr>
        <p:spPr>
          <a:xfrm>
            <a:off x="4142000" y="1750000"/>
            <a:ext cx="1480000" cy="700000"/>
          </a:xfrm>
          <a:prstGeom prst="rect">
            <a:avLst/>
          </a:prstGeom>
          <a:solidFill>
            <a:srgbClr val="001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Phase3Label"/>
          <p:cNvSpPr/>
          <p:nvPr/>
        </p:nvSpPr>
        <p:spPr>
          <a:xfrm>
            <a:off x="4142000" y="1750000"/>
            <a:ext cx="1480000" cy="7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</a:rPr>
              <a:t>Test &amp; Validate</a:t>
            </a:r>
          </a:p>
        </p:txBody>
      </p:sp>
      <p:sp>
        <p:nvSpPr>
          <p:cNvPr id="14" name="Phase4Box"/>
          <p:cNvSpPr/>
          <p:nvPr/>
        </p:nvSpPr>
        <p:spPr>
          <a:xfrm>
            <a:off x="5804400" y="1750000"/>
            <a:ext cx="1480000" cy="700000"/>
          </a:xfrm>
          <a:prstGeom prst="rect">
            <a:avLst/>
          </a:prstGeom>
          <a:solidFill>
            <a:srgbClr val="1A0E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Phase4Label"/>
          <p:cNvSpPr/>
          <p:nvPr/>
        </p:nvSpPr>
        <p:spPr>
          <a:xfrm>
            <a:off x="5804400" y="1750000"/>
            <a:ext cx="1480000" cy="7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</a:rPr>
              <a:t>Migration &amp; UAT</a:t>
            </a:r>
          </a:p>
        </p:txBody>
      </p:sp>
      <p:sp>
        <p:nvSpPr>
          <p:cNvPr id="16" name="Phase5Box"/>
          <p:cNvSpPr/>
          <p:nvPr/>
        </p:nvSpPr>
        <p:spPr>
          <a:xfrm>
            <a:off x="7466800" y="1750000"/>
            <a:ext cx="719800" cy="700000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7" name="Phase5Label"/>
          <p:cNvSpPr/>
          <p:nvPr/>
        </p:nvSpPr>
        <p:spPr>
          <a:xfrm>
            <a:off x="7466800" y="1750000"/>
            <a:ext cx="719800" cy="7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E1C"/>
                </a:solidFill>
                <a:latin typeface="Calibri" pitchFamily="34" charset="0"/>
              </a:rPr>
              <a:t>GO-LIVE</a:t>
            </a:r>
          </a:p>
        </p:txBody>
      </p:sp>
      <p:sp>
        <p:nvSpPr>
          <p:cNvPr id="18" name="TimelineSpine"/>
          <p:cNvSpPr/>
          <p:nvPr/>
        </p:nvSpPr>
        <p:spPr>
          <a:xfrm>
            <a:off x="457200" y="2550000"/>
            <a:ext cx="7729400" cy="54864"/>
          </a:xfrm>
          <a:prstGeom prst="rect">
            <a:avLst/>
          </a:prstGeom>
          <a:solidFill>
            <a:srgbClr val="1E356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9" name="DateP1"/>
          <p:cNvSpPr/>
          <p:nvPr/>
        </p:nvSpPr>
        <p:spPr>
          <a:xfrm>
            <a:off x="457200" y="2650000"/>
            <a:ext cx="1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Mar 15 – Apr 2026</a:t>
            </a:r>
          </a:p>
        </p:txBody>
      </p:sp>
      <p:sp>
        <p:nvSpPr>
          <p:cNvPr id="20" name="DateP2"/>
          <p:cNvSpPr/>
          <p:nvPr/>
        </p:nvSpPr>
        <p:spPr>
          <a:xfrm>
            <a:off x="2139600" y="2650000"/>
            <a:ext cx="18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May – Aug 2026</a:t>
            </a:r>
          </a:p>
        </p:txBody>
      </p:sp>
      <p:sp>
        <p:nvSpPr>
          <p:cNvPr id="21" name="DateP3"/>
          <p:cNvSpPr/>
          <p:nvPr/>
        </p:nvSpPr>
        <p:spPr>
          <a:xfrm>
            <a:off x="4142000" y="2650000"/>
            <a:ext cx="14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Sep – Oct 2026</a:t>
            </a:r>
          </a:p>
        </p:txBody>
      </p:sp>
      <p:sp>
        <p:nvSpPr>
          <p:cNvPr id="22" name="DateP4"/>
          <p:cNvSpPr/>
          <p:nvPr/>
        </p:nvSpPr>
        <p:spPr>
          <a:xfrm>
            <a:off x="5804400" y="2650000"/>
            <a:ext cx="14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Nov – Dec 15, 2026</a:t>
            </a:r>
          </a:p>
        </p:txBody>
      </p:sp>
      <p:sp>
        <p:nvSpPr>
          <p:cNvPr id="23" name="DateP5"/>
          <p:cNvSpPr/>
          <p:nvPr/>
        </p:nvSpPr>
        <p:spPr>
          <a:xfrm>
            <a:off x="7466800" y="2650000"/>
            <a:ext cx="7198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44B"/>
                </a:solidFill>
                <a:latin typeface="Calibri" pitchFamily="34" charset="0"/>
              </a:rPr>
              <a:t>Dec 27</a:t>
            </a:r>
          </a:p>
        </p:txBody>
      </p:sp>
      <p:sp>
        <p:nvSpPr>
          <p:cNvPr id="24" name="CardABG"/>
          <p:cNvSpPr/>
          <p:nvPr/>
        </p:nvSpPr>
        <p:spPr>
          <a:xfrm>
            <a:off x="457200" y="3000000"/>
            <a:ext cx="2590000" cy="163732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CardAAccent"/>
          <p:cNvSpPr/>
          <p:nvPr/>
        </p:nvSpPr>
        <p:spPr>
          <a:xfrm>
            <a:off x="457200" y="3000000"/>
            <a:ext cx="50292" cy="163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CardAText"/>
          <p:cNvSpPr/>
          <p:nvPr/>
        </p:nvSpPr>
        <p:spPr>
          <a:xfrm>
            <a:off x="600000" y="3060000"/>
            <a:ext cx="235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</a:rPr>
              <a:t>Pre-Conditions (Mar–Apr)</a:t>
            </a:r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</a:rPr>
              <a:t>Contract signed. DoA matrix built (governance pre-req, not ERP task). France vendor master cleanup complete. Blueprint kickoff readiness confirmed.</a:t>
            </a:r>
          </a:p>
        </p:txBody>
      </p:sp>
      <p:sp>
        <p:nvSpPr>
          <p:cNvPr id="27" name="CardBBG"/>
          <p:cNvSpPr/>
          <p:nvPr/>
        </p:nvSpPr>
        <p:spPr>
          <a:xfrm>
            <a:off x="3261800" y="3000000"/>
            <a:ext cx="2590000" cy="163732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CardBAccent"/>
          <p:cNvSpPr/>
          <p:nvPr/>
        </p:nvSpPr>
        <p:spPr>
          <a:xfrm>
            <a:off x="3261800" y="3000000"/>
            <a:ext cx="50292" cy="1637320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29" name="CardBText"/>
          <p:cNvSpPr/>
          <p:nvPr/>
        </p:nvSpPr>
        <p:spPr>
          <a:xfrm>
            <a:off x="3400000" y="3060000"/>
            <a:ext cx="235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</a:rPr>
              <a:t>Internal Resource Requirement</a:t>
            </a:r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</a:rPr>
              <a:t>Executive Sponsor: 0–4 hrs/wk. ERP Program Manager: 4–8 hrs/wk. Finance &amp; IT Process Leads: 4–8+ hrs/wk during configure and test phases. NetSuite provides implementation team.</a:t>
            </a:r>
          </a:p>
        </p:txBody>
      </p:sp>
      <p:sp>
        <p:nvSpPr>
          <p:cNvPr id="30" name="CardCBG"/>
          <p:cNvSpPr/>
          <p:nvPr/>
        </p:nvSpPr>
        <p:spPr>
          <a:xfrm>
            <a:off x="6066400" y="3000000"/>
            <a:ext cx="2590000" cy="163732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CardCAccent"/>
          <p:cNvSpPr/>
          <p:nvPr/>
        </p:nvSpPr>
        <p:spPr>
          <a:xfrm>
            <a:off x="6066400" y="3000000"/>
            <a:ext cx="50292" cy="163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CardCText"/>
          <p:cNvSpPr/>
          <p:nvPr/>
        </p:nvSpPr>
        <p:spPr>
          <a:xfrm>
            <a:off x="6205000" y="3060000"/>
            <a:ext cx="235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</a:rPr>
              <a:t>Go-Live Constraints</a:t>
            </a:r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</a:rPr>
              <a:t>January 1, 2027 is non-negotiable. December 27, 2026 target preserves buffer. Tied to US public market launch December 2027. Sage 100 decommission follows go-live stabilization.</a:t>
            </a:r>
          </a:p>
        </p:txBody>
      </p:sp>
      <p:sp>
        <p:nvSpPr>
          <p:cNvPr id="33" name="FooterBar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4" name="FooterPageNum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3 / 9</a:t>
            </a:r>
          </a:p>
        </p:txBody>
      </p:sp>
      <p:sp>
        <p:nvSpPr>
          <p:cNvPr id="35" name="FooterLabel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Audit Committee ERP Controls Readout  · 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mercial and Resourcing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GoldStrip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HeaderLeft"/>
          <p:cNvSpPr/>
          <p:nvPr/>
        </p:nvSpPr>
        <p:spPr>
          <a:xfrm>
            <a:off x="164592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</a:rPr>
              <a:t>ABIVAX  ·  AUDIT COMMITTEE  ·  CONFIDENTIAL</a:t>
            </a:r>
          </a:p>
        </p:txBody>
      </p:sp>
      <p:sp>
        <p:nvSpPr>
          <p:cNvPr id="5" name="HeaderRight"/>
          <p:cNvSpPr/>
          <p:nvPr/>
        </p:nvSpPr>
        <p:spPr>
          <a:xfrm>
            <a:off x="5486400" y="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</a:rPr>
              <a:t>Commercials · Slide 4 of 9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</a:rPr>
              <a:t>Commercial &amp; Resourcing Model</a:t>
            </a:r>
          </a:p>
        </p:txBody>
      </p:sp>
      <p:sp>
        <p:nvSpPr>
          <p:cNvPr id="7" name="Subtitle"/>
          <p:cNvSpPr/>
          <p:nvPr/>
        </p:nvSpPr>
        <p:spPr>
          <a:xfrm>
            <a:off x="45720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Year 1 investment estimate ~$1M. Owners: Mike Markman (ERP Lead) + Hema Keshava (CFO/Sponsor). Final contract values pending close of commercial negotiation.</a:t>
            </a:r>
          </a:p>
        </p:txBody>
      </p:sp>
      <p:sp>
        <p:nvSpPr>
          <p:cNvPr id="8" name="Card1BG"/>
          <p:cNvSpPr/>
          <p:nvPr/>
        </p:nvSpPr>
        <p:spPr>
          <a:xfrm>
            <a:off x="457200" y="1737360"/>
            <a:ext cx="3900000" cy="290000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Card1Accent"/>
          <p:cNvSpPr/>
          <p:nvPr/>
        </p:nvSpPr>
        <p:spPr>
          <a:xfrm>
            <a:off x="457200" y="1737360"/>
            <a:ext cx="50292" cy="2900000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10" name="Card1Text"/>
          <p:cNvSpPr/>
          <p:nvPr/>
        </p:nvSpPr>
        <p:spPr>
          <a:xfrm>
            <a:off x="600000" y="1800000"/>
            <a:ext cx="365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44B"/>
                </a:solidFill>
                <a:latin typeface="Georgia" pitchFamily="34" charset="0"/>
              </a:rPr>
              <a:t>Year 1 Investment View</a:t>
            </a:r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</a:rPr>
              <a:t>NetSuite License &amp; Implementation</a:t>
            </a:r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</a:rPr>
              <a:t>Subscription + implementation services package. Contract values pending commercial close. ~$1M Year 1 assumption built into budget planning.</a:t>
            </a:r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</a:rPr>
              <a:t>Key Integrations (from NetSuite Interfaces XLSX)</a:t>
            </a:r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</a:rPr>
              <a:t>Trustpair (vendor validation): API via NS Integration Platform — included in base. Agicap (cash flow): Free SuiteApp. Workiva (reporting): €3,200/yr additional license. All other integrations included in implementation scope.</a:t>
            </a:r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</a:rPr>
              <a:t>Year 2+ Assumptions</a:t>
            </a:r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</a:rPr>
              <a:t>Annual subscription renewals. Post-go-live optimization and Phase 2 automation investment to be sized separately after January 1, 2027.</a:t>
            </a:r>
          </a:p>
        </p:txBody>
      </p:sp>
      <p:sp>
        <p:nvSpPr>
          <p:cNvPr id="11" name="Card2BG"/>
          <p:cNvSpPr/>
          <p:nvPr/>
        </p:nvSpPr>
        <p:spPr>
          <a:xfrm>
            <a:off x="4586800" y="1737360"/>
            <a:ext cx="3900000" cy="2900000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Card2Accent"/>
          <p:cNvSpPr/>
          <p:nvPr/>
        </p:nvSpPr>
        <p:spPr>
          <a:xfrm>
            <a:off x="4586800" y="1737360"/>
            <a:ext cx="50292" cy="2900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Card2Text"/>
          <p:cNvSpPr/>
          <p:nvPr/>
        </p:nvSpPr>
        <p:spPr>
          <a:xfrm>
            <a:off x="4730000" y="1800000"/>
            <a:ext cx="365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Georgia" pitchFamily="34" charset="0"/>
              </a:rPr>
              <a:t>Program Ownership &amp; Governance</a:t>
            </a:r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</a:rPr>
              <a:t>Internal Program Leads</a:t>
            </a:r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</a:rPr>
              <a:t>ERP Program Lead: Mike Markman (VP, Global ERP Lead). Executive Sponsor: Hema Keshava (CFO). Finance Process Lead: Trinidad Mesa (France). IT Lead: TBD. NetSuite provides dedicated implementation PM and functional consultants.</a:t>
            </a:r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</a:rPr>
              <a:t>Governance Cadence</a:t>
            </a:r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</a:rPr>
              <a:t>Weekly program cadence with milestone-triggered escalations. Monthly executive update to CFO. Board checkpoint at March 19 meeting. Audit Committee briefings at key control decision points.</a:t>
            </a:r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</a:rPr>
              <a:t>Note</a:t>
            </a:r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Commercial package finalization in progress. Final investment figures, detailed SOW, and contract terms will be shared with the Board at the March 19 meeting.</a:t>
            </a:r>
          </a:p>
        </p:txBody>
      </p:sp>
      <p:sp>
        <p:nvSpPr>
          <p:cNvPr id="14" name="FooterBar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15" name="FooterPageNum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4 / 9</a:t>
            </a:r>
          </a:p>
        </p:txBody>
      </p:sp>
      <p:sp>
        <p:nvSpPr>
          <p:cNvPr id="16" name="FooterLabel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Audit Committee ERP Controls Readout  ·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Committee ERP Controls Readout — March 2026</dc:title>
  <dc:subject>PptxGenJS Presentation</dc:subject>
  <dc:creator>Mike Markman</dc:creator>
  <cp:lastModifiedBy>Mike Markman</cp:lastModifiedBy>
  <cp:revision>1</cp:revision>
  <dcterms:created xsi:type="dcterms:W3CDTF">2026-02-28T01:32:13Z</dcterms:created>
  <dcterms:modified xsi:type="dcterms:W3CDTF">2026-02-28T01:32:13Z</dcterms:modified>
</cp:coreProperties>
</file>