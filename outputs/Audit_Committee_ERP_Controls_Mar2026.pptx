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0E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74320" cy="5143500"/>
          </a:xfrm>
          <a:prstGeom prst="rect">
            <a:avLst/>
          </a:prstGeom>
          <a:solidFill>
            <a:srgbClr val="C9A44B"/>
          </a:solidFill>
          <a:ln w="12700">
            <a:solidFill>
              <a:srgbClr val="C9A4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217920" y="0"/>
            <a:ext cx="2926080" cy="5143500"/>
          </a:xfrm>
          <a:prstGeom prst="rect">
            <a:avLst/>
          </a:prstGeom>
          <a:solidFill>
            <a:srgbClr val="142238"/>
          </a:solidFill>
          <a:ln w="12700">
            <a:solidFill>
              <a:srgbClr val="14223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457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C9A4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ABIVAX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097280"/>
            <a:ext cx="5486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Audit Committee</a:t>
            </a:r>
            <a:endParaRPr lang="en-US" sz="3800" dirty="0"/>
          </a:p>
          <a:p>
            <a:pPr algn="l" indent="0" marL="0">
              <a:buNone/>
            </a:pPr>
            <a:r>
              <a:rPr lang="en-US" sz="38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ERP Controls Readout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502920" y="2926080"/>
            <a:ext cx="5029200" cy="36576"/>
          </a:xfrm>
          <a:prstGeom prst="rect">
            <a:avLst/>
          </a:prstGeom>
          <a:solidFill>
            <a:srgbClr val="C9A44B"/>
          </a:solidFill>
          <a:ln w="12700">
            <a:solidFill>
              <a:srgbClr val="C9A44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3035808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March 2026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02920" y="33649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Committee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92240" y="5486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C9A4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92240" y="1051560"/>
            <a:ext cx="91440" cy="91440"/>
          </a:xfrm>
          <a:prstGeom prst="oval">
            <a:avLst/>
          </a:prstGeom>
          <a:solidFill>
            <a:srgbClr val="C9A44B"/>
          </a:solidFill>
          <a:ln w="12700">
            <a:solidFill>
              <a:srgbClr val="C9A44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56832" y="996696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Control Posture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92240" y="1691640"/>
            <a:ext cx="91440" cy="91440"/>
          </a:xfrm>
          <a:prstGeom prst="oval">
            <a:avLst/>
          </a:prstGeom>
          <a:solidFill>
            <a:srgbClr val="C9A44B"/>
          </a:solidFill>
          <a:ln w="12700">
            <a:solidFill>
              <a:srgbClr val="C9A4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56832" y="1636776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Control Gaps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92240" y="2331720"/>
            <a:ext cx="91440" cy="91440"/>
          </a:xfrm>
          <a:prstGeom prst="oval">
            <a:avLst/>
          </a:prstGeom>
          <a:solidFill>
            <a:srgbClr val="C9A44B"/>
          </a:solidFill>
          <a:ln w="12700">
            <a:solidFill>
              <a:srgbClr val="C9A44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56832" y="2276856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Control Model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92240" y="2971800"/>
            <a:ext cx="91440" cy="91440"/>
          </a:xfrm>
          <a:prstGeom prst="oval">
            <a:avLst/>
          </a:prstGeom>
          <a:solidFill>
            <a:srgbClr val="C9A44B"/>
          </a:solidFill>
          <a:ln w="12700">
            <a:solidFill>
              <a:srgbClr val="C9A44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56832" y="2916936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 Governance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92240" y="3611880"/>
            <a:ext cx="91440" cy="91440"/>
          </a:xfrm>
          <a:prstGeom prst="oval">
            <a:avLst/>
          </a:prstGeom>
          <a:solidFill>
            <a:srgbClr val="C9A44B"/>
          </a:solidFill>
          <a:ln w="12700">
            <a:solidFill>
              <a:srgbClr val="C9A44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56832" y="3557016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Committee Ask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C3158"/>
          </a:solidFill>
          <a:ln w="12700">
            <a:solidFill>
              <a:srgbClr val="1C315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74320" y="4754880"/>
            <a:ext cx="859536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·  AUDIT COMMITTEE USE ONLY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80E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2238"/>
          </a:solidFill>
          <a:ln w="12700">
            <a:solidFill>
              <a:srgbClr val="1422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54864" cy="658368"/>
          </a:xfrm>
          <a:prstGeom prst="rect">
            <a:avLst/>
          </a:prstGeom>
          <a:solidFill>
            <a:srgbClr val="C9A44B"/>
          </a:solidFill>
          <a:ln w="12700">
            <a:solidFill>
              <a:srgbClr val="C9A44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486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ABIVAX  ·  AUDIT COMMITTEE  ·  CONFIDENTIAL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0" y="0"/>
            <a:ext cx="3474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· Slide 1 of 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7498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Current Control Posture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42238"/>
          </a:solidFill>
          <a:ln w="12700">
            <a:solidFill>
              <a:srgbClr val="14223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846320"/>
            <a:ext cx="88696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74320" y="4846320"/>
            <a:ext cx="54864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Committee ERP Controls Readout  ·  March 2026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1389888"/>
            <a:ext cx="2011680" cy="777240"/>
          </a:xfrm>
          <a:prstGeom prst="rect">
            <a:avLst/>
          </a:prstGeom>
          <a:solidFill>
            <a:srgbClr val="0E1E38"/>
          </a:solidFill>
          <a:ln w="12700">
            <a:solidFill>
              <a:srgbClr val="1E3560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1389888"/>
            <a:ext cx="50292" cy="777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648" y="146304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38BD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143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12648" y="1883664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Controls Reviewed (CFTI)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633472" y="1389888"/>
            <a:ext cx="2011680" cy="777240"/>
          </a:xfrm>
          <a:prstGeom prst="rect">
            <a:avLst/>
          </a:prstGeom>
          <a:solidFill>
            <a:srgbClr val="0E1E38"/>
          </a:solidFill>
          <a:ln w="12700">
            <a:solidFill>
              <a:srgbClr val="1E3560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633472" y="1389888"/>
            <a:ext cx="50292" cy="77724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88920" y="146304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64748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45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2788920" y="1883664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Out-of-Scope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809744" y="1389888"/>
            <a:ext cx="2011680" cy="777240"/>
          </a:xfrm>
          <a:prstGeom prst="rect">
            <a:avLst/>
          </a:prstGeom>
          <a:solidFill>
            <a:srgbClr val="0E1E38"/>
          </a:solidFill>
          <a:ln w="12700">
            <a:solidFill>
              <a:srgbClr val="1E3560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809744" y="1389888"/>
            <a:ext cx="50292" cy="7772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65192" y="146304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4965192" y="1883664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or Design-Phase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986016" y="1389888"/>
            <a:ext cx="2011680" cy="777240"/>
          </a:xfrm>
          <a:prstGeom prst="rect">
            <a:avLst/>
          </a:prstGeom>
          <a:solidFill>
            <a:srgbClr val="0E1E38"/>
          </a:solidFill>
          <a:ln w="12700">
            <a:solidFill>
              <a:srgbClr val="1E3560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986016" y="1389888"/>
            <a:ext cx="50292" cy="77724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141464" y="146304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0B98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7141464" y="1883664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ERP-Addressable Signals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57200" y="2322576"/>
            <a:ext cx="4023360" cy="1078992"/>
          </a:xfrm>
          <a:prstGeom prst="rect">
            <a:avLst/>
          </a:prstGeom>
          <a:solidFill>
            <a:srgbClr val="0E1E38"/>
          </a:solidFill>
          <a:ln w="12700">
            <a:solidFill>
              <a:srgbClr val="1E3560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322576"/>
            <a:ext cx="50292" cy="1078992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85216" y="2414016"/>
            <a:ext cx="3822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Process Dependency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85216" y="2715768"/>
            <a:ext cx="3785616" cy="9144"/>
          </a:xfrm>
          <a:prstGeom prst="rect">
            <a:avLst/>
          </a:prstGeom>
          <a:solidFill>
            <a:srgbClr val="1C3158"/>
          </a:solidFill>
          <a:ln w="12700">
            <a:solidFill>
              <a:srgbClr val="1C315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85216" y="2761488"/>
            <a:ext cx="3794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P2P, reporting, and reconciliation activities remain heavily manual across Sage 100, Trustpair, and Agicap</a:t>
            </a:r>
            <a:endParaRPr lang="en-US" sz="1000" dirty="0"/>
          </a:p>
          <a:p>
            <a:pPr algn="l" marL="342900" indent="-342900"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evidence and traceability are inconsistent across systems</a:t>
            </a:r>
            <a:endParaRPr lang="en-US" sz="1000" dirty="0"/>
          </a:p>
          <a:p>
            <a:pPr algn="l" marL="342900" indent="-342900"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IT-dependent manual controls dominate current posture (42 of top automation types)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663440" y="2322576"/>
            <a:ext cx="4023360" cy="1078992"/>
          </a:xfrm>
          <a:prstGeom prst="rect">
            <a:avLst/>
          </a:prstGeom>
          <a:solidFill>
            <a:srgbClr val="0E1E38"/>
          </a:solidFill>
          <a:ln w="12700">
            <a:solidFill>
              <a:srgbClr val="1E3560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663440" y="2322576"/>
            <a:ext cx="50292" cy="1078992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791456" y="2414016"/>
            <a:ext cx="3822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Master and Payment Risk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791456" y="2715768"/>
            <a:ext cx="3785616" cy="9144"/>
          </a:xfrm>
          <a:prstGeom prst="rect">
            <a:avLst/>
          </a:prstGeom>
          <a:solidFill>
            <a:srgbClr val="1C3158"/>
          </a:solidFill>
          <a:ln w="12700">
            <a:solidFill>
              <a:srgbClr val="1C315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91456" y="2761488"/>
            <a:ext cx="3794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formal documented review of vendor additions/deletions in Sage 100 (FR-PTP-02G)</a:t>
            </a:r>
            <a:endParaRPr lang="en-US" sz="1000" dirty="0"/>
          </a:p>
          <a:p>
            <a:pPr algn="l" marL="342900" indent="-342900"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Changes to vendor master file not consistently reviewed or approved by Senior GL accountant</a:t>
            </a:r>
            <a:endParaRPr lang="en-US" sz="1000" dirty="0"/>
          </a:p>
          <a:p>
            <a:pPr algn="l" marL="342900" indent="-342900"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Compensating controls exist but are not formalized or evidence-retained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57200" y="3511296"/>
            <a:ext cx="4023360" cy="1078992"/>
          </a:xfrm>
          <a:prstGeom prst="rect">
            <a:avLst/>
          </a:prstGeom>
          <a:solidFill>
            <a:srgbClr val="0E1E38"/>
          </a:solidFill>
          <a:ln w="12700">
            <a:solidFill>
              <a:srgbClr val="1E3560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457200" y="3511296"/>
            <a:ext cx="50292" cy="10789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5216" y="3602736"/>
            <a:ext cx="3822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and Bridge Dependency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85216" y="3904488"/>
            <a:ext cx="3785616" cy="9144"/>
          </a:xfrm>
          <a:prstGeom prst="rect">
            <a:avLst/>
          </a:prstGeom>
          <a:solidFill>
            <a:srgbClr val="1C3158"/>
          </a:solidFill>
          <a:ln w="12700">
            <a:solidFill>
              <a:srgbClr val="1C315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85216" y="3950208"/>
            <a:ext cx="3794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 controls in Reporting/Data Model pillar under review</a:t>
            </a:r>
            <a:endParaRPr lang="en-US" sz="1000" dirty="0"/>
          </a:p>
          <a:p>
            <a:pPr algn="l" marL="342900" indent="-342900"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KPMG-dependent bridge process for French GAAP → IFRS/SEC close cycle</a:t>
            </a:r>
            <a:endParaRPr lang="en-US" sz="1000" dirty="0"/>
          </a:p>
          <a:p>
            <a:pPr algn="l" marL="342900" indent="-342900"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bridging introduces timing and accuracy risk ahead of commercialization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663440" y="3511296"/>
            <a:ext cx="4023360" cy="1078992"/>
          </a:xfrm>
          <a:prstGeom prst="rect">
            <a:avLst/>
          </a:prstGeom>
          <a:solidFill>
            <a:srgbClr val="0E1E38"/>
          </a:solidFill>
          <a:ln w="12700">
            <a:solidFill>
              <a:srgbClr val="1E3560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4663440" y="3511296"/>
            <a:ext cx="50292" cy="10789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791456" y="3602736"/>
            <a:ext cx="3822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Scalability Risk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4791456" y="3904488"/>
            <a:ext cx="3785616" cy="9144"/>
          </a:xfrm>
          <a:prstGeom prst="rect">
            <a:avLst/>
          </a:prstGeom>
          <a:solidFill>
            <a:srgbClr val="1C3158"/>
          </a:solidFill>
          <a:ln w="12700">
            <a:solidFill>
              <a:srgbClr val="1C315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791456" y="3950208"/>
            <a:ext cx="3794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posture is not scalable for future SEC filing scrutiny</a:t>
            </a:r>
            <a:endParaRPr lang="en-US" sz="1000" dirty="0"/>
          </a:p>
          <a:p>
            <a:pPr algn="l" marL="342900" indent="-342900"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US/France process divergence increases close and control complexity</a:t>
            </a:r>
            <a:endParaRPr lang="en-US" sz="1000" dirty="0"/>
          </a:p>
          <a:p>
            <a:pPr algn="l" marL="342900" indent="-342900"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design increases key-person and timing dependency risk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80E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2238"/>
          </a:solidFill>
          <a:ln w="12700">
            <a:solidFill>
              <a:srgbClr val="1422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54864" cy="658368"/>
          </a:xfrm>
          <a:prstGeom prst="rect">
            <a:avLst/>
          </a:prstGeom>
          <a:solidFill>
            <a:srgbClr val="C9A44B"/>
          </a:solidFill>
          <a:ln w="12700">
            <a:solidFill>
              <a:srgbClr val="C9A44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486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ABIVAX  ·  AUDIT COMMITTEE  ·  CONFIDENTIAL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0" y="0"/>
            <a:ext cx="3474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Gaps · Slide 2 of 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7498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Priority Control Gaps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42238"/>
          </a:solidFill>
          <a:ln w="12700">
            <a:solidFill>
              <a:srgbClr val="14223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846320"/>
            <a:ext cx="88696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74320" y="4846320"/>
            <a:ext cx="54864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Committee ERP Controls Readout  ·  March 2026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137160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ERP pillars face distinct control gaps. Each requires owner accountability and ERP-design remediation.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737360"/>
            <a:ext cx="2606040" cy="2926080"/>
          </a:xfrm>
          <a:prstGeom prst="rect">
            <a:avLst/>
          </a:prstGeom>
          <a:solidFill>
            <a:srgbClr val="0E1E38"/>
          </a:solidFill>
          <a:ln w="12700">
            <a:solidFill>
              <a:srgbClr val="38BDF8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1737360"/>
            <a:ext cx="2606040" cy="502920"/>
          </a:xfrm>
          <a:prstGeom prst="rect">
            <a:avLst/>
          </a:prstGeom>
          <a:solidFill>
            <a:srgbClr val="1C3158"/>
          </a:solidFill>
          <a:ln w="12700">
            <a:solidFill>
              <a:srgbClr val="1C315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5216" y="1773936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P2P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85216" y="201168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controls in scope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85216" y="230428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Gaps: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85216" y="2505456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approvals are manual and not system-enforced</a:t>
            </a:r>
            <a:endParaRPr lang="en-US" sz="900" dirty="0"/>
          </a:p>
          <a:p>
            <a:pPr algn="l" marL="342900" indent="-342900">
              <a:buSzPct val="100000"/>
              <a:buChar char="•"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capture fragmented across Sage, Trustpair, Agicap</a:t>
            </a:r>
            <a:endParaRPr lang="en-US" sz="900" dirty="0"/>
          </a:p>
          <a:p>
            <a:pPr algn="l" marL="342900" indent="-342900">
              <a:buSzPct val="100000"/>
              <a:buChar char="•"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automated vendor validation or change monitoring</a:t>
            </a:r>
            <a:endParaRPr lang="en-US" sz="900" dirty="0"/>
          </a:p>
          <a:p>
            <a:pPr algn="l" marL="342900" indent="-342900">
              <a:buSzPct val="100000"/>
              <a:buChar char="•"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execution lacks traceability to approval chain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85216" y="4041648"/>
            <a:ext cx="2368296" cy="9144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85216" y="4078224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design must: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85216" y="4261104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B0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must enforce approval workflows, centralize vendor master, and create audit trail from PO to payment.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246120" y="1737360"/>
            <a:ext cx="2606040" cy="2926080"/>
          </a:xfrm>
          <a:prstGeom prst="rect">
            <a:avLst/>
          </a:prstGeom>
          <a:solidFill>
            <a:srgbClr val="0E1E38"/>
          </a:solidFill>
          <a:ln w="12700">
            <a:solidFill>
              <a:srgbClr val="C9A44B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246120" y="1737360"/>
            <a:ext cx="2606040" cy="502920"/>
          </a:xfrm>
          <a:prstGeom prst="rect">
            <a:avLst/>
          </a:prstGeom>
          <a:solidFill>
            <a:srgbClr val="1C3158"/>
          </a:solidFill>
          <a:ln w="12700">
            <a:solidFill>
              <a:srgbClr val="1C315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74136" y="1773936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9A4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/ Data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374136" y="201168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 controls in scope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374136" y="230428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Gaps: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374136" y="2505456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 process is manual and KPMG-dependent each cycle</a:t>
            </a:r>
            <a:endParaRPr lang="en-US" sz="900" dirty="0"/>
          </a:p>
          <a:p>
            <a:pPr algn="l" marL="342900" indent="-342900">
              <a:buSzPct val="100000"/>
              <a:buChar char="•"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multi-entity, multi-GAAP native output capability</a:t>
            </a:r>
            <a:endParaRPr lang="en-US" sz="900" dirty="0"/>
          </a:p>
          <a:p>
            <a:pPr algn="l" marL="342900" indent="-342900">
              <a:buSzPct val="100000"/>
              <a:buChar char="•"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extracts lack dimensional tagging for FP&amp;A</a:t>
            </a:r>
            <a:endParaRPr lang="en-US" sz="900" dirty="0"/>
          </a:p>
          <a:p>
            <a:pPr algn="l" marL="342900" indent="-342900">
              <a:buSzPct val="100000"/>
              <a:buChar char="•"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Month-end close is quarterly-paced with manual reconciliation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374136" y="4041648"/>
            <a:ext cx="2368296" cy="9144"/>
          </a:xfrm>
          <a:prstGeom prst="rect">
            <a:avLst/>
          </a:prstGeom>
          <a:solidFill>
            <a:srgbClr val="C9A44B"/>
          </a:solidFill>
          <a:ln w="12700">
            <a:solidFill>
              <a:srgbClr val="C9A44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374136" y="4078224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9A4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design must: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374136" y="4261104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B0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must deliver a reporting data model that supports native close, extracts, and reduces consulting dependency.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035040" y="1737360"/>
            <a:ext cx="2606040" cy="2926080"/>
          </a:xfrm>
          <a:prstGeom prst="rect">
            <a:avLst/>
          </a:prstGeom>
          <a:solidFill>
            <a:srgbClr val="0E1E38"/>
          </a:solidFill>
          <a:ln w="12700">
            <a:solidFill>
              <a:srgbClr val="EF4444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035040" y="1737360"/>
            <a:ext cx="2606040" cy="502920"/>
          </a:xfrm>
          <a:prstGeom prst="rect">
            <a:avLst/>
          </a:prstGeom>
          <a:solidFill>
            <a:srgbClr val="1C3158"/>
          </a:solidFill>
          <a:ln w="12700">
            <a:solidFill>
              <a:srgbClr val="1C315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63056" y="1773936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Controls / Audit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163056" y="201168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 controls in scope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163056" y="230428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Gaps: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163056" y="2505456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single deficiency register with owner and due-date accountability</a:t>
            </a:r>
            <a:endParaRPr lang="en-US" sz="900" dirty="0"/>
          </a:p>
          <a:p>
            <a:pPr algn="l" marL="342900" indent="-342900">
              <a:buSzPct val="100000"/>
              <a:buChar char="•"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evidence is not retained in a system-managed repository</a:t>
            </a:r>
            <a:endParaRPr lang="en-US" sz="900" dirty="0"/>
          </a:p>
          <a:p>
            <a:pPr algn="l" marL="342900" indent="-342900">
              <a:buSzPct val="100000"/>
              <a:buChar char="•"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monitoring and failure escalation paths are undefined</a:t>
            </a:r>
            <a:endParaRPr lang="en-US" sz="900" dirty="0"/>
          </a:p>
          <a:p>
            <a:pPr algn="l" marL="342900" indent="-342900">
              <a:buSzPct val="100000"/>
              <a:buChar char="•"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SOD and access controls not consistently designed or tested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163056" y="4041648"/>
            <a:ext cx="2368296" cy="9144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163056" y="4078224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design must: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163056" y="4261104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B0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must be designed with control-by-design checkpoints: evidence retention, SOD, and audit trail as non-negotiable.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80E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2238"/>
          </a:solidFill>
          <a:ln w="12700">
            <a:solidFill>
              <a:srgbClr val="1422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54864" cy="658368"/>
          </a:xfrm>
          <a:prstGeom prst="rect">
            <a:avLst/>
          </a:prstGeom>
          <a:solidFill>
            <a:srgbClr val="C9A44B"/>
          </a:solidFill>
          <a:ln w="12700">
            <a:solidFill>
              <a:srgbClr val="C9A44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486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ABIVAX  ·  AUDIT COMMITTEE  ·  CONFIDENTIAL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0" y="0"/>
            <a:ext cx="3474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· Slide 3 of 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7498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Target Control Model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42238"/>
          </a:solidFill>
          <a:ln w="12700">
            <a:solidFill>
              <a:srgbClr val="14223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846320"/>
            <a:ext cx="88696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74320" y="4846320"/>
            <a:ext cx="54864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Committee ERP Controls Readout  ·  March 2026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137160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ERP program should be governed as a control-remediation program — not only a technology rollout. These are the design requirements.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737360"/>
            <a:ext cx="4023360" cy="1234440"/>
          </a:xfrm>
          <a:prstGeom prst="rect">
            <a:avLst/>
          </a:prstGeom>
          <a:solidFill>
            <a:srgbClr val="0E1E38"/>
          </a:solidFill>
          <a:ln w="12700">
            <a:solidFill>
              <a:srgbClr val="1E3560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1737360"/>
            <a:ext cx="50292" cy="12344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12648" y="1810512"/>
            <a:ext cx="347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8BD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005840" y="1810512"/>
            <a:ext cx="33649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Approvals and Role Controls In-System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12648" y="2157984"/>
            <a:ext cx="3767328" cy="9144"/>
          </a:xfrm>
          <a:prstGeom prst="rect">
            <a:avLst/>
          </a:prstGeom>
          <a:solidFill>
            <a:srgbClr val="1C3158"/>
          </a:solidFill>
          <a:ln w="12700">
            <a:solidFill>
              <a:srgbClr val="1C315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2648" y="2212848"/>
            <a:ext cx="37673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workflows, segregation of duties, and role-based access must be designed into the ERP configuration — not managed through compensating manual controls outside the system.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63440" y="1737360"/>
            <a:ext cx="4023360" cy="1234440"/>
          </a:xfrm>
          <a:prstGeom prst="rect">
            <a:avLst/>
          </a:prstGeom>
          <a:solidFill>
            <a:srgbClr val="0E1E38"/>
          </a:solidFill>
          <a:ln w="12700">
            <a:solidFill>
              <a:srgbClr val="1E3560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63440" y="1737360"/>
            <a:ext cx="50292" cy="1234440"/>
          </a:xfrm>
          <a:prstGeom prst="rect">
            <a:avLst/>
          </a:prstGeom>
          <a:solidFill>
            <a:srgbClr val="C9A44B"/>
          </a:solidFill>
          <a:ln w="12700">
            <a:solidFill>
              <a:srgbClr val="C9A44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18888" y="1810512"/>
            <a:ext cx="347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C9A4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5212080" y="1810512"/>
            <a:ext cx="33649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Standardize Feed Ownership and Monitoring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818888" y="2157984"/>
            <a:ext cx="3767328" cy="9144"/>
          </a:xfrm>
          <a:prstGeom prst="rect">
            <a:avLst/>
          </a:prstGeom>
          <a:solidFill>
            <a:srgbClr val="1C3158"/>
          </a:solidFill>
          <a:ln w="12700">
            <a:solidFill>
              <a:srgbClr val="1C315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18888" y="2212848"/>
            <a:ext cx="37673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data feed, integration, and handoff must have a named owner, defined monitoring step, and documented failure escalation path. No silent failures.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3108960"/>
            <a:ext cx="4023360" cy="1234440"/>
          </a:xfrm>
          <a:prstGeom prst="rect">
            <a:avLst/>
          </a:prstGeom>
          <a:solidFill>
            <a:srgbClr val="0E1E38"/>
          </a:solidFill>
          <a:ln w="12700">
            <a:solidFill>
              <a:srgbClr val="1E3560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57200" y="3108960"/>
            <a:ext cx="50292" cy="123444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12648" y="3182112"/>
            <a:ext cx="347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0B98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005840" y="3182112"/>
            <a:ext cx="33649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Traceable Flow: Transaction → Filing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12648" y="3529584"/>
            <a:ext cx="3767328" cy="9144"/>
          </a:xfrm>
          <a:prstGeom prst="rect">
            <a:avLst/>
          </a:prstGeom>
          <a:solidFill>
            <a:srgbClr val="1C3158"/>
          </a:solidFill>
          <a:ln w="12700">
            <a:solidFill>
              <a:srgbClr val="1C315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2648" y="3584448"/>
            <a:ext cx="37673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transaction must be traceable through approval, processing, and reporting to filing support. Evidence must be system-retained, not manually assembled each cycle.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663440" y="3108960"/>
            <a:ext cx="4023360" cy="1234440"/>
          </a:xfrm>
          <a:prstGeom prst="rect">
            <a:avLst/>
          </a:prstGeom>
          <a:solidFill>
            <a:srgbClr val="0E1E38"/>
          </a:solidFill>
          <a:ln w="12700">
            <a:solidFill>
              <a:srgbClr val="1E3560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663440" y="3108960"/>
            <a:ext cx="50292" cy="12344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18888" y="3182112"/>
            <a:ext cx="347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5212080" y="3182112"/>
            <a:ext cx="33649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 Entity Variations Under One Framework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818888" y="3529584"/>
            <a:ext cx="3767328" cy="9144"/>
          </a:xfrm>
          <a:prstGeom prst="rect">
            <a:avLst/>
          </a:prstGeom>
          <a:solidFill>
            <a:srgbClr val="1C3158"/>
          </a:solidFill>
          <a:ln w="12700">
            <a:solidFill>
              <a:srgbClr val="1C315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18888" y="3584448"/>
            <a:ext cx="37673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and France process variants must be rationalized within a common control framework. Divergence must be documented, justified, and bounded — not left to accumulate organically.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7200" y="4626864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France P2P and Reporting/FP&amp;A swimlane process visuals are available in the Process Flows section of the Spine for supporting detail.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80E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2238"/>
          </a:solidFill>
          <a:ln w="12700">
            <a:solidFill>
              <a:srgbClr val="1422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54864" cy="658368"/>
          </a:xfrm>
          <a:prstGeom prst="rect">
            <a:avLst/>
          </a:prstGeom>
          <a:solidFill>
            <a:srgbClr val="C9A44B"/>
          </a:solidFill>
          <a:ln w="12700">
            <a:solidFill>
              <a:srgbClr val="C9A44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486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ABIVAX  ·  AUDIT COMMITTEE  ·  CONFIDENTIAL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0" y="0"/>
            <a:ext cx="3474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 · Slide 4 of 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7498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Remediation Governance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42238"/>
          </a:solidFill>
          <a:ln w="12700">
            <a:solidFill>
              <a:srgbClr val="14223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846320"/>
            <a:ext cx="88696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74320" y="4846320"/>
            <a:ext cx="54864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Committee ERP Controls Readout  ·  March 2026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137160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dated remediation program is required now — not post-selection. ERP milestones must tie to control-closure checkpoints.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773936"/>
            <a:ext cx="5120640" cy="658368"/>
          </a:xfrm>
          <a:prstGeom prst="rect">
            <a:avLst/>
          </a:prstGeom>
          <a:solidFill>
            <a:srgbClr val="0E1E38"/>
          </a:solidFill>
          <a:ln w="12700">
            <a:solidFill>
              <a:srgbClr val="1E3560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1773936"/>
            <a:ext cx="50292" cy="65836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1792" y="1847088"/>
            <a:ext cx="4846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Deficiency Register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21792" y="21031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authoritative register with severity, owner, due date, and status. No parallel lists. Eliminates 'which version is current?' ambiguity.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487168"/>
            <a:ext cx="5120640" cy="658368"/>
          </a:xfrm>
          <a:prstGeom prst="rect">
            <a:avLst/>
          </a:prstGeom>
          <a:solidFill>
            <a:srgbClr val="0E1E38"/>
          </a:solidFill>
          <a:ln w="12700">
            <a:solidFill>
              <a:srgbClr val="1E3560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57200" y="2487168"/>
            <a:ext cx="50292" cy="658368"/>
          </a:xfrm>
          <a:prstGeom prst="rect">
            <a:avLst/>
          </a:prstGeom>
          <a:solidFill>
            <a:srgbClr val="C9A44B"/>
          </a:solidFill>
          <a:ln w="12700">
            <a:solidFill>
              <a:srgbClr val="C9A44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1792" y="2560320"/>
            <a:ext cx="4846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Remediation Governance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21792" y="281635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workstream cadence with monthly audit committee rollup. Owner-dated updates required; no status without evidence.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200400"/>
            <a:ext cx="5120640" cy="658368"/>
          </a:xfrm>
          <a:prstGeom prst="rect">
            <a:avLst/>
          </a:prstGeom>
          <a:solidFill>
            <a:srgbClr val="0E1E38"/>
          </a:solidFill>
          <a:ln w="12700">
            <a:solidFill>
              <a:srgbClr val="1E3560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200400"/>
            <a:ext cx="50292" cy="65836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1792" y="3273552"/>
            <a:ext cx="4846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Milestones → Control Checkpoints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21792" y="3529584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ERP design and blueprint milestones are tied to control-closure deliverables. Can't advance phase without closed evidence.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3913632"/>
            <a:ext cx="5120640" cy="658368"/>
          </a:xfrm>
          <a:prstGeom prst="rect">
            <a:avLst/>
          </a:prstGeom>
          <a:solidFill>
            <a:srgbClr val="0E1E38"/>
          </a:solidFill>
          <a:ln w="12700">
            <a:solidFill>
              <a:srgbClr val="1E3560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57200" y="3913632"/>
            <a:ext cx="50292" cy="658368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1792" y="3986784"/>
            <a:ext cx="4846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Escalation Protocol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21792" y="4242816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Slippage against critical control deficiencies triggers defined escalation. Audit committee notified monthly on at-risk items.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760720" y="1737360"/>
            <a:ext cx="2926080" cy="2944368"/>
          </a:xfrm>
          <a:prstGeom prst="rect">
            <a:avLst/>
          </a:prstGeom>
          <a:solidFill>
            <a:srgbClr val="0A1A1A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897880" y="179222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OPEN DATA GAPS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897880" y="20665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before deck is presentation-ready: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897880" y="2322576"/>
            <a:ext cx="2651760" cy="694944"/>
          </a:xfrm>
          <a:prstGeom prst="rect">
            <a:avLst/>
          </a:prstGeom>
          <a:solidFill>
            <a:srgbClr val="92400E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016752" y="2368296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Audit Committee Date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016752" y="2596896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DE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Camille to confirm exact date and time for the audit committee meeting. Deck timing and delivery format TBD.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897880" y="3090672"/>
            <a:ext cx="2651760" cy="694944"/>
          </a:xfrm>
          <a:prstGeom prst="rect">
            <a:avLst/>
          </a:prstGeom>
          <a:solidFill>
            <a:srgbClr val="92400E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016752" y="3136392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Commercial / Timeline Pack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016752" y="3364992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DE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Updated SAP vs. NetSuite financial comparison and timeline elements requested by Camille. Not yet reflected in current financial section.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897880" y="3858768"/>
            <a:ext cx="2651760" cy="694944"/>
          </a:xfrm>
          <a:prstGeom prst="rect">
            <a:avLst/>
          </a:prstGeom>
          <a:solidFill>
            <a:srgbClr val="92400E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16752" y="3904488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Adrian's 3-Slide Pack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016752" y="4133088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DE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 / timeline / financials pack requested by Adrian for audit committee prep. Content to be confirmed and formatted.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80E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92240" y="0"/>
            <a:ext cx="2651760" cy="5143500"/>
          </a:xfrm>
          <a:prstGeom prst="rect">
            <a:avLst/>
          </a:prstGeom>
          <a:solidFill>
            <a:srgbClr val="142238"/>
          </a:solidFill>
          <a:ln w="12700">
            <a:solidFill>
              <a:srgbClr val="1422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2238"/>
          </a:solidFill>
          <a:ln w="12700">
            <a:solidFill>
              <a:srgbClr val="14223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54864" cy="658368"/>
          </a:xfrm>
          <a:prstGeom prst="rect">
            <a:avLst/>
          </a:prstGeom>
          <a:solidFill>
            <a:srgbClr val="C9A44B"/>
          </a:solidFill>
          <a:ln w="12700">
            <a:solidFill>
              <a:srgbClr val="C9A4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64592" y="0"/>
            <a:ext cx="5486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ABIVAX  ·  AUDIT COMMITTEE  ·  CONFIDENTIAL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0" y="0"/>
            <a:ext cx="3474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· Slide 5 of 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498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Audit Committee Ask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42238"/>
          </a:solidFill>
          <a:ln w="12700">
            <a:solidFill>
              <a:srgbClr val="14223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46320"/>
            <a:ext cx="88696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6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74320" y="4846320"/>
            <a:ext cx="54864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Committee ERP Controls Readout  ·  March 2026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371600"/>
            <a:ext cx="5852160" cy="749808"/>
          </a:xfrm>
          <a:prstGeom prst="rect">
            <a:avLst/>
          </a:prstGeom>
          <a:solidFill>
            <a:srgbClr val="0E1E38"/>
          </a:solidFill>
          <a:ln w="12700">
            <a:solidFill>
              <a:srgbClr val="38BDF8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1371600"/>
            <a:ext cx="594360" cy="749808"/>
          </a:xfrm>
          <a:prstGeom prst="rect">
            <a:avLst/>
          </a:prstGeom>
          <a:solidFill>
            <a:srgbClr val="1C3158"/>
          </a:solidFill>
          <a:ln w="12700">
            <a:solidFill>
              <a:srgbClr val="1E356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1371600"/>
            <a:ext cx="594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8BD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152144" y="144475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Endorse Control-By-Design as Non-Negotiable ERP Principle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152144" y="1719072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that system-enforced controls, evidence retention, and SOD design are foundational ERP requirements — not post-implementation add-ons.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583680" y="1554480"/>
            <a:ext cx="1463040" cy="384048"/>
          </a:xfrm>
          <a:prstGeom prst="rect">
            <a:avLst/>
          </a:prstGeom>
          <a:solidFill>
            <a:srgbClr val="1C3158"/>
          </a:solidFill>
          <a:ln w="12700">
            <a:solidFill>
              <a:srgbClr val="1E356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0" y="155448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Cmte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2194560"/>
            <a:ext cx="5852160" cy="749808"/>
          </a:xfrm>
          <a:prstGeom prst="rect">
            <a:avLst/>
          </a:prstGeom>
          <a:solidFill>
            <a:srgbClr val="0E1E38"/>
          </a:solidFill>
          <a:ln w="12700">
            <a:solidFill>
              <a:srgbClr val="C9A44B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57200" y="2194560"/>
            <a:ext cx="594360" cy="749808"/>
          </a:xfrm>
          <a:prstGeom prst="rect">
            <a:avLst/>
          </a:prstGeom>
          <a:solidFill>
            <a:srgbClr val="1C3158"/>
          </a:solidFill>
          <a:ln w="12700">
            <a:solidFill>
              <a:srgbClr val="1E356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2194560"/>
            <a:ext cx="594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9A4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152144" y="22677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 Owner/Date Accountability on Priority Control Gaps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152144" y="2542032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that each CFTI-registered control gap has a named owner, dated remediation commitment, and visible status before ERP blueprint begins.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583680" y="2377440"/>
            <a:ext cx="1463040" cy="384048"/>
          </a:xfrm>
          <a:prstGeom prst="rect">
            <a:avLst/>
          </a:prstGeom>
          <a:solidFill>
            <a:srgbClr val="1C3158"/>
          </a:solidFill>
          <a:ln w="12700">
            <a:solidFill>
              <a:srgbClr val="1E356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83680" y="23774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A4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 / IT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57200" y="3017520"/>
            <a:ext cx="5852160" cy="749808"/>
          </a:xfrm>
          <a:prstGeom prst="rect">
            <a:avLst/>
          </a:prstGeom>
          <a:solidFill>
            <a:srgbClr val="0E1E38"/>
          </a:solidFill>
          <a:ln w="12700">
            <a:solidFill>
              <a:srgbClr val="10B981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57200" y="3017520"/>
            <a:ext cx="594360" cy="749808"/>
          </a:xfrm>
          <a:prstGeom prst="rect">
            <a:avLst/>
          </a:prstGeom>
          <a:solidFill>
            <a:srgbClr val="1C3158"/>
          </a:solidFill>
          <a:ln w="12700">
            <a:solidFill>
              <a:srgbClr val="1E356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3017520"/>
            <a:ext cx="594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0B98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152144" y="309067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Monthly Remediation Reporting Cadence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152144" y="3364992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Formally approve the format and frequency: weekly governance, monthly audit committee update with at-risk escalation and evidence-based status.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583680" y="3200400"/>
            <a:ext cx="1463040" cy="384048"/>
          </a:xfrm>
          <a:prstGeom prst="rect">
            <a:avLst/>
          </a:prstGeom>
          <a:solidFill>
            <a:srgbClr val="1C3158"/>
          </a:solidFill>
          <a:ln w="12700">
            <a:solidFill>
              <a:srgbClr val="1E356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83680" y="320040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Cmte / Mike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57200" y="3840480"/>
            <a:ext cx="5852160" cy="749808"/>
          </a:xfrm>
          <a:prstGeom prst="rect">
            <a:avLst/>
          </a:prstGeom>
          <a:solidFill>
            <a:srgbClr val="0E1E38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57200" y="3840480"/>
            <a:ext cx="594360" cy="749808"/>
          </a:xfrm>
          <a:prstGeom prst="rect">
            <a:avLst/>
          </a:prstGeom>
          <a:solidFill>
            <a:srgbClr val="1C3158"/>
          </a:solidFill>
          <a:ln w="12700">
            <a:solidFill>
              <a:srgbClr val="1E356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7200" y="3840480"/>
            <a:ext cx="594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1152144" y="391363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Authorize Fast-Track Support on Controls That Threaten Timeline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1152144" y="4187952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Grant authority to escalate resource constraints or decision delays that put critical control-closure checkpoints at risk ahead of Jan 1, 2027 go-live.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583680" y="4023360"/>
            <a:ext cx="1463040" cy="384048"/>
          </a:xfrm>
          <a:prstGeom prst="rect">
            <a:avLst/>
          </a:prstGeom>
          <a:solidFill>
            <a:srgbClr val="1C3158"/>
          </a:solidFill>
          <a:ln w="12700">
            <a:solidFill>
              <a:srgbClr val="1E356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83680" y="402336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Cmte / Hema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57200" y="4617720"/>
            <a:ext cx="5852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due: March 6, 2026  ·  Meeting: March 2026 (date TBD with Camille)  ·  Owner: Mike Markman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Audit Committee ERP Controls Readout — March 2026</dc:title>
  <dc:subject>PptxGenJS Presentation</dc:subject>
  <dc:creator>Mike Markman</dc:creator>
  <cp:lastModifiedBy>Mike Markman</cp:lastModifiedBy>
  <cp:revision>1</cp:revision>
  <dcterms:created xsi:type="dcterms:W3CDTF">2026-02-28T01:32:13Z</dcterms:created>
  <dcterms:modified xsi:type="dcterms:W3CDTF">2026-02-28T01:32:13Z</dcterms:modified>
</cp:coreProperties>
</file>