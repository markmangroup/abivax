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530352"/>
          </a:xfrm>
          <a:prstGeom prst="roundRect">
            <a:avLst>
              <a:gd name="adj" fmla="val 15000"/>
            </a:avLst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ERP Implementation: Roles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8899AA"/>
                </a:solidFill>
                <a:latin typeface="Calibri"/>
              </a:defRPr>
            </a:pPr>
            <a:r>
              <a:t>March 4, 2026  |  Directional, pre-contract  |  Formal RACI after signing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39451" y="420624"/>
            <a:ext cx="1312164" cy="219456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39451" y="448056"/>
            <a:ext cx="13121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00" b="1">
                <a:solidFill>
                  <a:srgbClr val="065F46"/>
                </a:solidFill>
                <a:latin typeface="Calibri"/>
              </a:defRPr>
            </a:pPr>
            <a:r>
              <a:t>Go-live Jan 1,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79231" y="420624"/>
            <a:ext cx="1490472" cy="219456"/>
          </a:xfrm>
          <a:prstGeom prst="roundRect">
            <a:avLst>
              <a:gd name="adj" fmla="val 15000"/>
            </a:avLst>
          </a:prstGeom>
          <a:solidFill>
            <a:srgbClr val="EE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9231" y="448056"/>
            <a:ext cx="14904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00" b="1">
                <a:solidFill>
                  <a:srgbClr val="3D2E9B"/>
                </a:solidFill>
                <a:latin typeface="Calibri"/>
              </a:defRPr>
            </a:pPr>
            <a:r>
              <a:t>Impl. start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00" b="1">
                <a:solidFill>
                  <a:srgbClr val="94A3B8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932688"/>
            <a:ext cx="164592" cy="128016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914400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Calibri"/>
              </a:defRPr>
            </a:pPr>
            <a:r>
              <a:t>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932688"/>
            <a:ext cx="164592" cy="128016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914400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Calibri"/>
              </a:defRPr>
            </a:pPr>
            <a:r>
              <a:t>France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932688"/>
            <a:ext cx="164592" cy="128016"/>
          </a:xfrm>
          <a:prstGeom prst="roundRect">
            <a:avLst>
              <a:gd name="adj" fmla="val 15000"/>
            </a:avLst>
          </a:prstGeom>
          <a:solidFill>
            <a:srgbClr val="FEFCE8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914400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Calibri"/>
              </a:defRPr>
            </a:pPr>
            <a:r>
              <a:t>External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115568"/>
            <a:ext cx="11277295" cy="512064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115568"/>
            <a:ext cx="11277295" cy="201168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143000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50" b="1">
                <a:solidFill>
                  <a:srgbClr val="94A3B8"/>
                </a:solidFill>
                <a:latin typeface="Calibri"/>
              </a:defRPr>
            </a:pPr>
            <a:r>
              <a:t>PROGRAM LEADERSHIP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10386"/>
            <a:ext cx="11277295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316736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150" y="1316736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37160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5070" y="1316736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135331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Executive Sponsor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1499616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Strategic oversight, 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1362456"/>
            <a:ext cx="1510588" cy="25603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06040" y="1389888"/>
            <a:ext cx="201168" cy="201168"/>
          </a:xfrm>
          <a:prstGeom prst="ellipse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40" y="1408176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43784" y="1399032"/>
            <a:ext cx="8705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Didier Blondel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32580" y="1408176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2580" y="14173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991B1B"/>
                </a:solidFill>
                <a:latin typeface="Calibri"/>
              </a:defRPr>
            </a:pPr>
            <a:r>
              <a:t>FR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664208"/>
            <a:ext cx="11277295" cy="5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1664208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150" y="1664208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1719072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5070" y="1664208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1700784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Program Director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1847088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Day-to-day program ownership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78608" y="1709928"/>
            <a:ext cx="1386230" cy="2560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606040" y="1737360"/>
            <a:ext cx="201168" cy="201168"/>
          </a:xfrm>
          <a:prstGeom prst="ellipse">
            <a:avLst/>
          </a:prstGeom>
          <a:solidFill>
            <a:srgbClr val="3D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06040" y="175564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MM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43784" y="1746504"/>
            <a:ext cx="74615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Mike Markman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08222" y="1755648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8222" y="1764792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1E40AF"/>
                </a:solidFill>
                <a:latin typeface="Calibri"/>
              </a:defRPr>
            </a:pPr>
            <a:r>
              <a:t>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011680"/>
            <a:ext cx="11277295" cy="5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2011680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9150" y="2011680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2066544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5070" y="2011680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204825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Finance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2194560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Finance process ownership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78608" y="2057400"/>
            <a:ext cx="1386230" cy="2560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606040" y="208483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40" y="210312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HK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43784" y="2093976"/>
            <a:ext cx="74615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Hema Keshava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08222" y="2103120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8222" y="211226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1E40AF"/>
                </a:solidFill>
                <a:latin typeface="Calibri"/>
              </a:defRPr>
            </a:pPr>
            <a:r>
              <a:t>US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2359152"/>
            <a:ext cx="11277295" cy="201168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2386584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50" b="1">
                <a:solidFill>
                  <a:srgbClr val="94A3B8"/>
                </a:solidFill>
                <a:latin typeface="Calibri"/>
              </a:defRPr>
            </a:pPr>
            <a:r>
              <a:t>EXTERNAL PARTNERS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2553970"/>
            <a:ext cx="11277295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2560320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9150" y="2560320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2615184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»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65070" y="2560320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259689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System Implementor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2743200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Technical delivery, migration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578608" y="2606040"/>
            <a:ext cx="1324051" cy="256032"/>
          </a:xfrm>
          <a:prstGeom prst="roundRect">
            <a:avLst>
              <a:gd name="adj" fmla="val 15000"/>
            </a:avLst>
          </a:prstGeom>
          <a:solidFill>
            <a:srgbClr val="FEFCE8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606040" y="2633472"/>
            <a:ext cx="201168" cy="20116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06040" y="265176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43784" y="2642616"/>
            <a:ext cx="68397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NetSuite PS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546043" y="2651760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546043" y="26609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713F12"/>
                </a:solidFill>
                <a:latin typeface="Calibri"/>
              </a:defRPr>
            </a:pPr>
            <a:r>
              <a:t>Ext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2907792"/>
            <a:ext cx="11277295" cy="5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2907792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19150" y="2907792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296265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»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65070" y="2907792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400" y="294436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PMO / Advisory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" y="3090672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Governance, vendor oversight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578608" y="2953512"/>
            <a:ext cx="1510588" cy="25603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606040" y="2980944"/>
            <a:ext cx="201168" cy="201168"/>
          </a:xfrm>
          <a:prstGeom prst="ellipse">
            <a:avLst/>
          </a:prstGeom>
          <a:solidFill>
            <a:srgbClr val="3D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06040" y="2999232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CG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43784" y="2990088"/>
            <a:ext cx="8705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Camille Girard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732580" y="2999232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32580" y="3008376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991B1B"/>
                </a:solidFill>
                <a:latin typeface="Calibri"/>
              </a:defRPr>
            </a:pPr>
            <a:r>
              <a:t>FR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162348" y="295351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189780" y="2980944"/>
            <a:ext cx="201168" cy="201168"/>
          </a:xfrm>
          <a:prstGeom prst="ellipse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89780" y="2999232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AB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27524" y="299008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Aymen Ben Alaya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378500" y="2999232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78500" y="3008376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991B1B"/>
                </a:solidFill>
                <a:latin typeface="Calibri"/>
              </a:defRPr>
            </a:pPr>
            <a:r>
              <a:t>FR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255264"/>
            <a:ext cx="11277295" cy="5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57200" y="3255264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9150" y="3255264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331012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»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465070" y="3255264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14400" y="3291840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SOX / Controls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4400" y="3438144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SOD, SDLC, ITGC, CFTI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578608" y="3300984"/>
            <a:ext cx="888796" cy="256032"/>
          </a:xfrm>
          <a:prstGeom prst="roundRect">
            <a:avLst>
              <a:gd name="adj" fmla="val 15000"/>
            </a:avLst>
          </a:prstGeom>
          <a:solidFill>
            <a:srgbClr val="FEFCE8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606040" y="3328416"/>
            <a:ext cx="201168" cy="201168"/>
          </a:xfrm>
          <a:prstGeom prst="ellipse">
            <a:avLst/>
          </a:prstGeom>
          <a:solidFill>
            <a:srgbClr val="B5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606040" y="334670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CF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843784" y="3337560"/>
            <a:ext cx="2487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CFGI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110788" y="3346704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110788" y="3355848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713F12"/>
                </a:solidFill>
                <a:latin typeface="Calibri"/>
              </a:defRPr>
            </a:pPr>
            <a:r>
              <a:t>Ext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3602736"/>
            <a:ext cx="11277295" cy="201168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94360" y="3630168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50" b="1">
                <a:solidFill>
                  <a:srgbClr val="94A3B8"/>
                </a:solidFill>
                <a:latin typeface="Calibri"/>
              </a:defRPr>
            </a:pPr>
            <a:r>
              <a:t>WORKSTREAM OWNERS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3797554"/>
            <a:ext cx="11277295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57200" y="3803904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19150" y="3803904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57200" y="385876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65070" y="3803904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4400" y="3840480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Record to Report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4400" y="3986784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Close, consolidation, financials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578608" y="3849624"/>
            <a:ext cx="1759305" cy="25603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606040" y="3877056"/>
            <a:ext cx="201168" cy="201168"/>
          </a:xfrm>
          <a:prstGeom prst="ellipse">
            <a:avLst/>
          </a:prstGeom>
          <a:solidFill>
            <a:srgbClr val="3D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06040" y="389534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PG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843784" y="3886200"/>
            <a:ext cx="111922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Philippe Goncalves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981297" y="3895344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981297" y="3904488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991B1B"/>
                </a:solidFill>
                <a:latin typeface="Calibri"/>
              </a:defRPr>
            </a:pPr>
            <a:r>
              <a:t>FR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411065" y="3849624"/>
            <a:ext cx="1261872" cy="2560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438497" y="3877056"/>
            <a:ext cx="201168" cy="201168"/>
          </a:xfrm>
          <a:prstGeom prst="ellipse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438497" y="389534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ME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676241" y="3886200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Matt Epley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316321" y="3895344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316321" y="3904488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1E40AF"/>
                </a:solidFill>
                <a:latin typeface="Calibri"/>
              </a:defRPr>
            </a:pPr>
            <a:r>
              <a:t>US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57200" y="4151376"/>
            <a:ext cx="11277295" cy="5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57200" y="4151376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19150" y="4151376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57200" y="4206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465070" y="4151376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14400" y="418795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Purchase to Pay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14400" y="4334256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PO, vendor master, AP, Trustpair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578608" y="4197096"/>
            <a:ext cx="1634947" cy="25603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606040" y="4224528"/>
            <a:ext cx="201168" cy="201168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606040" y="4242816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JC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43784" y="4233672"/>
            <a:ext cx="99486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Juliette Courtot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856939" y="4242816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856939" y="425196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991B1B"/>
                </a:solidFill>
                <a:latin typeface="Calibri"/>
              </a:defRPr>
            </a:pPr>
            <a:r>
              <a:t>FR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286707" y="4197096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314139" y="4224528"/>
            <a:ext cx="201168" cy="20116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314139" y="4242816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KG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51883" y="4233672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Kimberly Gordon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502859" y="4242816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502859" y="425196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1E40AF"/>
                </a:solidFill>
                <a:latin typeface="Calibri"/>
              </a:defRPr>
            </a:pPr>
            <a:r>
              <a:t>US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57200" y="4498848"/>
            <a:ext cx="11277295" cy="5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57200" y="4498848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19150" y="4498848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57200" y="4553712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65070" y="4498848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14400" y="4535424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FP&amp;A / Reporting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400" y="4681728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Budget, forecast, mgmt reporting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578608" y="4544568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2606040" y="4572000"/>
            <a:ext cx="201168" cy="201168"/>
          </a:xfrm>
          <a:prstGeom prst="ellipse">
            <a:avLst/>
          </a:prstGeom>
          <a:solidFill>
            <a:srgbClr val="109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606040" y="459028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FG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843784" y="458114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Frederick Golly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794760" y="4590288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794760" y="4599432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991B1B"/>
                </a:solidFill>
                <a:latin typeface="Calibri"/>
              </a:defRPr>
            </a:pPr>
            <a:r>
              <a:t>FR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57200" y="4846320"/>
            <a:ext cx="11277295" cy="5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57200" y="4846320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19150" y="4846320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57200" y="4901184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465070" y="4846320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14400" y="488289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Supplier Master Data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029200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Vendor master, onboarding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2578608" y="4892040"/>
            <a:ext cx="1634947" cy="25603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606040" y="4919472"/>
            <a:ext cx="201168" cy="201168"/>
          </a:xfrm>
          <a:prstGeom prst="ellipse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606040" y="493776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JC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843784" y="4928616"/>
            <a:ext cx="99486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Juliette Courtot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856939" y="4937760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856939" y="49469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991B1B"/>
                </a:solidFill>
                <a:latin typeface="Calibri"/>
              </a:defRPr>
            </a:pPr>
            <a:r>
              <a:t>FR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4286707" y="4892040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314139" y="4919472"/>
            <a:ext cx="201168" cy="20116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314139" y="4937760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KG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551883" y="4928616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Kimberly Gordon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502859" y="4937760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502859" y="4946904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1E40AF"/>
                </a:solidFill>
                <a:latin typeface="Calibri"/>
              </a:defRPr>
            </a:pPr>
            <a:r>
              <a:t>US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57200" y="5193792"/>
            <a:ext cx="11277295" cy="5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57200" y="5193792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9150" y="5193792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57200" y="524865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465070" y="5193792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14400" y="523036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GL / Chart of Accounts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14400" y="5376672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CoA design, balances, migration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2578608" y="5239512"/>
            <a:ext cx="1510588" cy="25603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06040" y="5266944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606040" y="5285232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DJ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843784" y="5276088"/>
            <a:ext cx="8705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Denis Jankovic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3732580" y="5285232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732580" y="5294376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991B1B"/>
                </a:solidFill>
                <a:latin typeface="Calibri"/>
              </a:defRPr>
            </a:pPr>
            <a:r>
              <a:t>FR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4162348" y="5239512"/>
            <a:ext cx="1261872" cy="2560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4189780" y="5266944"/>
            <a:ext cx="201168" cy="201168"/>
          </a:xfrm>
          <a:prstGeom prst="ellipse">
            <a:avLst/>
          </a:prstGeom>
          <a:solidFill>
            <a:srgbClr val="614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189780" y="5285232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ME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427524" y="527608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Matt Epley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5067604" y="5285232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067604" y="5294376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1E40AF"/>
                </a:solidFill>
                <a:latin typeface="Calibri"/>
              </a:defRPr>
            </a:pPr>
            <a:r>
              <a:t>US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57200" y="5541264"/>
            <a:ext cx="11277295" cy="5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57200" y="5541264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19150" y="5541264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57200" y="559612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465070" y="5541264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14400" y="5577840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Treasury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14400" y="5724144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Cash, bank connectivity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2578608" y="5586984"/>
            <a:ext cx="1634947" cy="25603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606040" y="5614416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2606040" y="563270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RS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843784" y="5623560"/>
            <a:ext cx="99486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Roxandra Sturdza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3856939" y="5632704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856939" y="5641848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991B1B"/>
                </a:solidFill>
                <a:latin typeface="Calibri"/>
              </a:defRPr>
            </a:pPr>
            <a:r>
              <a:t>FR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4286707" y="5586984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314139" y="5614416"/>
            <a:ext cx="201168" cy="20116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4314139" y="5632704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KG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551883" y="5623560"/>
            <a:ext cx="9326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Kimberly Gordon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5502859" y="5632704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502859" y="5641848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1E40AF"/>
                </a:solidFill>
                <a:latin typeface="Calibri"/>
              </a:defRPr>
            </a:pPr>
            <a:r>
              <a:t>US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57200" y="5888736"/>
            <a:ext cx="11277295" cy="5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57200" y="5888736"/>
            <a:ext cx="365760" cy="34747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19150" y="5888736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57200" y="594360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465070" y="5888736"/>
            <a:ext cx="381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914400" y="592531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F2A4A"/>
                </a:solidFill>
                <a:latin typeface="Calibri"/>
              </a:defRPr>
            </a:pPr>
            <a:r>
              <a:t>IT / Integration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14400" y="6071616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Infra, integrations, admin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2578608" y="5934456"/>
            <a:ext cx="1324051" cy="25603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2606040" y="5961888"/>
            <a:ext cx="201168" cy="201168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606040" y="5980176"/>
            <a:ext cx="201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JN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843784" y="5971032"/>
            <a:ext cx="68397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0F2A4A"/>
                </a:solidFill>
                <a:latin typeface="Calibri"/>
              </a:defRPr>
            </a:pPr>
            <a:r>
              <a:t>Jade Nguyen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3546043" y="5980176"/>
            <a:ext cx="274320" cy="16459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546043" y="59893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650" b="1">
                <a:solidFill>
                  <a:srgbClr val="991B1B"/>
                </a:solidFill>
                <a:latin typeface="Calibri"/>
              </a:defRPr>
            </a:pPr>
            <a:r>
              <a:t>FR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57200" y="6345936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Abivax ERP Program  |  Confidential  |  Generated March 4, 2026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8991295" y="6345936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Pre-contract, directional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