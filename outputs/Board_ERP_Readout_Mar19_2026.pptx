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Readout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02920" y="2926080"/>
            <a:ext cx="5029200" cy="36576"/>
          </a:xfrm>
          <a:prstGeom prst="rect">
            <a:avLst/>
          </a:prstGeom>
          <a:solidFill>
            <a:srgbClr val="8B7030"/>
          </a:solidFill>
          <a:ln w="12700">
            <a:solidFill>
              <a:srgbClr val="8B7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035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19,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Directors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548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1051560"/>
            <a:ext cx="91440" cy="91440"/>
          </a:xfrm>
          <a:prstGeom prst="oval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9966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Selection Decision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691640"/>
            <a:ext cx="91440" cy="91440"/>
          </a:xfrm>
          <a:prstGeom prst="oval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16367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Process Recap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2331720"/>
            <a:ext cx="91440" cy="91440"/>
          </a:xfrm>
          <a:prstGeom prst="oval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22768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NetSuite — Rationale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971800"/>
            <a:ext cx="91440" cy="91440"/>
          </a:xfrm>
          <a:prstGeom prst="oval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29169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Risk &amp; Mitigations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3611880"/>
            <a:ext cx="91440" cy="91440"/>
          </a:xfrm>
          <a:prstGeom prst="oval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35570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Ask — Next 90 Days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NOT FOR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  · 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Slide 1 of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Mandate and Timing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ERP Readout  ·  March 19,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44752"/>
            <a:ext cx="2606040" cy="10058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444752"/>
            <a:ext cx="50292" cy="1005840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5179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4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 1, 2027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2648" y="19751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Target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" y="22037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program anchor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46120" y="1444752"/>
            <a:ext cx="2606040" cy="10058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444752"/>
            <a:ext cx="5029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5179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 months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01568" y="19751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Remaining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1568" y="22037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April implementation start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1444752"/>
            <a:ext cx="2606040" cy="10058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444752"/>
            <a:ext cx="50292" cy="1005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15179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 19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90488" y="19751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Checkpoint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90488" y="22037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cycle — lock direction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596896"/>
            <a:ext cx="2606040" cy="201168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596896"/>
            <a:ext cx="2606040" cy="45720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4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5216" y="303580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ERP/SOX is a 2026 Finance Priority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" y="3438144"/>
            <a:ext cx="23682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priority with executive sponsorship. Selection process completed Sep 2025–Feb 2026 with full KPMG-supported methodology.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2596896"/>
            <a:ext cx="2606040" cy="201168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2596896"/>
            <a:ext cx="2606040" cy="45720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74136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4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374136" y="303580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1, 2027 Go-Live is Non-Negotiable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74136" y="3438144"/>
            <a:ext cx="23682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supports US public launch (Dec 2027) and commercial scaling commitments. Delay now compounds execution and control risk exponentially.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2596896"/>
            <a:ext cx="2606040" cy="201168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2596896"/>
            <a:ext cx="2606040" cy="45720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4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163056" y="303580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19 Locks Direction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63056" y="3438144"/>
            <a:ext cx="23682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decision this cycle should confirm NetSuite selection, implementation governance owners, and the path to early April mobilization start.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  · 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· Slide 2 of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Has Been Completed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ERP Readout  ·  March 19,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6-phase selection process — Sep 2025 to Feb 2026 — with full documentation at each stage.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1572768" cy="26060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33272" y="1847088"/>
            <a:ext cx="420624" cy="420624"/>
          </a:xfrm>
          <a:prstGeom prst="oval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3317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&amp; Scope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– Oct 2025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2999232"/>
            <a:ext cx="1298448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054096"/>
            <a:ext cx="1316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charter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selection scope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model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43684" y="3031236"/>
            <a:ext cx="54864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39112" y="2875788"/>
            <a:ext cx="9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107692" y="1737360"/>
            <a:ext cx="1572768" cy="26060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83764" y="1847088"/>
            <a:ext cx="420624" cy="420624"/>
          </a:xfrm>
          <a:prstGeom prst="oval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83764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99132" y="23317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9132" y="27432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– Nov 2025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44852" y="2999232"/>
            <a:ext cx="1298448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72284" y="3054096"/>
            <a:ext cx="1316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Pain-point mapping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gap analysis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stakeholder inputs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94176" y="3031236"/>
            <a:ext cx="54864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9604" y="2875788"/>
            <a:ext cx="9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758184" y="1737360"/>
            <a:ext cx="1572768" cy="26060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34256" y="1847088"/>
            <a:ext cx="420624" cy="420624"/>
          </a:xfrm>
          <a:prstGeom prst="oval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34256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49624" y="23317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&amp; Requirements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9624" y="27432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– Dec 2025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95344" y="2999232"/>
            <a:ext cx="1298448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22776" y="3054096"/>
            <a:ext cx="1316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finalized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issued to vendors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Bidder workshops held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44668" y="3031236"/>
            <a:ext cx="54864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0096" y="2875788"/>
            <a:ext cx="9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408676" y="1737360"/>
            <a:ext cx="1572768" cy="26060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84748" y="1847088"/>
            <a:ext cx="420624" cy="420624"/>
          </a:xfrm>
          <a:prstGeom prst="oval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4748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500116" y="23317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Analysis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00116" y="27432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Feb 2026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45836" y="2999232"/>
            <a:ext cx="1298448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3268" y="3054096"/>
            <a:ext cx="1316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comparison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scoring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evaluation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95160" y="3031236"/>
            <a:ext cx="54864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90588" y="2875788"/>
            <a:ext cx="9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059168" y="1737360"/>
            <a:ext cx="1572768" cy="2606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635240" y="1847088"/>
            <a:ext cx="420624" cy="420624"/>
          </a:xfrm>
          <a:prstGeom prst="oval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3524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150608" y="23317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150608" y="27432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26, 2026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96328" y="2999232"/>
            <a:ext cx="1298448" cy="91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23760" y="3054096"/>
            <a:ext cx="1316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NetSuite selected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KPMG-backed rationale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Post-selection next steps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KPMG-supported RFP analysis, financial comparison workbook, demo evaluations — all documented in SharePoint.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  · 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· Slide 3 of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Decision Outcome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ERP Readout  ·  March 19,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8229600" cy="804672"/>
          </a:xfrm>
          <a:prstGeom prst="rect">
            <a:avLst/>
          </a:prstGeom>
          <a:solidFill>
            <a:srgbClr val="0D2F1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371600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371600"/>
            <a:ext cx="5943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NetSuite Selected as Abivax ERP Platform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0" y="1371600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26, 2026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2606040" cy="16916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22576"/>
            <a:ext cx="260604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24140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Execution Fit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" y="2779776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for current Abivax organizational complexity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practicality vs. SAP's heavier dependency model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path to go-live for Jan 1, 2027 target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2322576"/>
            <a:ext cx="2606040" cy="16916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2322576"/>
            <a:ext cx="2606040" cy="36576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24140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Usability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74136" y="2779776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suited to Abivax finance team profile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change-management friction vs. enterprise-weight systems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 reduces training burden during mobilization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2322576"/>
            <a:ext cx="2606040" cy="16916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2322576"/>
            <a:ext cx="26060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24140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Implementation Model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63056" y="2779776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NetSuite ecosystem resources available for April start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KPMG-advised delivery model compatible with current setup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negotiation path is straightforward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8229600" cy="512064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6052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91640" y="4160520"/>
            <a:ext cx="6812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NetSuite / Oracle   ·   Negotiate commercial terms   ·   Confirm implementation mobilization scope   ·   Target April 2026 start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  · 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Slide 4 of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Delivery Risks and Mitigations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ERP Readout  ·  March 19,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risk is now the program's primary variable. Each risk below has a named mitigation and owner path.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4023360" cy="1389888"/>
          </a:xfrm>
          <a:prstGeom prst="rect">
            <a:avLst/>
          </a:prstGeom>
          <a:solidFill>
            <a:srgbClr val="0E1E3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" y="1883664"/>
            <a:ext cx="109728" cy="109728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1819656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Legacy Handoffs / Unclear Ownership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" y="2130552"/>
            <a:ext cx="3767328" cy="9144"/>
          </a:xfrm>
          <a:prstGeom prst="rect">
            <a:avLst/>
          </a:prstGeom>
          <a:solidFill>
            <a:srgbClr val="1E3560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176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" y="2359152"/>
            <a:ext cx="37673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owner matrix established by process and feed. Handoff accountability confirmed in blueprint phase before implementation start.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023360" cy="1389888"/>
          </a:xfrm>
          <a:prstGeom prst="rect">
            <a:avLst/>
          </a:prstGeom>
          <a:solidFill>
            <a:srgbClr val="0E1E3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" y="3392424"/>
            <a:ext cx="109728" cy="10972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328416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Evidence Gaps at Go-Live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" y="3639312"/>
            <a:ext cx="3767328" cy="9144"/>
          </a:xfrm>
          <a:prstGeom prst="rect">
            <a:avLst/>
          </a:prstGeom>
          <a:solidFill>
            <a:srgbClr val="1E3560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3685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5216" y="3867912"/>
            <a:ext cx="37673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Control-by-design checkpoints embedded in blueprint phase. ERP milestones tied to control-closure evidence requirements.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737360"/>
            <a:ext cx="4023360" cy="1389888"/>
          </a:xfrm>
          <a:prstGeom prst="rect">
            <a:avLst/>
          </a:prstGeom>
          <a:solidFill>
            <a:srgbClr val="0E1E3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91456" y="1883664"/>
            <a:ext cx="109728" cy="109728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1819656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Capacity Constraints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91456" y="2130552"/>
            <a:ext cx="3767328" cy="9144"/>
          </a:xfrm>
          <a:prstGeom prst="rect">
            <a:avLst/>
          </a:prstGeom>
          <a:solidFill>
            <a:srgbClr val="1E3560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2176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91456" y="2359152"/>
            <a:ext cx="37673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Phase-based staffing commitments required before April mobilization. Finance and IT capacity confirmed against workstream load model.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246120"/>
            <a:ext cx="4023360" cy="1389888"/>
          </a:xfrm>
          <a:prstGeom prst="rect">
            <a:avLst/>
          </a:prstGeom>
          <a:solidFill>
            <a:srgbClr val="0E1E3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91456" y="3392424"/>
            <a:ext cx="109728" cy="10972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3328416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Slippage Against Jan 1, 2027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91456" y="3639312"/>
            <a:ext cx="3767328" cy="9144"/>
          </a:xfrm>
          <a:prstGeom prst="rect">
            <a:avLst/>
          </a:prstGeom>
          <a:solidFill>
            <a:srgbClr val="1E3560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3685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91456" y="3867912"/>
            <a:ext cx="37673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workstream governance and monthly executive review. Escalation protocol triggered on critical-path slippage.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535424"/>
            <a:ext cx="118872" cy="118872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44988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463040" y="4535424"/>
            <a:ext cx="118872" cy="118872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27632" y="44988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2651760" cy="514350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  ·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· Slide 5 of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Decision and Next 90 Days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ERP Readout  ·  March 19,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5852160" cy="749808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371600"/>
            <a:ext cx="594360" cy="74980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716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4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2144" y="1444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NetSuite Selection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52144" y="17190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board recognition of NetSuite as the selected ERP platform and pivot governance focus from evaluation to implementation execution.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1554480"/>
            <a:ext cx="1463040" cy="38404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554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Didier / Board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5852160" cy="749808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194560"/>
            <a:ext cx="594360" cy="74980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19456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4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52144" y="22677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Negotiation and Contracting Ownership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2144" y="2542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 Mike and Hema as lead contacts for commercial negotiation with Oracle/NetSuite and KPMG implementation advisor engagement.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2377440"/>
            <a:ext cx="1463040" cy="38404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377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 / Mike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5852160" cy="749808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17520"/>
            <a:ext cx="594360" cy="74980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1752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4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52144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Staffing and Decision Rights for Design Phase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52144" y="336499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internal capacity commitments by function (Finance, IT, KPMG) ahead of April 2026 mobilization start.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3200400"/>
            <a:ext cx="1463040" cy="38404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3200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 / IT / Finance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840480"/>
            <a:ext cx="5852160" cy="749808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840480"/>
            <a:ext cx="594360" cy="74980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84048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4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52144" y="39136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Monthly Board-Ready Progress Reporting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52144" y="41879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reporting cadence: monthly executive update and board-ready progress report against Jan 1, 2027 milestones and pillar scorecard.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4023360"/>
            <a:ext cx="1463040" cy="38404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4023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/ Board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65392" y="4572000"/>
            <a:ext cx="1481328" cy="18288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57200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April 2026 Mobilization Start  →  Jan 1, 2027 Go-Live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ERP Readout — March 19, 2026</dc:title>
  <dc:subject>PptxGenJS Presentation</dc:subject>
  <dc:creator>Mike Markman</dc:creator>
  <cp:lastModifiedBy>Mike Markman</cp:lastModifiedBy>
  <cp:revision>1</cp:revision>
  <dcterms:created xsi:type="dcterms:W3CDTF">2026-02-28T01:27:35Z</dcterms:created>
  <dcterms:modified xsi:type="dcterms:W3CDTF">2026-02-28T01:27:35Z</dcterms:modified>
</cp:coreProperties>
</file>