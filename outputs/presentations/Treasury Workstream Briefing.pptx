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715000" type="screen16x10"/>
  <p:notesSz cx="6858000" cy="9144000"/>
  <p:defaultTextStyle>
    <a:defPPr>
      <a:defRPr lang="en-US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2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6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2CB79-84BC-F419-D228-7AFE1DA56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E1D03F-3510-BC37-3A1F-770BB36B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9B79-54B2-712A-8FAF-9087573A2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E17D9-08B9-C320-B169-78FDA8550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9D72C-9F44-BB88-600A-BC8EF7AA9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5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4A25D-2A81-0146-D081-BCFC65E68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9E56-C2AB-5A06-B15A-E6A40FEED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7718B-3826-417A-07AB-E4A387B22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6A757-D2E7-D7DE-3F14-14DE777D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44CBF-9B16-8AD8-D00D-6A62C0042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75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AAC61-92C5-2184-70A9-672C72A54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3F7E0-CAA5-8BD3-B2E0-25E7C1A70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2C29C-FC37-9CB5-754E-0B0C9198D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D194D-5598-0837-41CF-103ECAC4A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0D46BE-2A2B-4537-F745-371CEC01D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239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CC904-B116-174B-7426-151E284CD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7A999-205E-1807-BBF0-A631B7E7B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4C0D1B-2498-BC45-69E5-BF674D3EA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067F0-80AA-8F8A-B46C-057E0EB2D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E80C1F-2F28-A3B1-74FD-D3AA07F4E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5BFC5-DC6A-0802-A606-54105E341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60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3CE14-9C90-B602-FD1A-D77772013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DC58B-B96E-E6BE-8A3B-322263EE3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960F4-983F-CCB1-FBD8-97CAB5183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9E060-0C8E-7CA7-7112-58E4632FDA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DB670-7B53-E2E5-55D7-6D80BD0CCF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145C63-A363-44A5-96B4-8C9944F61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90FD4F-51D2-D1DB-14C0-2C980ACF2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496308-E388-89AE-7DA5-A040BFF8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394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5C07-3E88-557C-6976-6D12904F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D49ADE-1199-1B04-CA8E-3A053DC58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FA1B86-71B4-9FA3-C133-BEC615D9C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E531D4-A368-DF47-01F2-BEB243892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7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2AFDD-5871-EE68-F2F6-34BB2D8C0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2B5AFE-D528-E95C-91DB-1C0D45BB8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D3588-CF29-757A-A188-DD9154A1A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89788-C483-5FEC-0522-A59FE1536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EB1BE-9C63-54CB-A5EE-6C16834B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664B34-BFB3-35FF-7159-DD6FC940CA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B1E8E-A77D-8ECF-EC69-149724233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3A7C1-F2B2-4E2E-AAA1-861486A6B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F5678-01C1-6723-9E60-21DD640A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38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2122B-18B1-92B1-4F41-EE3C0062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EAA5A6-AB6C-DDCF-2F0F-E66C9CA413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F6F10-FD13-DF97-94A2-6BB7B68CA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56EE7-99C8-D9AE-C3D4-EAB5DC17D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07549-CE80-732A-1ADD-7A9948CFF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9B5DB-3077-A23F-3D5A-AFE0249C5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10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CFA6E-7AC2-7434-98FA-C9848CBE0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5873B3-15D2-E643-07B5-9054DF86F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C1FEFF-EF29-7B37-EE30-8A40D2108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FA206-194B-8779-F516-E075D81C0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DCD47-64B7-D01F-8ABA-747798C15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00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979EBF-30D5-FF91-D57C-7C4DE2F65A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4C8E3-591B-028C-9BB9-D11B61485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3C8B7-4CAB-BE90-C526-03AC493B5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4F1AB-BBEF-FFF9-C3C7-86DF179EB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A617D-0D0B-C5EB-F850-6ACFB2E0A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43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9E09-DAAF-16CD-AFE6-E8E76768A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B345B-4376-4271-6AFC-C63A581E5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2B366-57D8-6906-1D10-14F779998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72E3F-1BC0-C766-0300-F93A0A56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284B3-01D0-CE81-E574-11CD68BF1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61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6E065B-03B5-04B0-D02B-9A1F1EF15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C4F26-037A-BB62-702E-36CE075E7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42FD8-9C6A-7216-B561-5BD9EBCDE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4C64A-9D58-4047-9A2D-3F18001880C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98794-C7E7-A953-94CE-115F10F4ED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99EDF-2352-F603-332F-F44A4B727F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E440EB-7915-4406-B62C-ED08DC85C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206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E11A5-41D1-6EC6-CDFB-C5E7B773AE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200" b="1">
                <a:solidFill>
                  <a:srgbClr val="FFFFFF"/>
                </a:solidFill>
                <a:latin typeface="Calibri" panose="020F0502020204030204" pitchFamily="34" charset="0"/>
              </a:rPr>
              <a:t>Treasury Workstream Briefing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A7275-E5EE-3989-7273-C3F7119980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Roxandra Sturdza / Treasury Team | 2026-03-05</a:t>
            </a:r>
          </a:p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Owner: Mike Markman</a:t>
            </a:r>
          </a:p>
        </p:txBody>
      </p:sp>
    </p:spTree>
    <p:extLst>
      <p:ext uri="{BB962C8B-B14F-4D97-AF65-F5344CB8AC3E}">
        <p14:creationId xmlns:p14="http://schemas.microsoft.com/office/powerpoint/2010/main" val="3850379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5E620-B04C-A99C-6B17-9FC545561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Executive Frame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E7FAE-85B5-0268-B743-14FD937D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Baseline treasury current state with Roxandra, identify open gaps in bank connectivity and cash management, and scope treasury module requirements for Phase 1 ERP.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Treasury scope must be defined before NetSuite contract is signed.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Bank connectivity requires IT integration work (Jade) that must be planned now.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Agicap future and EBICS authorization structure are the two biggest open questions.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6AB269-CFF3-6BD2-B2E0-5F3EDE6EC79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A1B1E1-9680-77D8-1FFE-AFF15571FEB9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Roxandra Sturdza / Treasury Team focus</a:t>
            </a:r>
          </a:p>
        </p:txBody>
      </p:sp>
    </p:spTree>
    <p:extLst>
      <p:ext uri="{BB962C8B-B14F-4D97-AF65-F5344CB8AC3E}">
        <p14:creationId xmlns:p14="http://schemas.microsoft.com/office/powerpoint/2010/main" val="245937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4655D-E4FB-C914-4E7D-CC2C39A9D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Treasury Workstream Briefing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5708FA-F07D-F554-EB48-D60CA385F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Title slide with Roxandra Sturdza, ERP Program, March 5, 2026.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E3234E-8E37-FD61-2C71-1EEC8DC442E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4A757-86C2-59AF-C2A7-F5F0A5FB2DC8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Title | Visual: title</a:t>
            </a:r>
          </a:p>
        </p:txBody>
      </p:sp>
    </p:spTree>
    <p:extLst>
      <p:ext uri="{BB962C8B-B14F-4D97-AF65-F5344CB8AC3E}">
        <p14:creationId xmlns:p14="http://schemas.microsoft.com/office/powerpoint/2010/main" val="1188591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8464-BFBE-9953-7FCA-DD4D42CFD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Treasury in the ERP Program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92A47-255D-1605-00FE-04E220CF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R2R sub-workstream. Roxandra (FR), Kimberly (US). Go-live Jan 1, 2027. Mobilization Apr 2026.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628F40-5FA6-BE70-436E-E40AC356BFEC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B19A24-46C9-AE8A-12C4-169B922184EA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Context | Visual: icon + text</a:t>
            </a:r>
          </a:p>
        </p:txBody>
      </p:sp>
    </p:spTree>
    <p:extLst>
      <p:ext uri="{BB962C8B-B14F-4D97-AF65-F5344CB8AC3E}">
        <p14:creationId xmlns:p14="http://schemas.microsoft.com/office/powerpoint/2010/main" val="83226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149EE-62F0-DECA-6F82-6BFE88B2E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Current State â€” What We Know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E8DD86-4167-871E-57D5-575AE50C0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Sage â†’ Trustpair â†’ Agicap â†’ Bank. 2 campaigns/month. 497 vendors. 4-day lead time.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2E012D-C757-70BE-6343-5B62992F25F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196F6-FFA9-7306-371F-8961FC45EDF6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Current State | Visual: flow + stats</a:t>
            </a:r>
          </a:p>
        </p:txBody>
      </p:sp>
    </p:spTree>
    <p:extLst>
      <p:ext uri="{BB962C8B-B14F-4D97-AF65-F5344CB8AC3E}">
        <p14:creationId xmlns:p14="http://schemas.microsoft.com/office/powerpoint/2010/main" val="3091047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D8758-E8A0-66D1-65BA-8FA7D3A71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Current Systems Landscape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A03A-427B-84D9-B2E4-FC67D159B6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Sage 100, Trustpair, Agicap, Globalcash, EBICS â€” functions and SOX relevance.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80F2DD-3E87-0CEE-786C-CE1E5FA5DDB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24394-9BF5-D978-3688-8233BA56F0E1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Systems | Visual: table</a:t>
            </a:r>
          </a:p>
        </p:txBody>
      </p:sp>
    </p:spTree>
    <p:extLst>
      <p:ext uri="{BB962C8B-B14F-4D97-AF65-F5344CB8AC3E}">
        <p14:creationId xmlns:p14="http://schemas.microsoft.com/office/powerpoint/2010/main" val="243805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62A-5E47-756D-87F0-5712C00D2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Controls &amp; Compliance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0C692D-4D12-19E2-3863-747C3E9BC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FR-TR-12G (SoD), FR-TR-13G (SOC Review), plus payment-stage controls with status badges.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BF656-F3B7-78B2-A8FA-588174DAFC05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284A50-9EA1-59E3-EB81-DB0036431269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Controls | Visual: control table</a:t>
            </a:r>
          </a:p>
        </p:txBody>
      </p:sp>
    </p:spTree>
    <p:extLst>
      <p:ext uri="{BB962C8B-B14F-4D97-AF65-F5344CB8AC3E}">
        <p14:creationId xmlns:p14="http://schemas.microsoft.com/office/powerpoint/2010/main" val="345399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DDC49-75FD-A1D5-8B40-5DD8464B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Open Questions for Roxandra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644AC-ADC0-39E9-2FE3-4F5E571D8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9 discussion questions covering process, banks, Agicap, EBICS, reconciliation, intercompany, forecasting.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2127E3-745E-CCBD-0940-D112E295E149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1C58F1-8D43-8D79-F09F-01EDB6339CF3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Discussion | Visual: numbered list</a:t>
            </a:r>
          </a:p>
        </p:txBody>
      </p:sp>
    </p:spTree>
    <p:extLst>
      <p:ext uri="{BB962C8B-B14F-4D97-AF65-F5344CB8AC3E}">
        <p14:creationId xmlns:p14="http://schemas.microsoft.com/office/powerpoint/2010/main" val="2940043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68AC-00C9-2F2B-AB04-56C721FBF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Key Decision &amp; Next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1063-4A29-AE04-77E2-83EEDC050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Treasury module scope for Phase 1. Owners: Mike, Roxandra, Jade. Deadline: before blueprint.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224D20-9DEF-09D6-8CA9-67CE3B5C09F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51B5BD-D637-FD29-1862-96E85FF121EE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Decision | Visual: decision card</a:t>
            </a:r>
          </a:p>
        </p:txBody>
      </p:sp>
    </p:spTree>
    <p:extLst>
      <p:ext uri="{BB962C8B-B14F-4D97-AF65-F5344CB8AC3E}">
        <p14:creationId xmlns:p14="http://schemas.microsoft.com/office/powerpoint/2010/main" val="419026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80876-CEBA-0F2E-2773-E65B46D4D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Board Decision and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DC96E-EC61-0D5D-8E2B-FAB2AFC2F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selection direction and implementation posture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staffing commitments for design/build/cutover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governance cadence through go-live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Authorize immediate closure of critical execution risks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E26910-9526-694F-5F9F-8A05450243E7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D4B214-744A-8B06-DA19-CDC421CBE32B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Approval and governance asks</a:t>
            </a:r>
          </a:p>
        </p:txBody>
      </p:sp>
    </p:spTree>
    <p:extLst>
      <p:ext uri="{BB962C8B-B14F-4D97-AF65-F5344CB8AC3E}">
        <p14:creationId xmlns:p14="http://schemas.microsoft.com/office/powerpoint/2010/main" val="1386710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</Words>
  <Application>Microsoft Office PowerPoint</Application>
  <PresentationFormat>On-screen Show (16:10)</PresentationFormat>
  <Paragraphs>36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Treasury Workstream Briefing</vt:lpstr>
      <vt:lpstr>Executive Frame</vt:lpstr>
      <vt:lpstr>Treasury Workstream Briefing</vt:lpstr>
      <vt:lpstr>Treasury in the ERP Program</vt:lpstr>
      <vt:lpstr>Current State â€” What We Know</vt:lpstr>
      <vt:lpstr>Current Systems Landscape</vt:lpstr>
      <vt:lpstr>Controls &amp; Compliance</vt:lpstr>
      <vt:lpstr>Open Questions for Roxandra</vt:lpstr>
      <vt:lpstr>Key Decision &amp; Next Steps</vt:lpstr>
      <vt:lpstr>Board Decision and 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Markman</dc:creator>
  <cp:lastModifiedBy>Michael Markman</cp:lastModifiedBy>
  <cp:revision>1</cp:revision>
  <dcterms:created xsi:type="dcterms:W3CDTF">2026-03-06T15:27:13Z</dcterms:created>
  <dcterms:modified xsi:type="dcterms:W3CDTF">2026-03-06T15:27:13Z</dcterms:modified>
</cp:coreProperties>
</file>