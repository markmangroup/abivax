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715000" type="screen16x10"/>
  <p:notesSz cx="6858000" cy="9144000"/>
  <p:defaultTextStyle>
    <a:defPPr>
      <a:defRPr lang="en-US"/>
    </a:defPPr>
    <a:lvl1pPr marL="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1pPr>
    <a:lvl2pPr marL="35661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2pPr>
    <a:lvl3pPr marL="71323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3pPr>
    <a:lvl4pPr marL="106984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4pPr>
    <a:lvl5pPr marL="1426464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5pPr>
    <a:lvl6pPr marL="1783080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6pPr>
    <a:lvl7pPr marL="2139696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7pPr>
    <a:lvl8pPr marL="2496312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8pPr>
    <a:lvl9pPr marL="2852928" algn="l" defTabSz="713232" rtl="0" eaLnBrk="1" latinLnBrk="0" hangingPunct="1">
      <a:defRPr sz="1404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22" autoAdjust="0"/>
    <p:restoredTop sz="94660"/>
  </p:normalViewPr>
  <p:slideViewPr>
    <p:cSldViewPr snapToGrid="0">
      <p:cViewPr varScale="1">
        <p:scale>
          <a:sx n="121" d="100"/>
          <a:sy n="121" d="100"/>
        </p:scale>
        <p:origin x="667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46803-34F4-5208-EA47-DB47F0B2F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FA5A0-951C-E7B5-5BC1-56ED3569D39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0028D1-8114-896E-5736-749907ED4F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99D1F-3A2B-A9DD-9BB4-5F2F42782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F37F0-DCDF-772B-5AE6-0DBF910ED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8551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4FC56-5660-355C-D640-70A240082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F513D-E749-E703-BC20-4D8D7C117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A2045-9CBD-E265-EF5A-526DB503B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376AE3-971C-520D-0805-989007396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BFD9E2-8912-713F-C269-129167D4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88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D873B-98F0-EE16-93FF-08AF5148C5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3AB5C-F9DA-F88B-0EB3-6CB05C890E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E5356-4BDA-14E9-81FC-E851F8926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442FE6-EFEA-FD23-8269-CA3315C0E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A586BE-79FE-A76C-89F6-796DF9027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5808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CBC5A-E67B-F350-F75E-DF1E205B3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AA502-FE3D-465A-0107-DA7656C6F6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575FA0-E03D-4719-EBF8-DFC69A5ECC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72FB41-D22F-4209-3D2B-69ACA1555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F12EE-9330-826E-BC2B-F10612DDB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37DAA0-98D5-29AC-1115-A42A0FE79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3538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F806A5-B360-3A6A-1233-FEB29C733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79E50EA-CCEC-1710-C30C-A45D0113A1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A17E4-139A-E04B-5DA9-AAE73E0FB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8EDA56-D3CA-201C-CBBF-57DE3BDF5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3FC3DE4-20CA-8084-C7E0-7E079DE9AD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A38153-5438-8098-3B0E-FD6CDA872E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1889D0-09BF-EA56-7D72-45072F99B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4AFB84-972B-569D-36C6-2C7995244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5269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7A59B-D417-1AAD-A168-B2821F861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061788-79F7-AD5B-E560-A59508722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BFB55B-4D9C-F1CB-EBCF-57B4D195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1C4DD-455D-03AA-CBA9-756D2B8C0D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8963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B870A70-1149-DF85-B3E9-961F4E932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7CF9D-0FC5-9380-6487-4E92C50375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7D999A-2E86-9FCE-FEE2-853EE40F5A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1649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E50BE-A340-C273-252D-F6784A3C8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97F4E7-27A5-63F4-803A-B61F1B46D5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A3AFD-DB47-95D6-8AC5-D4095C5610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81AB7-3A91-C8DD-3673-D0BF7D376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E9338D-AC23-86B4-1457-1C9494183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C40321-15C4-C2C1-AA03-F925E748C6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468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8D9F58-A3A1-8E56-846E-FA61BD138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04EDAC-8EA3-3694-52E6-AE2D18050E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4EEE50-B533-53CB-C1FD-1B62AA56E5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513B71-9856-2669-C8F9-F61E55410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CCC803-D302-2E5A-45CA-3A98D694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E204BF-2FE6-47BE-780F-AC0CFD395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0481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3F35C-98AF-E0EB-D8C9-7CEE6AA70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FEFB19-0B56-BEA1-9F7E-DF47FF7556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766CAD-B522-0EB2-1B31-65D0741EE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C9DD2E-3471-972B-33C6-7D02BFB2EC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C896F3-2DA6-28D8-36A1-4DCFFE705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2205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A7A9EC7-9450-D169-790A-50A151744D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B515F5-B55D-B158-ACF8-68E0135FC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3B8D8D-F56D-787A-074E-496922474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92D1-5B12-BB2B-9720-51E309936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3BDE92-0BBB-364E-3E26-1088AC4207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258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56714-29A3-798C-2D34-F450EBE39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CF343D-EF46-02EC-857F-00149C5BC3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EE31D-68E0-81CE-C8D6-90A180ED9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9CB8C-B647-FB38-A9A4-44A894EBC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74A6DB-C854-0E8F-4536-2DE7677CD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5400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9E6BF39-9E47-18DF-01FE-3B1EB71C34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3C4615-4FAD-E6E6-F13E-95AC1B728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BE381-AC5B-6D39-239C-BF96CB7E0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69837E-8DD3-4616-A2B4-2EFC1FEB7CFA}" type="datetimeFigureOut">
              <a:rPr lang="en-US" smtClean="0"/>
              <a:t>3/6/2026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D03A3-0262-A647-820C-0700B9E1F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A5BD09-387C-7187-8F30-EF7E570762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B476AA-F3E6-4102-ACE1-ED2CF3468A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643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C883-B164-C514-1B1A-8C1ADEFEEE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200" b="1">
                <a:solidFill>
                  <a:srgbClr val="FFFFFF"/>
                </a:solidFill>
                <a:latin typeface="Calibri" panose="020F0502020204030204" pitchFamily="34" charset="0"/>
              </a:rPr>
              <a:t>Board ERP Readout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2B9C4B-5776-6AC2-4164-B14302FB43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DEDEDE"/>
                </a:solidFill>
                <a:latin typeface="Calibri" panose="020F0502020204030204" pitchFamily="34" charset="0"/>
              </a:rPr>
              <a:t>Board | 2026-03-19</a:t>
            </a:r>
          </a:p>
          <a:p>
            <a:r>
              <a:rPr lang="en-US">
                <a:solidFill>
                  <a:srgbClr val="DEDEDE"/>
                </a:solidFill>
                <a:latin typeface="Calibri" panose="020F0502020204030204" pitchFamily="34" charset="0"/>
              </a:rPr>
              <a:t>Owner: Mike Markman</a:t>
            </a:r>
          </a:p>
        </p:txBody>
      </p:sp>
    </p:spTree>
    <p:extLst>
      <p:ext uri="{BB962C8B-B14F-4D97-AF65-F5344CB8AC3E}">
        <p14:creationId xmlns:p14="http://schemas.microsoft.com/office/powerpoint/2010/main" val="30357466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E6B4C-9863-0606-C3BC-905796B28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Executive Frame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E45135-0F8E-FB17-8734-8435D986E0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Secure board alignment on ERP selection direction, implementation risk controls, and the first 90-day execution posture to protect Jan 1, 2027 go-live.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Selection process is rigorous and source-backed.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Primary risk is execution capacity and governance discipline.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 focused 90-day plan de-risks Jan 1, 2027 readiness.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13211E4-D58E-BA1D-51AE-BAB25BA309D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80328A9-D98E-4EFC-6AB8-39856495E1D5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Board focus</a:t>
            </a:r>
          </a:p>
        </p:txBody>
      </p:sp>
    </p:spTree>
    <p:extLst>
      <p:ext uri="{BB962C8B-B14F-4D97-AF65-F5344CB8AC3E}">
        <p14:creationId xmlns:p14="http://schemas.microsoft.com/office/powerpoint/2010/main" val="3179104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2248BC-4CFF-E734-D55C-D1B747BDF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Mandate and Timing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6FF767-5370-7986-7A4C-57AA308688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ERP/SOX is a declared 2026 finance priority with executive sponsorship.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Jan 1, 2027 go-live remains the operating target.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March 19 board cycle is the decision-communication checkpoint.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Delay now increases execution and control risk.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893912C-E1D7-A380-8FE2-3777B08DE46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9EB44-1501-5BE8-89CE-C8CB9F15C0E0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Context | Visual: timeline</a:t>
            </a:r>
          </a:p>
        </p:txBody>
      </p:sp>
    </p:spTree>
    <p:extLst>
      <p:ext uri="{BB962C8B-B14F-4D97-AF65-F5344CB8AC3E}">
        <p14:creationId xmlns:p14="http://schemas.microsoft.com/office/powerpoint/2010/main" val="26190735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44C06-1FB7-1417-02BF-46922B07A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What Has Been Completed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F54A8F-0065-9930-F591-59FB347811E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Initiate and scope completed (Sep-Oct 2025).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Diagnostic and pain-point mapping completed (Oct-Nov 2025).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RFP workshops and requirements completed (Nov-Dec 2025).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Bid analysis, shortlist, and demos completed (Jan-Feb 2026).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601513-509E-C167-5E12-FF733B97FAF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AEFBC-A7DE-FCAD-DAAE-2D01140C97D9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Process | Visual: phase-map</a:t>
            </a:r>
          </a:p>
        </p:txBody>
      </p:sp>
    </p:spTree>
    <p:extLst>
      <p:ext uri="{BB962C8B-B14F-4D97-AF65-F5344CB8AC3E}">
        <p14:creationId xmlns:p14="http://schemas.microsoft.com/office/powerpoint/2010/main" val="28830087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1248-704E-BCEE-50A6-CBDDDADE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Selection Decision Outcome and Tradeoffs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D78976-DAA5-D192-EA80-EF9F1F075B6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Abivax team aligned on NetSuite as the selected path on February 26, 2026.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Decision reflects execution fit, usability, and implementation practicality for current organization size and constraints.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Open items now move to commercial negotiation, scope confirmation, and implementation mobilization timing.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Target remains early April mobilization to support Jan 1, 2027 go-live objective.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D0DABDD-4081-B47B-C8C9-9597D2938C80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D9DFBC-C02D-8E12-0285-EA646AE63DB5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Decision | Visual: matrix</a:t>
            </a:r>
          </a:p>
        </p:txBody>
      </p:sp>
    </p:spTree>
    <p:extLst>
      <p:ext uri="{BB962C8B-B14F-4D97-AF65-F5344CB8AC3E}">
        <p14:creationId xmlns:p14="http://schemas.microsoft.com/office/powerpoint/2010/main" val="1899066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0003-7B6F-442A-D624-5E49C99890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Top Delivery Risks and Mitigations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800F7-9624-7F38-851C-E921FCF011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Risk: manual legacy handoffs and unclear ownership. Mitigation: named owner matrix by process/feed.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Risk: business capacity constraints. Mitigation: phase-based staffing commitments.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Risk: control evidence gaps. Mitigation: control-by-design checkpoints in blueprint phase.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Risk: timeline slippage. Mitigation: weekly workstream governance and monthly executive review.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04B81AB-0D32-0AEC-746D-333331BAFFB8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9D20DE-5345-DB29-2898-59EB5E753B43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Risk | Visual: risk-heatmap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C0AA5B3-8343-6298-81E6-8A6557E87C99}"/>
              </a:ext>
            </a:extLst>
          </p:cNvPr>
          <p:cNvSpPr/>
          <p:nvPr/>
        </p:nvSpPr>
        <p:spPr>
          <a:xfrm>
            <a:off x="6604000" y="1524000"/>
            <a:ext cx="4826000" cy="2667000"/>
          </a:xfrm>
          <a:prstGeom prst="rect">
            <a:avLst/>
          </a:prstGeom>
          <a:solidFill>
            <a:srgbClr val="262626">
              <a:alpha val="92000"/>
            </a:srgbClr>
          </a:solidFill>
          <a:ln>
            <a:solidFill>
              <a:srgbClr val="55555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3749CD-3AF0-BD7C-F0C8-9A9276D8F946}"/>
              </a:ext>
            </a:extLst>
          </p:cNvPr>
          <p:cNvSpPr txBox="1"/>
          <p:nvPr/>
        </p:nvSpPr>
        <p:spPr>
          <a:xfrm>
            <a:off x="6731000" y="1625600"/>
            <a:ext cx="4572000" cy="240065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Process Visual Summary (source-backed)</a:t>
            </a:r>
          </a:p>
          <a:p>
            <a:endParaRPr lang="en-US" sz="1000">
              <a:solidFill>
                <a:srgbClr val="F0F0F0"/>
              </a:solidFill>
              <a:latin typeface="Calibri" panose="020F0502020204030204" pitchFamily="34" charset="0"/>
            </a:endParaRP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France P2P (SA) Current vs Future State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Steps: Vendor setup / validation -&gt; Invoice / coding / approval flow -&gt; Payment validation and execution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Control overlays: 3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 - P2P controls (3) | ERP 1 | OOS 1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 - P2P controls (5) | ERP 3 | OOS 4</a:t>
            </a:r>
          </a:p>
          <a:p>
            <a:endParaRPr lang="en-US" sz="1000">
              <a:solidFill>
                <a:srgbClr val="F0F0F0"/>
              </a:solidFill>
              <a:latin typeface="Calibri" panose="020F0502020204030204" pitchFamily="34" charset="0"/>
            </a:endParaRP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Reporting / FP&amp;A Data Flow Current vs Future State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Steps: Source accounting / exports -&gt; Bridge / consolidation / IFRS &amp; SEC support -&gt; Management / departmental reporting and forecast visibility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Control overlays: 3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 - Reporting controls (11) | ERP 2 | Design 2 | OOS 6</a:t>
            </a:r>
          </a:p>
          <a:p>
            <a:r>
              <a:rPr lang="en-US" sz="1000">
                <a:solidFill>
                  <a:srgbClr val="F0F0F0"/>
                </a:solidFill>
                <a:latin typeface="Calibri" panose="020F0502020204030204" pitchFamily="34" charset="0"/>
              </a:rPr>
              <a:t> - Reporting controls (17) | Design 8 | OOS 4</a:t>
            </a:r>
          </a:p>
        </p:txBody>
      </p:sp>
    </p:spTree>
    <p:extLst>
      <p:ext uri="{BB962C8B-B14F-4D97-AF65-F5344CB8AC3E}">
        <p14:creationId xmlns:p14="http://schemas.microsoft.com/office/powerpoint/2010/main" val="2095963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FF185-0B27-20D6-C5E8-8AD5C9F89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Board Decision and Next 90 Days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93FBF1-9AFF-474F-D290-6382871F3F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Acknowledge NetSuite selection and pivot governance focus to implementation execution risk.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post-selection negotiation/contracting ownership and cadence (Mike/Hema with vendor and advisors).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staffing and decision rights for design phase mobilization ahead of early April start target.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Maintain monthly executive and board-ready progress reporting against Jan 1, 2027 target.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792EA2-98C4-6A66-424E-78B9A3B6C62D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F86337-5E4E-19ED-50B8-691B0DC6FE90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Ask | Visual: decision</a:t>
            </a:r>
          </a:p>
        </p:txBody>
      </p:sp>
    </p:spTree>
    <p:extLst>
      <p:ext uri="{BB962C8B-B14F-4D97-AF65-F5344CB8AC3E}">
        <p14:creationId xmlns:p14="http://schemas.microsoft.com/office/powerpoint/2010/main" val="27811655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1C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F22DF6-B880-AA0E-A5B3-E76A6A6E7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400" b="1">
                <a:solidFill>
                  <a:srgbClr val="FFFFFF"/>
                </a:solidFill>
                <a:latin typeface="Calibri" panose="020F0502020204030204" pitchFamily="34" charset="0"/>
              </a:rPr>
              <a:t>Board Decision and Actions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B1BF5-2E07-62DF-D322-57F4542D81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selection direction and implementation posture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staffing commitments for design/build/cutover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Confirm governance cadence through go-live</a:t>
            </a:r>
          </a:p>
          <a:p>
            <a:r>
              <a:rPr lang="en-US" sz="2200">
                <a:solidFill>
                  <a:srgbClr val="F0F0F0"/>
                </a:solidFill>
                <a:latin typeface="Calibri" panose="020F0502020204030204" pitchFamily="34" charset="0"/>
              </a:rPr>
              <a:t>Authorize immediate closure of critical execution risks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E19C2E-DE5C-8F8C-C85C-88D2B08F8976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28BA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90D222-C48F-F51E-8F25-A506C2C7A63F}"/>
              </a:ext>
            </a:extLst>
          </p:cNvPr>
          <p:cNvSpPr txBox="1"/>
          <p:nvPr/>
        </p:nvSpPr>
        <p:spPr>
          <a:xfrm>
            <a:off x="698500" y="1168400"/>
            <a:ext cx="10922000" cy="30841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400">
                <a:solidFill>
                  <a:srgbClr val="999999"/>
                </a:solidFill>
                <a:latin typeface="Calibri" panose="020F0502020204030204" pitchFamily="34" charset="0"/>
              </a:rPr>
              <a:t>Approval and governance asks</a:t>
            </a:r>
          </a:p>
        </p:txBody>
      </p:sp>
    </p:spTree>
    <p:extLst>
      <p:ext uri="{BB962C8B-B14F-4D97-AF65-F5344CB8AC3E}">
        <p14:creationId xmlns:p14="http://schemas.microsoft.com/office/powerpoint/2010/main" val="2611394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539</Words>
  <Application>Microsoft Office PowerPoint</Application>
  <PresentationFormat>On-screen Show (16:10)</PresentationFormat>
  <Paragraphs>58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Office Theme</vt:lpstr>
      <vt:lpstr>Board ERP Readout</vt:lpstr>
      <vt:lpstr>Executive Frame</vt:lpstr>
      <vt:lpstr>Mandate and Timing</vt:lpstr>
      <vt:lpstr>What Has Been Completed</vt:lpstr>
      <vt:lpstr>Selection Decision Outcome and Tradeoffs</vt:lpstr>
      <vt:lpstr>Top Delivery Risks and Mitigations</vt:lpstr>
      <vt:lpstr>Board Decision and Next 90 Days</vt:lpstr>
      <vt:lpstr>Board Decision and Actions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Markman</dc:creator>
  <cp:lastModifiedBy>Michael Markman</cp:lastModifiedBy>
  <cp:revision>1</cp:revision>
  <dcterms:created xsi:type="dcterms:W3CDTF">2026-03-06T15:26:57Z</dcterms:created>
  <dcterms:modified xsi:type="dcterms:W3CDTF">2026-03-06T15:26:57Z</dcterms:modified>
</cp:coreProperties>
</file>