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715000" type="screen16x10"/>
  <p:notesSz cx="6858000" cy="9144000"/>
  <p:defaultTextStyle>
    <a:defPPr>
      <a:defRPr lang="en-US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54" autoAdjust="0"/>
    <p:restoredTop sz="94660"/>
  </p:normalViewPr>
  <p:slideViewPr>
    <p:cSldViewPr snapToGrid="0">
      <p:cViewPr varScale="1">
        <p:scale>
          <a:sx n="179" d="100"/>
          <a:sy n="179" d="100"/>
        </p:scale>
        <p:origin x="891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AE8C2-0C3A-4B76-4D9E-099DE8FC0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A1DE9F-5CFE-3173-FA57-C3F6593AE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623A9-C801-33C2-CA7A-AF1B00515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DA8E5-F933-9ADF-D151-CF6A55657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8612D-0E97-DFA3-6E31-F4985E047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346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70042-CA5F-FA28-6F0F-7F6E01F9A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A9A63-EB00-9DB5-A2F9-736426E4C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507A2-9CEA-8D84-3831-92FAC64BE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63EF3-BB36-940E-C438-A69466A2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09E0F-D6F8-46CE-B72E-61C068764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EE751-D112-2639-16A8-2FA55666E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5F649E-CE26-E7F5-8703-0D158475FC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4CEFE-D1E0-3F08-11F4-67A517670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69118-0DE1-CB1A-7C12-CE180DC5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A62F8-6AFE-7E8F-8025-C0F87B521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572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14AA3-AA91-1F84-EECD-A6B937865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CE1A9-02BD-D818-80C0-EBE5857C42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003637-4A0C-8B4B-B383-058D24FEAD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425299-B1F0-596B-ACBD-DF64344D1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C02A10-9289-54C4-4E84-35322D7EE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A022C3-5564-D1C5-3B0C-4FBA4FAC7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6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CFF6-2EBB-5D45-14D7-BAA9893A6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BE6B7-EEF0-D6D5-929B-23D898867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BF3B69-2D16-C1B5-0004-AB9FC0C76A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2595D8-1179-294C-05F6-0B49B11A79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BBD3D9-9288-9A5A-6BAF-5F03FA1B2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9DAA95-CCA2-9B42-9AD1-C8FF1FB57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DA742F-6C16-BF21-3E28-6EBE1397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3590D7-C46E-4D82-BCB4-8802A003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49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738E3-2887-ABF3-E54F-48858A461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DDE3E8-FFE3-E7C7-7A03-3FBFDCC8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F24877-F4CF-B76F-F1DD-DD35B03A4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198E2E-46FB-F54F-DDF8-B6EC0ACDE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275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1360DA-CAD2-011E-8159-C54527A0B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A2423A-C665-BF7C-FC23-E59B818F3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A7DE9-C7E3-A8D1-2EF6-7ACB5FC1C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625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6D79B-86C3-52C7-495A-968467F26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12318-C88F-2112-D572-A28238DC8E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EF55B2-3A8E-5CF7-C507-C5DA80B695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C6D65-6BA1-9AFA-BB4C-26A3E1E35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D744F7-84FB-7C7D-8232-333E2EB6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D885C-0DD8-B095-EC07-A0E7858DA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686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2A61B-F348-35B0-95BD-8D6BA9A9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FAD8A1-4162-8A38-5C98-32D05629C0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1597F-D192-E357-537C-371266457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6EFF0B-CE6C-B950-0F00-DD4343EC4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AFB0A5-345F-2958-F324-75E425E19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8032F-F59C-6CF8-BDC6-7275295A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068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0133A-B361-0B92-A4D1-DAC3D2F23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F189A0-EB42-B3C2-733F-6768046E60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41B64-55E6-D9F5-1C45-1A0A4E1A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AE06D-87C9-6621-D4F4-B67449F30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CAD62-246E-E951-B081-9CD5A3012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95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EE9E6F-E6AA-3A82-5A5E-9185187CAB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619F94-74E3-7D3B-C7D8-71CDDA7260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C4DAC-93AB-43F2-9253-81AC7D1B3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FC9DD-7959-72B3-F7EA-1A40BF954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4431A-8872-8CC0-8CF1-EF7F6024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8676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56F08-B7DE-935D-74C2-437D133D4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35639D-DBDE-F35D-DD38-3F1A648B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7625E-900B-3FF2-C3C7-B85632051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BA3CB-9F0A-1449-2B4F-CBB1AD09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3870EB-273B-577E-89A7-0169B7205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7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1DDD9B-AC84-8B4E-DBDF-A182C17A4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A3A5ED-6DCA-C9BC-16E6-7C749EEA82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10F2E8-E031-414D-53D7-40369940B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26252-4787-4AC2-9D3A-96F9304D4F9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A2040-B0FB-EF3B-1DB8-B6FE3046F2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1BE7C-4667-2DE0-FC04-12AC2E784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B63C0F-2E03-4001-B2B6-DD94C78103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351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FC431-1728-14D8-50B7-519F3547ED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200" b="1">
                <a:solidFill>
                  <a:srgbClr val="FFFFFF"/>
                </a:solidFill>
                <a:latin typeface="Calibri" panose="020F0502020204030204" pitchFamily="34" charset="0"/>
              </a:rPr>
              <a:t>Board ERP Readout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D7F2EA-712A-6851-626F-DD1849C3E3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>
                <a:solidFill>
                  <a:srgbClr val="DEDEDE"/>
                </a:solidFill>
                <a:latin typeface="Calibri" panose="020F0502020204030204" pitchFamily="34" charset="0"/>
              </a:rPr>
              <a:t>Board | 2026-03-19</a:t>
            </a:r>
          </a:p>
          <a:p>
            <a:r>
              <a:rPr lang="en-US">
                <a:solidFill>
                  <a:srgbClr val="DEDEDE"/>
                </a:solidFill>
                <a:latin typeface="Calibri" panose="020F0502020204030204" pitchFamily="34" charset="0"/>
              </a:rPr>
              <a:t>Owner: Mike Markman</a:t>
            </a:r>
          </a:p>
        </p:txBody>
      </p:sp>
    </p:spTree>
    <p:extLst>
      <p:ext uri="{BB962C8B-B14F-4D97-AF65-F5344CB8AC3E}">
        <p14:creationId xmlns:p14="http://schemas.microsoft.com/office/powerpoint/2010/main" val="3035855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6979-08E6-D4B3-35AB-B12411D61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Executive Frame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11F86-4FDE-97AA-25D1-4F110DEF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Secure board alignment on ERP selection direction, implementation risk controls, and the first 90-day execution posture to protect Jan 1, 2027 go-live.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Selection process is rigorous and source-backed.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Primary risk is execution capacity and governance discipline.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 focused 90-day plan de-risks Jan 1, 2027 readiness.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F1EAC8-08A3-ED7C-2736-55A9B590541B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01598-162F-49EB-8C9B-46920B113111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Board focus</a:t>
            </a:r>
          </a:p>
        </p:txBody>
      </p:sp>
    </p:spTree>
    <p:extLst>
      <p:ext uri="{BB962C8B-B14F-4D97-AF65-F5344CB8AC3E}">
        <p14:creationId xmlns:p14="http://schemas.microsoft.com/office/powerpoint/2010/main" val="4022988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C4E5-7A96-0FC5-2006-FB8800E07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Mandate and Timing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1DEF4-5986-C823-483D-6B332CA9D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ERP/SOX is a declared 2026 finance priority with executive sponsorship.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Jan 1, 2027 go-live remains the operating target.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March 19 board cycle is the decision-communication checkpoint.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Delay now increases execution and control risk.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77CB1-A9D8-877C-165B-2D5A432311F7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BC8B97-F649-A84D-CE35-40084E7F9C7B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Context | Visual: timeline</a:t>
            </a:r>
          </a:p>
        </p:txBody>
      </p:sp>
    </p:spTree>
    <p:extLst>
      <p:ext uri="{BB962C8B-B14F-4D97-AF65-F5344CB8AC3E}">
        <p14:creationId xmlns:p14="http://schemas.microsoft.com/office/powerpoint/2010/main" val="1871996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18CEA-F172-2A07-909C-191C32A8E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What Has Been Completed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57049-4343-A3D8-038F-F4823C27D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Initiate and scope completed (Sep-Oct 2025).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Diagnostic and pain-point mapping completed (Oct-Nov 2025).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RFP workshops and requirements completed (Nov-Dec 2025).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Bid analysis, shortlist, and demos completed (Jan-Feb 2026).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E9F2B7-AF8A-52AF-1C3A-6B9C3E25D9B2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05F1C0-73E4-9783-35CF-E2B3BB616BAF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Process | Visual: phase-map</a:t>
            </a:r>
          </a:p>
        </p:txBody>
      </p:sp>
    </p:spTree>
    <p:extLst>
      <p:ext uri="{BB962C8B-B14F-4D97-AF65-F5344CB8AC3E}">
        <p14:creationId xmlns:p14="http://schemas.microsoft.com/office/powerpoint/2010/main" val="146576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8081-F8A0-DFED-6928-52F5E21A6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Selection Decision Outcome and Tradeoffs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EE4DF-1A44-2F5F-BE5C-314039294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Abivax team aligned on NetSuite as the selected path on February 26, 2026.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Decision reflects execution fit, usability, and implementation practicality for current organization size and constraints.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Open items now move to commercial negotiation, scope confirmation, and implementation mobilization timing.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Target remains early April mobilization to support Jan 1, 2027 go-live objective.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B5E1DF-2322-2E2C-A255-00BCD6B4FDBF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731683-0EF5-126C-F335-FCB108E7EDB6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Decision | Visual: matrix</a:t>
            </a:r>
          </a:p>
        </p:txBody>
      </p:sp>
    </p:spTree>
    <p:extLst>
      <p:ext uri="{BB962C8B-B14F-4D97-AF65-F5344CB8AC3E}">
        <p14:creationId xmlns:p14="http://schemas.microsoft.com/office/powerpoint/2010/main" val="822644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E5EA0-7BF8-CED0-9EFD-39227804A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Top Delivery Risks and Mitigations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319343-2709-6876-D791-23D8A63D7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Risk: manual legacy handoffs and unclear ownership. Mitigation: named owner matrix by process/feed.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Risk: business capacity constraints. Mitigation: phase-based staffing commitments.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Risk: control evidence gaps. Mitigation: control-by-design checkpoints in blueprint phase.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Risk: timeline slippage. Mitigation: weekly workstream governance and monthly executive review.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812D9-0FA2-5AA0-E6BF-1D8E847A9B43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B61E89-34E6-15DA-DCA8-23BED7E9368E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Risk | Visual: risk-heatmap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AA00E6-61E6-159D-708D-1C8886F3072E}"/>
              </a:ext>
            </a:extLst>
          </p:cNvPr>
          <p:cNvSpPr/>
          <p:nvPr/>
        </p:nvSpPr>
        <p:spPr>
          <a:xfrm>
            <a:off x="6604000" y="1524000"/>
            <a:ext cx="4826000" cy="2667000"/>
          </a:xfrm>
          <a:prstGeom prst="rect">
            <a:avLst/>
          </a:prstGeom>
          <a:solidFill>
            <a:srgbClr val="262626">
              <a:alpha val="92000"/>
            </a:srgbClr>
          </a:solidFill>
          <a:ln>
            <a:solidFill>
              <a:srgbClr val="5555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3C10B0-B74D-0906-5671-EBD79FB313C4}"/>
              </a:ext>
            </a:extLst>
          </p:cNvPr>
          <p:cNvSpPr txBox="1"/>
          <p:nvPr/>
        </p:nvSpPr>
        <p:spPr>
          <a:xfrm>
            <a:off x="6731000" y="1625600"/>
            <a:ext cx="4572000" cy="240065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Process Visual Summary (source-backed)</a:t>
            </a:r>
          </a:p>
          <a:p>
            <a:endParaRPr lang="en-US" sz="1000">
              <a:solidFill>
                <a:srgbClr val="F0F0F0"/>
              </a:solidFill>
              <a:latin typeface="Calibri" panose="020F0502020204030204" pitchFamily="34" charset="0"/>
            </a:endParaRP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France P2P (SA) Current vs Future State</a:t>
            </a: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Steps: Vendor setup / validation -&gt; Invoice / coding / approval flow -&gt; Payment validation and execution</a:t>
            </a: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Control overlays: 3</a:t>
            </a: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 - P2P controls (3) | ERP 1 | OOS 1</a:t>
            </a: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 - P2P controls (5) | ERP 3 | OOS 4</a:t>
            </a:r>
          </a:p>
          <a:p>
            <a:endParaRPr lang="en-US" sz="1000">
              <a:solidFill>
                <a:srgbClr val="F0F0F0"/>
              </a:solidFill>
              <a:latin typeface="Calibri" panose="020F0502020204030204" pitchFamily="34" charset="0"/>
            </a:endParaRP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Reporting / FP&amp;A Data Flow Current vs Future State</a:t>
            </a: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Steps: Source accounting / exports -&gt; Bridge / consolidation / IFRS &amp; SEC support -&gt; Management / departmental reporting and forecast visibility</a:t>
            </a: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Control overlays: 3</a:t>
            </a: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 - Reporting controls (11) | ERP 2 | Design 2 | OOS 6</a:t>
            </a:r>
          </a:p>
          <a:p>
            <a:r>
              <a:rPr lang="en-US" sz="1000">
                <a:solidFill>
                  <a:srgbClr val="F0F0F0"/>
                </a:solidFill>
                <a:latin typeface="Calibri" panose="020F0502020204030204" pitchFamily="34" charset="0"/>
              </a:rPr>
              <a:t> - Reporting controls (17) | Design 8 | OOS 4</a:t>
            </a:r>
          </a:p>
        </p:txBody>
      </p:sp>
    </p:spTree>
    <p:extLst>
      <p:ext uri="{BB962C8B-B14F-4D97-AF65-F5344CB8AC3E}">
        <p14:creationId xmlns:p14="http://schemas.microsoft.com/office/powerpoint/2010/main" val="2721140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1616-9A36-057D-222B-61E701F1A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Board Decision and Next 90 Days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51124-5372-BA82-08A9-2972561DA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Acknowledge NetSuite selection and pivot governance focus to implementation execution risk.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post-selection negotiation/contracting ownership and cadence (Mike/Hema with vendor and advisors).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staffing and decision rights for design phase mobilization ahead of early April start target.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Maintain monthly executive and board-ready progress reporting against Jan 1, 2027 target.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FD9ADB-7251-E44E-5043-D686B7DC21EB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AC6F8-07E6-CA20-302E-5FCD5F553B12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Ask | Visual: decision</a:t>
            </a:r>
          </a:p>
        </p:txBody>
      </p:sp>
    </p:spTree>
    <p:extLst>
      <p:ext uri="{BB962C8B-B14F-4D97-AF65-F5344CB8AC3E}">
        <p14:creationId xmlns:p14="http://schemas.microsoft.com/office/powerpoint/2010/main" val="284893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49F69-640A-6994-64C7-52A46EADF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Board Decision and Actions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2D9695-C180-9994-F396-C3F53C1AD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selection direction and implementation posture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staffing commitments for design/build/cutover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governance cadence through go-live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Authorize immediate closure of critical execution risks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92C320-40D4-B005-B823-5B95A56837D9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E8261-926C-827E-23F2-17C80E90E993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Approval and governance asks</a:t>
            </a:r>
          </a:p>
        </p:txBody>
      </p:sp>
    </p:spTree>
    <p:extLst>
      <p:ext uri="{BB962C8B-B14F-4D97-AF65-F5344CB8AC3E}">
        <p14:creationId xmlns:p14="http://schemas.microsoft.com/office/powerpoint/2010/main" val="2285462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PresentationFormat>On-screen Show (16:10)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Board ERP Readout</vt:lpstr>
      <vt:lpstr>Executive Frame</vt:lpstr>
      <vt:lpstr>Mandate and Timing</vt:lpstr>
      <vt:lpstr>What Has Been Completed</vt:lpstr>
      <vt:lpstr>Selection Decision Outcome and Tradeoffs</vt:lpstr>
      <vt:lpstr>Top Delivery Risks and Mitigations</vt:lpstr>
      <vt:lpstr>Board Decision and Next 90 Days</vt:lpstr>
      <vt:lpstr>Board Decision and Actions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Markman</dc:creator>
  <cp:lastModifiedBy>Michael Markman</cp:lastModifiedBy>
  <cp:revision>1</cp:revision>
  <dcterms:created xsi:type="dcterms:W3CDTF">2026-02-26T20:39:47Z</dcterms:created>
  <dcterms:modified xsi:type="dcterms:W3CDTF">2026-02-26T20:39:47Z</dcterms:modified>
</cp:coreProperties>
</file>