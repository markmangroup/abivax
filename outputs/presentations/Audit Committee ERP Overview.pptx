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74152" y="0"/>
            <a:ext cx="4114800" cy="6858000"/>
          </a:xfrm>
          <a:prstGeom prst="rect">
            <a:avLst/>
          </a:prstGeom>
          <a:solidFill>
            <a:srgbClr val="EEE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3D2E9B"/>
                </a:solidFill>
                <a:latin typeface="Calibri"/>
              </a:rPr>
              <a:t>ERP Program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246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475569"/>
                </a:solidFill>
                <a:latin typeface="Calibri"/>
              </a:rPr>
              <a:t>Audit Committee Briefing  · 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858768"/>
            <a:ext cx="3474720" cy="50292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04164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Prepared by: Mike Markman, VP Global ERP Lead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9884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58728"/>
                </a:solidFill>
                <a:latin typeface="Calibri"/>
              </a:rPr>
              <a:t>Status: NetSuite selected  ·  Implementation targeted April 2026  ·  Go-live January 2027</a:t>
            </a:r>
          </a:p>
        </p:txBody>
      </p:sp>
      <p:pic>
        <p:nvPicPr>
          <p:cNvPr id="11" name="Picture 10" descr="abiva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6157792"/>
            <a:ext cx="2377440" cy="35273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"/>
            <a:ext cx="12188952" cy="36576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54864"/>
            <a:ext cx="6400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ABIVAX  ·  AUDIT COMMITTEE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48472" y="54864"/>
            <a:ext cx="3657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Overview  ·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48640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3D2E9B"/>
                </a:solidFill>
                <a:latin typeface="Calibri"/>
              </a:rPr>
              <a:t>ERP Program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344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NetSuite selected February 26, 2026. Implementation mobilization: April 2026. Go-live: January 1, 2027.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719072"/>
            <a:ext cx="3730752" cy="464515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719072"/>
            <a:ext cx="3730752" cy="685800"/>
          </a:xfrm>
          <a:prstGeom prst="rect">
            <a:avLst/>
          </a:prstGeom>
          <a:solidFill>
            <a:srgbClr val="3D2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10512"/>
            <a:ext cx="4572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DD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1810512"/>
            <a:ext cx="29809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Business Rationale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2569464"/>
            <a:ext cx="343814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75569"/>
                </a:solidFill>
                <a:latin typeface="Calibri"/>
              </a:rPr>
              <a:t>• Current systems (Sage 100, legacy tools) are fragmented and highly manual across P2P, close, and reporting.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Controls environment is inconsistent and not adequate for SEC filing scrutiny or public-company audit standards.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US public market launch targeted December 2027. ERP go-live by January 2027 is a hard dependency.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SOX-readiness is the primary driver, not a technology swap.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1719072"/>
            <a:ext cx="3730752" cy="464515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719072"/>
            <a:ext cx="3730752" cy="685800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810512"/>
            <a:ext cx="4572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DD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01184" y="1810512"/>
            <a:ext cx="29809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Selection Rationale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2569464"/>
            <a:ext cx="343814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75569"/>
                </a:solidFill>
                <a:latin typeface="Calibri"/>
              </a:rPr>
              <a:t>• Multi-currency, multi-GAAP, bilingual (FR/EN) architecture built to scale with Abivax's France and US footprint.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Stronger controls from day one: segregation of duties, audit trail, and SOX-ready approval workflows.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Vendor-led delivery by NetSuite's own implementation team, ensuring product expertise and faster issue resolution.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KPMG led requirements definition and solution selection, confirming NetSuite as the best fit for Abivax's size and context.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38744" y="1719072"/>
            <a:ext cx="3730752" cy="464515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38744" y="1719072"/>
            <a:ext cx="3730752" cy="68580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5904" y="1810512"/>
            <a:ext cx="4572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DD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0536" y="1810512"/>
            <a:ext cx="29809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Program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3336" y="2569464"/>
            <a:ext cx="343814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75569"/>
                </a:solidFill>
                <a:latin typeface="Calibri"/>
              </a:rPr>
              <a:t>• ERP Lead: Mike Markman (VP, Global ERP)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Executive Sponsor: Didier Blondel (CFO)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Finance Lead: Hema Keshava (Head of Finance)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Finance Process Lead: Trinidad Mesa (France)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Implementation: NetSuite delivery team (Oracle)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Advisory: KPMG (selection phase support)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EEE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528816"/>
            <a:ext cx="12188952" cy="22860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032" y="6592824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alibri"/>
              </a:rPr>
              <a:t>Audit Committee ERP Overview  ·  March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592824"/>
            <a:ext cx="1234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alibri"/>
              </a:rPr>
              <a:t>1 / 4</a:t>
            </a:r>
          </a:p>
        </p:txBody>
      </p:sp>
      <p:pic>
        <p:nvPicPr>
          <p:cNvPr id="28" name="Picture 27" descr="abiva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225028"/>
            <a:ext cx="1554480" cy="2306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"/>
            <a:ext cx="12188952" cy="36576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54864"/>
            <a:ext cx="6400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ABIVAX  ·  AUDIT COMMITTEE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48472" y="54864"/>
            <a:ext cx="3657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Timeline  ·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48640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3D2E9B"/>
                </a:solidFill>
                <a:latin typeface="Calibri"/>
              </a:rPr>
              <a:t>Implementation Timeline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344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April 2026 mobilization  →  December 27, 2026 go-live  →  January 17, 2027 post-support complete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719072"/>
            <a:ext cx="2615184" cy="804672"/>
          </a:xfrm>
          <a:prstGeom prst="rect">
            <a:avLst/>
          </a:prstGeom>
          <a:solidFill>
            <a:srgbClr val="3D2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" y="181051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Initiate &amp;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21762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FF"/>
                </a:solidFill>
                <a:latin typeface="Calibri"/>
              </a:rPr>
              <a:t>Apr - May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1719072"/>
            <a:ext cx="2615184" cy="804672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99816" y="181051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Configure &amp;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9816" y="21762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FF"/>
                </a:solidFill>
                <a:latin typeface="Calibri"/>
              </a:rPr>
              <a:t>May - Aug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60" y="1719072"/>
            <a:ext cx="1883664" cy="804672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51576" y="18105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Test &amp; Validate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1576" y="21762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FF"/>
                </a:solidFill>
                <a:latin typeface="Calibri"/>
              </a:rPr>
              <a:t>Sep - Oct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1719072"/>
            <a:ext cx="2340864" cy="804672"/>
          </a:xfrm>
          <a:prstGeom prst="rect">
            <a:avLst/>
          </a:prstGeom>
          <a:solidFill>
            <a:srgbClr val="0E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71816" y="181051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Migration &amp; UAT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71816" y="21762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FF"/>
                </a:solidFill>
                <a:latin typeface="Calibri"/>
              </a:rPr>
              <a:t>Nov - Dec 15,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21240" y="1719072"/>
            <a:ext cx="1271016" cy="804672"/>
          </a:xfrm>
          <a:prstGeom prst="rect">
            <a:avLst/>
          </a:prstGeom>
          <a:solidFill>
            <a:srgbClr val="1099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1810512"/>
            <a:ext cx="11247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GO-LIVE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9256" y="2176272"/>
            <a:ext cx="1124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FF"/>
                </a:solidFill>
                <a:latin typeface="Calibri"/>
              </a:rPr>
              <a:t>Dec 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269748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2E9B"/>
                </a:solidFill>
                <a:latin typeface="Calibri"/>
              </a:rPr>
              <a:t>Key Pre-Conditions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108960"/>
            <a:ext cx="2788920" cy="288036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108960"/>
            <a:ext cx="64008" cy="2880360"/>
          </a:xfrm>
          <a:prstGeom prst="rect">
            <a:avLst/>
          </a:prstGeom>
          <a:solidFill>
            <a:srgbClr val="3D2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291840"/>
            <a:ext cx="2532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A"/>
                </a:solidFill>
                <a:latin typeface="Calibri"/>
              </a:rPr>
              <a:t>Contract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730752"/>
            <a:ext cx="2532888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75569"/>
                </a:solidFill>
                <a:latin typeface="Calibri"/>
              </a:rPr>
              <a:t>• Sign-off targeted Mar 2026.</a:t>
            </a:r>
          </a:p>
          <a:p>
            <a:pPr algn="l">
              <a:spcBef>
                <a:spcPts val="7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Commercial review underway.</a:t>
            </a:r>
          </a:p>
          <a:p>
            <a:pPr algn="l">
              <a:spcBef>
                <a:spcPts val="7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License agreement and SOW in transit from Oracle.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46704" y="3108960"/>
            <a:ext cx="2788920" cy="288036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46704" y="3108960"/>
            <a:ext cx="64008" cy="2880360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9584" y="3291840"/>
            <a:ext cx="2532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A"/>
                </a:solidFill>
                <a:latin typeface="Calibri"/>
              </a:rPr>
              <a:t>Blueprint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9584" y="3730752"/>
            <a:ext cx="2532888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75569"/>
                </a:solidFill>
                <a:latin typeface="Calibri"/>
              </a:rPr>
              <a:t>• DoA matrix and vendor master cleanup required before April start.</a:t>
            </a:r>
          </a:p>
          <a:p>
            <a:pPr algn="l">
              <a:spcBef>
                <a:spcPts val="7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Finance and IT leads must be committed.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73368" y="3108960"/>
            <a:ext cx="2788920" cy="288036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73368" y="3108960"/>
            <a:ext cx="64008" cy="288036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291840"/>
            <a:ext cx="2532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A"/>
                </a:solidFill>
                <a:latin typeface="Calibri"/>
              </a:rPr>
              <a:t>Staffing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6248" y="3730752"/>
            <a:ext cx="2532888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75569"/>
                </a:solidFill>
                <a:latin typeface="Calibri"/>
              </a:rPr>
              <a:t>• Finance and IT leads needed at 4-8 hrs/wk during configure and test phases.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00032" y="3108960"/>
            <a:ext cx="2788920" cy="288036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400032" y="3108960"/>
            <a:ext cx="64008" cy="2880360"/>
          </a:xfrm>
          <a:prstGeom prst="rect">
            <a:avLst/>
          </a:prstGeom>
          <a:solidFill>
            <a:srgbClr val="1099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82912" y="3291840"/>
            <a:ext cx="2532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A4A"/>
                </a:solidFill>
                <a:latin typeface="Calibri"/>
              </a:rPr>
              <a:t>Go-Live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82912" y="3730752"/>
            <a:ext cx="2532888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75569"/>
                </a:solidFill>
                <a:latin typeface="Calibri"/>
              </a:rPr>
              <a:t>• Jan 1, 2027 is non-negotiable.</a:t>
            </a:r>
          </a:p>
          <a:p>
            <a:pPr algn="l">
              <a:spcBef>
                <a:spcPts val="7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Tied to US public market launch Dec 2027.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EEE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6528816"/>
            <a:ext cx="12188952" cy="22860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032" y="6592824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alibri"/>
              </a:rPr>
              <a:t>Audit Committee ERP Overview  ·  March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25912" y="6592824"/>
            <a:ext cx="1234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alibri"/>
              </a:rPr>
              <a:t>2 / 4</a:t>
            </a:r>
          </a:p>
        </p:txBody>
      </p:sp>
      <p:pic>
        <p:nvPicPr>
          <p:cNvPr id="45" name="Picture 44" descr="abiva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225028"/>
            <a:ext cx="1554480" cy="2306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"/>
            <a:ext cx="12188952" cy="36576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54864"/>
            <a:ext cx="6400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ABIVAX  ·  AUDIT COMMITTEE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48472" y="54864"/>
            <a:ext cx="3657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Financials  ·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48640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3D2E9B"/>
                </a:solidFill>
                <a:latin typeface="Calibri"/>
              </a:rPr>
              <a:t>Financial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344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Figures confirmed by KPMG. License agreement and SOW in transit from Oracle. Final commercial terms under negotiation.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737360"/>
            <a:ext cx="3785615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737360"/>
            <a:ext cx="54864" cy="1691640"/>
          </a:xfrm>
          <a:prstGeom prst="rect">
            <a:avLst/>
          </a:prstGeom>
          <a:solidFill>
            <a:srgbClr val="3D2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1938528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Year 1 Investment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212848"/>
            <a:ext cx="35570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3D2E9B"/>
                </a:solidFill>
                <a:latin typeface="Calibri"/>
              </a:rPr>
              <a:t>€650,129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2971800"/>
            <a:ext cx="35570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€463,120 build  +  €187,009 run (annual)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4255" y="1737360"/>
            <a:ext cx="3785615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5" y="1737360"/>
            <a:ext cx="54864" cy="1691640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7" y="1938528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3-Year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7" y="2212848"/>
            <a:ext cx="35570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3D2E9B"/>
                </a:solidFill>
                <a:latin typeface="Calibri"/>
              </a:rPr>
              <a:t>€1,023,264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7" y="2971800"/>
            <a:ext cx="35570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Build + 3 years of license/support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0" y="1737360"/>
            <a:ext cx="3785615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48470" y="1737360"/>
            <a:ext cx="54864" cy="16916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13062" y="1938528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5-Year Total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13062" y="2212848"/>
            <a:ext cx="35570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3D2E9B"/>
                </a:solidFill>
                <a:latin typeface="Calibri"/>
              </a:rPr>
              <a:t>€1,398,163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13062" y="2971800"/>
            <a:ext cx="35570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Includes run cost inflation from Year 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584448"/>
            <a:ext cx="576072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3584448"/>
            <a:ext cx="64008" cy="2606040"/>
          </a:xfrm>
          <a:prstGeom prst="rect">
            <a:avLst/>
          </a:prstGeom>
          <a:solidFill>
            <a:srgbClr val="B5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730752"/>
            <a:ext cx="5504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2A4A"/>
                </a:solidFill>
                <a:latin typeface="Calibri"/>
              </a:rPr>
              <a:t>Build Cost Breakdown (€463,120 one-off)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13308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Solution implementation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413308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0F2A4A"/>
                </a:solidFill>
                <a:latin typeface="Calibri"/>
              </a:rPr>
              <a:t>€269,240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40740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Initialization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440740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0F2A4A"/>
                </a:solidFill>
                <a:latin typeface="Calibri"/>
              </a:rPr>
              <a:t>€50,640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68172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Data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468172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0F2A4A"/>
                </a:solidFill>
                <a:latin typeface="Calibri"/>
              </a:rPr>
              <a:t>€28,720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95604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Project management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600" y="495604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0F2A4A"/>
                </a:solidFill>
                <a:latin typeface="Calibri"/>
              </a:rPr>
              <a:t>€20,960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23036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Travel expenses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600" y="523036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0F2A4A"/>
                </a:solidFill>
                <a:latin typeface="Calibri"/>
              </a:rPr>
              <a:t>€18,000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50468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Training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0600" y="550468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0F2A4A"/>
                </a:solidFill>
                <a:latin typeface="Calibri"/>
              </a:rPr>
              <a:t>€13,920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77900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Other (acceptance, start-up, misc)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577900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0F2A4A"/>
                </a:solidFill>
                <a:latin typeface="Calibri"/>
              </a:rPr>
              <a:t>€61,640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3584448"/>
            <a:ext cx="576072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55080" y="3584448"/>
            <a:ext cx="64008" cy="2606040"/>
          </a:xfrm>
          <a:prstGeom prst="rect">
            <a:avLst/>
          </a:prstGeom>
          <a:solidFill>
            <a:srgbClr val="B5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3730752"/>
            <a:ext cx="5504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2A4A"/>
                </a:solidFill>
                <a:latin typeface="Calibri"/>
              </a:rPr>
              <a:t>Annual Run Cost (€187,009 / year)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413308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SaaS license (142 users @ €779.49/user/yr)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35640" y="413308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0F2A4A"/>
                </a:solidFill>
                <a:latin typeface="Calibri"/>
              </a:rPr>
              <a:t>€109,908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40740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Best-of-breed SaaS (Avalara, etc.)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35640" y="440740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0F2A4A"/>
                </a:solidFill>
                <a:latin typeface="Calibri"/>
              </a:rPr>
              <a:t>€23,936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468172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Support / TMA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35640" y="468172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0F2A4A"/>
                </a:solidFill>
                <a:latin typeface="Calibri"/>
              </a:rPr>
              <a:t>€41,109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60" y="495604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Other (environments, etc.)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35640" y="495604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0F2A4A"/>
                </a:solidFill>
                <a:latin typeface="Calibri"/>
              </a:rPr>
              <a:t>€12,056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5230368"/>
            <a:ext cx="54406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37960" y="539496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Users considered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5394960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0F2A4A"/>
                </a:solidFill>
                <a:latin typeface="Calibri"/>
              </a:rPr>
              <a:t>142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37960" y="566928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Discount on list price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35640" y="5669280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0F2A4A"/>
                </a:solidFill>
                <a:latin typeface="Calibri"/>
              </a:rPr>
              <a:t>29%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37960" y="5943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Calibri"/>
              </a:rPr>
              <a:t>Implementation man-days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835640" y="5943600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 i="0">
                <a:solidFill>
                  <a:srgbClr val="0F2A4A"/>
                </a:solidFill>
                <a:latin typeface="Calibri"/>
              </a:rPr>
              <a:t>392 days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EEE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6528816"/>
            <a:ext cx="12188952" cy="22860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6032" y="6592824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alibri"/>
              </a:rPr>
              <a:t>Audit Committee ERP Overview  ·  March 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25912" y="6592824"/>
            <a:ext cx="1234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alibri"/>
              </a:rPr>
              <a:t>3 / 4</a:t>
            </a:r>
          </a:p>
        </p:txBody>
      </p:sp>
      <p:pic>
        <p:nvPicPr>
          <p:cNvPr id="63" name="Picture 62" descr="abiva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225028"/>
            <a:ext cx="1554480" cy="2306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"/>
            <a:ext cx="12188952" cy="36576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54864"/>
            <a:ext cx="6400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ABIVAX  ·  AUDIT COMMITTEE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48472" y="54864"/>
            <a:ext cx="3657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Ask  ·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4864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3D2E9B"/>
                </a:solidFill>
                <a:latin typeface="Calibri"/>
              </a:rPr>
              <a:t>What We're Asking the Audit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344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Three items. This is a program introduction. A controls deep-dive briefing will follow at a future meeting once remediation planning is underway.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737360"/>
            <a:ext cx="3730752" cy="416052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737360"/>
            <a:ext cx="3730752" cy="685800"/>
          </a:xfrm>
          <a:prstGeom prst="rect">
            <a:avLst/>
          </a:prstGeom>
          <a:solidFill>
            <a:srgbClr val="3D2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4572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DD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1828800"/>
            <a:ext cx="29809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Acknowledge Program Direction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2587752"/>
            <a:ext cx="3438144" cy="3218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75569"/>
                </a:solidFill>
                <a:latin typeface="Calibri"/>
              </a:rPr>
              <a:t>• Confirm that the Abivax ERP program (NetSuite, April 2026 mobilization, January 1, 2027 go-live) is understood, on the committee's radar, and directionally endorsed.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1737360"/>
            <a:ext cx="3730752" cy="416052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737360"/>
            <a:ext cx="3730752" cy="685800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828800"/>
            <a:ext cx="4572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DD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01184" y="1828800"/>
            <a:ext cx="29809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Endorse SOX/Controls as the Primary Program Frame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2587752"/>
            <a:ext cx="3438144" cy="3218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75569"/>
                </a:solidFill>
                <a:latin typeface="Calibri"/>
              </a:rPr>
              <a:t>• Confirm that this is a controls-remediation and operating-model program, not solely a technology replacement.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SOX readiness, evidence quality, and audit traceability are non-negotiable design constraints.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38744" y="1737360"/>
            <a:ext cx="3730752" cy="416052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38744" y="1737360"/>
            <a:ext cx="3730752" cy="68580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5904" y="1828800"/>
            <a:ext cx="4572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DD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0536" y="1828800"/>
            <a:ext cx="29809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Expect a Controls Deep-Dive at a Future Meeting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3336" y="2587752"/>
            <a:ext cx="3438144" cy="3218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75569"/>
                </a:solidFill>
                <a:latin typeface="Calibri"/>
              </a:rPr>
              <a:t>• This briefing is a program introduction.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475569"/>
                </a:solidFill>
                <a:latin typeface="Calibri"/>
              </a:rPr>
              <a:t>• A separate controls-posture readout covering CFTI gap inventory, remediation cadence, and owner accountability will be prepared once the implementation blueprint phase begins.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59893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Calibri"/>
              </a:rPr>
              <a:t>Next: Controls posture briefing to be scheduled after blueprint phase begins (target: Q3 2026).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EEE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2860"/>
          </a:xfrm>
          <a:prstGeom prst="rect">
            <a:avLst/>
          </a:prstGeom>
          <a:solidFill>
            <a:srgbClr val="614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" y="6592824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alibri"/>
              </a:rPr>
              <a:t>Audit Committee ERP Overview  ·  March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92824"/>
            <a:ext cx="1234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alibri"/>
              </a:rPr>
              <a:t>4 / 4</a:t>
            </a:r>
          </a:p>
        </p:txBody>
      </p:sp>
      <p:pic>
        <p:nvPicPr>
          <p:cNvPr id="29" name="Picture 28" descr="abiva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225028"/>
            <a:ext cx="1554480" cy="2306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