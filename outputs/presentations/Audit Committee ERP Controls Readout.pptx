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6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281E-A33C-9141-9E83-339659DDB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DA964-C1C7-EBA2-6352-BBF0FB878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451DC-FCE0-A46F-EF46-6541BAB2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1954-2D14-4AD9-D8EC-E31EA41E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8F61C-918E-90D3-6116-3CE8DFF6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4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3614-7D24-C5C5-D967-CA550B34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816EF-3422-E2FD-79F3-7457B6B30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BBAF-0D48-1DF3-B146-59247BE2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2D33A-9FD4-D1D9-0B80-9381D950A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6FAA-FB44-DB7B-BBD0-990B8280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5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6DD5-E408-8FF4-B605-B35FA5942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DE2AC-9275-F26B-CC26-6F4E4CD81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28962-3611-BE32-83B6-D8765F1D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7C302-897B-B0F9-6D69-F6B52972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BA1FA-603D-2ACB-F913-F6A18052F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90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64910-1F87-70EF-41F5-1B014276F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CE144-84F9-FA73-FA0F-C6228FF9E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CC885-D249-B5E6-51AB-A8BFE4909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C360C-4423-FB0F-632F-58684CBC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38607-3C90-507D-8043-6BA87589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30378-9265-18B4-9660-5A731F97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2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B555-46B7-75E7-265A-437F532EC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A8164-509D-F81E-D4DE-BD56F8BF5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8906B-F919-5931-528D-400827201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28342-315B-D23A-1C71-53A294056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43251-7739-6A01-277C-1479017E2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BC0645-159B-C454-574E-E5305BC3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51A6C-6FCD-DB80-A6DC-F538AED2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9A37F-DDC4-3622-8694-1061121E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8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0373-83B3-B9B0-54BC-0647930B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C58C9-BD82-B385-ACF9-B58A41C8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0EC24-679D-C466-D5AE-B349B3B9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28E67-EBCE-546D-7B91-5CE5DB38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9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F11C6-DC01-67BC-5F2D-07B04483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E4580-9BFE-321A-945E-F3A0E5CF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C43E8-D4A7-33D6-0370-9FB39843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F3FF-7A97-85AB-2AF2-72CFCF27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9016-B71C-63BE-AA03-2F8801CCC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C92F5-D5DE-7820-4131-D310B81AB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A3355-47C0-B7EE-31F1-855CA003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8AD71-F8ED-9F73-BCC9-1D0907AC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39458-C22F-0D54-30C6-6216A57F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7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EE87-EEC9-DEC7-0AD4-FD68BC90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65D0C-CCEF-E690-C7DE-4A95B5552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3012D-6EFF-63FB-E9ED-F375F623C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C9FAE-7D6F-9C56-E8C2-94B7BE805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44F2B-ABE9-59A0-4E1F-739DC3CE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424CA-A67C-653E-5C79-7CE91A48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8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439B-B963-FE74-A134-3D2DA589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84458-B820-7DD2-7E69-6E1479128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75E4E-0494-F960-69AC-3479CBC0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D229-85FC-053E-C2C9-3D3B85A9B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28AA1-7F25-940D-F7F9-64C524A5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4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C5CE0B-61DA-18FC-13B1-E24023068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29F55-C6E7-D803-038B-7113AE86D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A4600-4EF8-67B9-D77D-612A4A37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4CC30-CF26-1A7B-610B-C7C2B44B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38293-F52D-3EB2-E6BC-150A7530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28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CB7D-ED31-1E49-8054-40519CEC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1E9A-3828-EDAC-1FAD-8FADC08BF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DE87E-F122-1EF6-8063-E2BC9D9B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E9C6-4158-7924-C2C3-2BA04F9E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7FE1-1368-41D5-77AA-6E8EEBD8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3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C00D3-5BFE-C4CE-127E-3C6675E6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35A6C-0170-BAB6-46E5-E6B282122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FB3A8-0394-2791-6FCC-983B429CF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9A6E2-F131-4F6B-8158-1DE88DE14BF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4F003-FFE5-7D87-B12C-1F6875C3C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6EE34-9B53-B568-6405-A7D88D024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DC344-C69A-409E-8DAD-2B515F6DF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9378-3127-8F2F-8848-3C3A95866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Calibri" panose="020F0502020204030204" pitchFamily="34" charset="0"/>
              </a:rPr>
              <a:t>Audit Committee ERP Controls Readout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89048-7837-3671-F52E-7D51F89EC6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DEDEDE"/>
                </a:solidFill>
                <a:latin typeface="Calibri" panose="020F0502020204030204" pitchFamily="34" charset="0"/>
              </a:rPr>
              <a:t>Audit Committee | 2026-03-19 (week)</a:t>
            </a:r>
          </a:p>
          <a:p>
            <a:r>
              <a:rPr lang="en-US">
                <a:solidFill>
                  <a:srgbClr val="DEDEDE"/>
                </a:solidFill>
                <a:latin typeface="Calibri" panose="020F0502020204030204" pitchFamily="34" charset="0"/>
              </a:rPr>
              <a:t>Owner: Mike Markman</a:t>
            </a:r>
          </a:p>
        </p:txBody>
      </p:sp>
    </p:spTree>
    <p:extLst>
      <p:ext uri="{BB962C8B-B14F-4D97-AF65-F5344CB8AC3E}">
        <p14:creationId xmlns:p14="http://schemas.microsoft.com/office/powerpoint/2010/main" val="40142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0044-F252-3B99-429A-7173FE2D5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Executive Frame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7E1CA-2888-ECEC-43EC-B62A27D0A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Establish audit committee confidence that ERP delivery will close priority control gaps with owner/date accountability.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Manual process dependency is the primary control risk.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Control design and ownership decisions in 2026 determine audit readiness in 2027.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 dated remediation cadence is required now, not post-selection.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71C22D-C163-BA2A-87FA-E657810B138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B9CCA-C1A4-ADAB-8792-D33DFC00BCC3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Audit Committee focus</a:t>
            </a:r>
          </a:p>
        </p:txBody>
      </p:sp>
    </p:spTree>
    <p:extLst>
      <p:ext uri="{BB962C8B-B14F-4D97-AF65-F5344CB8AC3E}">
        <p14:creationId xmlns:p14="http://schemas.microsoft.com/office/powerpoint/2010/main" val="241979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AE12-00BF-B7A0-5680-4DE00BCC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Current Control Posture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EAC62-79BA-6EE7-39E1-FBB0CB9B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Core P2P, reporting, and reconciliation activities remain heavily manual.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Control evidence and traceability are inconsistent across systems.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Legacy process design increases key-person and timing risk.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Current posture is not scalable for future filing scrutiny.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2FCF1-CF0D-5FFF-8321-A29153317DA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94FA9-160B-918A-72DD-C3988BDAFDE4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Baseline | Visual: risk-baseline</a:t>
            </a:r>
          </a:p>
        </p:txBody>
      </p:sp>
    </p:spTree>
    <p:extLst>
      <p:ext uri="{BB962C8B-B14F-4D97-AF65-F5344CB8AC3E}">
        <p14:creationId xmlns:p14="http://schemas.microsoft.com/office/powerpoint/2010/main" val="275231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C339-5121-CE84-4794-D0FFEDF31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Priority Control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5E01A-52A6-D242-2743-A85663DDD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P2P workflow approvals and evidence capture are fragmented.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Reporting and bridge processes are manual and consultant-dependent.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Integration monitoring/failure procedures are not standardized by owner.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US/France process divergence increases close and control complexity.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9568F9-886E-170B-B159-A6F2112D4D1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A2D32-06C5-D52F-F800-CB07E0594F65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Gaps | Visual: gap-table</a:t>
            </a:r>
          </a:p>
        </p:txBody>
      </p:sp>
    </p:spTree>
    <p:extLst>
      <p:ext uri="{BB962C8B-B14F-4D97-AF65-F5344CB8AC3E}">
        <p14:creationId xmlns:p14="http://schemas.microsoft.com/office/powerpoint/2010/main" val="192273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5D67-EA10-3C78-257B-8BFF2BFB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Target Control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3B164-E844-7872-59D7-DA375D046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Embed approvals, role controls, and audit logging in-system.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Standardize feed ownership, monitoring, and failure escalation.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Create traceable flow from transaction initiation to filing support.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Align entity-level variations under a common control framework.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C9A552-61D3-6C3B-EBE2-63FA36A97782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8EF9E-E296-D978-972C-45D41437EA0C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Target | Visual: control-architecture</a:t>
            </a:r>
          </a:p>
        </p:txBody>
      </p:sp>
    </p:spTree>
    <p:extLst>
      <p:ext uri="{BB962C8B-B14F-4D97-AF65-F5344CB8AC3E}">
        <p14:creationId xmlns:p14="http://schemas.microsoft.com/office/powerpoint/2010/main" val="346827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C9CF-B1CC-BE87-85A9-BDE580B8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Remediation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374A1-99A0-65FA-2793-ED5A41263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Single deficiency register with severity, owner, due date, and status.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Weekly remediation governance with monthly audit committee rollup.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ERP milestones tied to control-closure checkpoints.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Escalation triggered on slippage against critical controls.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C240C-EA9A-F546-FFD5-FCCF48259D0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B3B6A-3468-6D4E-BC2E-88E80D7CDD42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Remediation | Visual: roadmap</a:t>
            </a:r>
          </a:p>
        </p:txBody>
      </p:sp>
    </p:spTree>
    <p:extLst>
      <p:ext uri="{BB962C8B-B14F-4D97-AF65-F5344CB8AC3E}">
        <p14:creationId xmlns:p14="http://schemas.microsoft.com/office/powerpoint/2010/main" val="285010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1FD5-8339-DC0D-514B-2B7170F4B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Audit Committee 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68A26-FD9C-EB77-CC9E-65CE6DC32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Endorse control-by-design as non-negotiable ERP principle.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Require owner/date accountability on top control gaps.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Approve monthly remediation reporting format and cadence.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Authorize fast-track support where controls threaten timeline.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0877D1-8277-8D2F-4AC4-BE227938E21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147040-C58C-8B88-D67F-69FF064BF8A0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Ask | Visual: decision</a:t>
            </a:r>
          </a:p>
        </p:txBody>
      </p:sp>
    </p:spTree>
    <p:extLst>
      <p:ext uri="{BB962C8B-B14F-4D97-AF65-F5344CB8AC3E}">
        <p14:creationId xmlns:p14="http://schemas.microsoft.com/office/powerpoint/2010/main" val="138896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8BEB-EF10-682C-E297-C2E5DF62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Audit Committee Decision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2E2B4-F385-C6B0-64F8-75379CB53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control-by-design standard for ERP blueprint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owner and due-date accountability on top gaps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monthly remediation reporting cadence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Escalate slippage on critical controls within 5 business days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D2DB8-7305-7C93-EBF6-40F1DC33721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48FD2-A26E-9E2E-474D-6A59857D8231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Approval and governance asks</a:t>
            </a:r>
          </a:p>
        </p:txBody>
      </p:sp>
    </p:spTree>
    <p:extLst>
      <p:ext uri="{BB962C8B-B14F-4D97-AF65-F5344CB8AC3E}">
        <p14:creationId xmlns:p14="http://schemas.microsoft.com/office/powerpoint/2010/main" val="372049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On-screen Show (16:10)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Audit Committee ERP Controls Readout</vt:lpstr>
      <vt:lpstr>Executive Frame</vt:lpstr>
      <vt:lpstr>Current Control Posture</vt:lpstr>
      <vt:lpstr>Priority Control Gaps</vt:lpstr>
      <vt:lpstr>Target Control Model</vt:lpstr>
      <vt:lpstr>Remediation Governance</vt:lpstr>
      <vt:lpstr>Audit Committee Ask</vt:lpstr>
      <vt:lpstr>Audit Committee Decision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Markman</dc:creator>
  <cp:lastModifiedBy>Michael Markman</cp:lastModifiedBy>
  <cp:revision>1</cp:revision>
  <dcterms:created xsi:type="dcterms:W3CDTF">2026-03-06T15:27:04Z</dcterms:created>
  <dcterms:modified xsi:type="dcterms:W3CDTF">2026-03-06T15:27:04Z</dcterms:modified>
</cp:coreProperties>
</file>