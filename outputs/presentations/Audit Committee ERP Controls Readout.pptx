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715000" type="screen16x10"/>
  <p:notesSz cx="6858000" cy="9144000"/>
  <p:defaultTextStyle>
    <a:defPPr>
      <a:defRPr lang="en-US"/>
    </a:defPPr>
    <a:lvl1pPr marL="0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1pPr>
    <a:lvl2pPr marL="356616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2pPr>
    <a:lvl3pPr marL="713232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3pPr>
    <a:lvl4pPr marL="1069848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4pPr>
    <a:lvl5pPr marL="1426464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5pPr>
    <a:lvl6pPr marL="1783080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6pPr>
    <a:lvl7pPr marL="2139696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7pPr>
    <a:lvl8pPr marL="2496312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8pPr>
    <a:lvl9pPr marL="2852928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154" autoAdjust="0"/>
    <p:restoredTop sz="94660"/>
  </p:normalViewPr>
  <p:slideViewPr>
    <p:cSldViewPr snapToGrid="0">
      <p:cViewPr varScale="1">
        <p:scale>
          <a:sx n="179" d="100"/>
          <a:sy n="179" d="100"/>
        </p:scale>
        <p:origin x="8910" y="1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8A608-02FC-4185-2409-D1C59DAF8E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935302"/>
            <a:ext cx="6858000" cy="19896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9CE9EB-E698-B0A2-598F-81ACA1462B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001698"/>
            <a:ext cx="6858000" cy="137980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1A7221-6FFD-71C8-3B69-98C323E93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4524F2-94AE-4F02-A263-0FAFB634DA2C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9345F6-345E-950B-880D-69E072642B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63D015-E942-E615-2974-4032B3811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25933-F36B-49D1-9260-CF8A2871E7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0011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5075DC-CC02-268F-9CA3-2AAA367B4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869BAD-2679-0B8D-1362-CE991C3DAB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485648-406D-63FD-6B86-BDEBFEA44F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4524F2-94AE-4F02-A263-0FAFB634DA2C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15D693-8842-DAEF-F3D5-FFEDC40913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948652-F230-EB48-D06A-766B92A20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25933-F36B-49D1-9260-CF8A2871E7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1249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FFE700-F7DC-923D-02E1-3AF10A1567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424782"/>
            <a:ext cx="7886700" cy="2377281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D3D21-CD0F-937C-9CB4-7F158FA3F3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824553"/>
            <a:ext cx="7886700" cy="1250156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463DDA-E253-CFEC-EA0E-C4968C33C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4524F2-94AE-4F02-A263-0FAFB634DA2C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0FA94D-9433-9B09-040C-EA43463BC3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AD7E21-83A8-6ED5-A526-DCD193A33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25933-F36B-49D1-9260-CF8A2871E7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11934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8AC9F5-B752-2E53-75D4-301C13FEF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CD0D02-1D26-776D-6CFA-52F1D3DF4D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521354"/>
            <a:ext cx="3886200" cy="362611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DD6D85-7C1F-4861-0D96-07DDE48B13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521354"/>
            <a:ext cx="3886200" cy="362611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8D4F78-7A6F-B6FE-7544-C0F2617F8F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4524F2-94AE-4F02-A263-0FAFB634DA2C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339E30-9F7A-48B7-A8BD-E6EB053924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CA1F0C-E1F7-D512-F028-1AEA09B91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25933-F36B-49D1-9260-CF8A2871E7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571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E50662-E6C4-AEC4-2283-FC800C025A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04271"/>
            <a:ext cx="7886700" cy="110463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C2270F-9CBA-7305-8BC2-2F3A8F9330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400969"/>
            <a:ext cx="3868340" cy="686593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F6E255-5412-68C8-D6A2-D1EA99A2BF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087563"/>
            <a:ext cx="3868340" cy="30704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BD5EF4-5727-7E55-503B-608AC416501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400969"/>
            <a:ext cx="3887391" cy="686593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AE5CDD-762A-7CE6-DAA6-839E5698246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087563"/>
            <a:ext cx="3887391" cy="30704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8A43D55-B966-75B6-AC19-CD2B985183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4524F2-94AE-4F02-A263-0FAFB634DA2C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84F514D-9070-41F6-077E-607766BEC4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FBB0FDE-3C0A-24A1-4B4F-5948B0555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25933-F36B-49D1-9260-CF8A2871E7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15231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ED9F9-A390-F1FB-11D5-0B9B65F975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B35888A-EC3B-3C31-4151-B21B40C697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4524F2-94AE-4F02-A263-0FAFB634DA2C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00FA376-969D-B370-B334-3A2DBA494F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20DFD9-329E-AD6D-DCBE-90D07CC95C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25933-F36B-49D1-9260-CF8A2871E7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82225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2D7DF01-A485-C2FB-178D-CFBC6E05FD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4524F2-94AE-4F02-A263-0FAFB634DA2C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F93E99-45E9-1B34-4C34-6313E00E7C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28C1D0-69D6-CF6F-B244-70770BCB15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25933-F36B-49D1-9260-CF8A2871E7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7783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69766C-1864-168E-AFA3-2D06B670C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C63872-A14E-75EF-407B-AAC4E72081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822855"/>
            <a:ext cx="4629150" cy="4061354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CCB82C-ECA1-5B56-2F73-5888ED29B0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714500"/>
            <a:ext cx="2949178" cy="3176323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043AC2-8D49-E5A0-D8A8-CE5D547077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4524F2-94AE-4F02-A263-0FAFB634DA2C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14A4B0-0362-423D-98D4-4D68308826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0FD0F7-6DCD-7162-2310-72EC8FE6B5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25933-F36B-49D1-9260-CF8A2871E7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4917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5FA817-AE53-77FE-5966-4511381080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793926D-89B4-096E-6459-52763B1800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822855"/>
            <a:ext cx="4629150" cy="4061354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048AAC-2F9F-55B5-5AD7-D9CDA6204F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714500"/>
            <a:ext cx="2949178" cy="3176323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A7F33F-812A-6979-8395-1A19B1C06A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4524F2-94AE-4F02-A263-0FAFB634DA2C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C25C23-10BA-C221-BEDF-81A2B2764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41CDC5-F2B1-FD95-AC7F-8EFF80A70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25933-F36B-49D1-9260-CF8A2871E7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8016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994B43-7368-CD12-6594-EDB68ABF82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8B5B35-934D-8FF7-C94F-90F0B5F0C0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476523-1FD9-08F9-7A98-2F55DF6C68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4524F2-94AE-4F02-A263-0FAFB634DA2C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BD3838-D72A-A1ED-E60E-FBF40103FD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BA63BF-6A99-87C6-6C2F-091C07A0D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25933-F36B-49D1-9260-CF8A2871E7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10179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13F70A5-D43E-7018-CA19-B4AA92F2F8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04271"/>
            <a:ext cx="1971675" cy="48431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DB7349-3887-4AD5-0B33-4AD1A7BA6B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04271"/>
            <a:ext cx="5800725" cy="484319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8136A6-8F69-8AC5-5393-CBCD8E9D5F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4524F2-94AE-4F02-A263-0FAFB634DA2C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F56064-68E3-56A7-4943-A5DB984C83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E9A259-DA76-F1E8-A676-B4463852F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25933-F36B-49D1-9260-CF8A2871E7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593900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58489E-75C0-47C9-28AC-80C472FB8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29C85A-2846-28B9-07D0-E1CE101D4F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7200EA-B45C-F348-F8B1-C16C8D919D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4524F2-94AE-4F02-A263-0FAFB634DA2C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9A2EAC-3A36-ECA6-6EA5-41C63C766D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75FF19-BDF4-6B77-E08B-65F16340D0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25933-F36B-49D1-9260-CF8A2871E7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8084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E885DB-363D-7079-32AD-EE7B4BEE7E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6350E9-73DB-727A-ED44-6A7F500CC9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521354"/>
            <a:ext cx="7886700" cy="36261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44D55E-5B35-7127-1934-BA31072F01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5296959"/>
            <a:ext cx="20574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4524F2-94AE-4F02-A263-0FAFB634DA2C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B07C4B-A668-45C0-DB2B-0E9C39EBD7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5296959"/>
            <a:ext cx="30861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320803-93D3-109A-1AD3-B5BEBE793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5296959"/>
            <a:ext cx="20574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925933-F36B-49D1-9260-CF8A2871E7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16783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D84E7A-2440-3EF1-8E51-AED0C7ABA5C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200" b="1">
                <a:solidFill>
                  <a:srgbClr val="FFFFFF"/>
                </a:solidFill>
                <a:latin typeface="Calibri" panose="020F0502020204030204" pitchFamily="34" charset="0"/>
              </a:rPr>
              <a:t>Audit Committee ERP Controls Readout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12182C-A5EE-2352-28BF-11A794644F7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>
                <a:solidFill>
                  <a:srgbClr val="DEDEDE"/>
                </a:solidFill>
                <a:latin typeface="Calibri" panose="020F0502020204030204" pitchFamily="34" charset="0"/>
              </a:rPr>
              <a:t>Audit Committee | 2026-03-19 (week)</a:t>
            </a:r>
          </a:p>
          <a:p>
            <a:r>
              <a:rPr lang="en-US">
                <a:solidFill>
                  <a:srgbClr val="DEDEDE"/>
                </a:solidFill>
                <a:latin typeface="Calibri" panose="020F0502020204030204" pitchFamily="34" charset="0"/>
              </a:rPr>
              <a:t>Owner: Mike Markman</a:t>
            </a:r>
          </a:p>
        </p:txBody>
      </p:sp>
    </p:spTree>
    <p:extLst>
      <p:ext uri="{BB962C8B-B14F-4D97-AF65-F5344CB8AC3E}">
        <p14:creationId xmlns:p14="http://schemas.microsoft.com/office/powerpoint/2010/main" val="8810370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319255-9588-CC3A-CF8E-94F3AAFBC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400" b="1">
                <a:solidFill>
                  <a:srgbClr val="FFFFFF"/>
                </a:solidFill>
                <a:latin typeface="Calibri" panose="020F0502020204030204" pitchFamily="34" charset="0"/>
              </a:rPr>
              <a:t>Executive Frame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064912-10E4-620A-F7AB-A7056BC7D5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Establish audit committee confidence that ERP delivery will close priority control gaps with owner/date accountability.</a:t>
            </a:r>
          </a:p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Manual process dependency is the primary control risk.</a:t>
            </a:r>
          </a:p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Control design and ownership decisions in 2026 determine audit readiness in 2027.</a:t>
            </a:r>
          </a:p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A dated remediation cadence is required now, not post-selection.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9742C3A-17F7-8AA5-DC83-4060B39D5683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28BA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057C0FA-667C-6CAD-4EBA-090E368B094B}"/>
              </a:ext>
            </a:extLst>
          </p:cNvPr>
          <p:cNvSpPr txBox="1"/>
          <p:nvPr/>
        </p:nvSpPr>
        <p:spPr>
          <a:xfrm>
            <a:off x="698500" y="1168400"/>
            <a:ext cx="10922000" cy="30841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400">
                <a:solidFill>
                  <a:srgbClr val="999999"/>
                </a:solidFill>
                <a:latin typeface="Calibri" panose="020F0502020204030204" pitchFamily="34" charset="0"/>
              </a:rPr>
              <a:t>Audit Committee focus</a:t>
            </a:r>
          </a:p>
        </p:txBody>
      </p:sp>
    </p:spTree>
    <p:extLst>
      <p:ext uri="{BB962C8B-B14F-4D97-AF65-F5344CB8AC3E}">
        <p14:creationId xmlns:p14="http://schemas.microsoft.com/office/powerpoint/2010/main" val="27643342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DA354-4FC6-517D-A11D-EC4A23EEE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400" b="1">
                <a:solidFill>
                  <a:srgbClr val="FFFFFF"/>
                </a:solidFill>
                <a:latin typeface="Calibri" panose="020F0502020204030204" pitchFamily="34" charset="0"/>
              </a:rPr>
              <a:t>Current Control Posture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46CC3D-C648-5C89-9E00-CD883094EE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Core P2P, reporting, and reconciliation activities remain heavily manual.</a:t>
            </a:r>
          </a:p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Control evidence and traceability are inconsistent across systems.</a:t>
            </a:r>
          </a:p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Legacy process design increases key-person and timing risk.</a:t>
            </a:r>
          </a:p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Current posture is not scalable for future filing scrutiny.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8702780-4CEC-5EDD-DB45-EFD1529BD416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28BA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7B39A9-65E1-2143-5AF9-D0C2C9AEDC50}"/>
              </a:ext>
            </a:extLst>
          </p:cNvPr>
          <p:cNvSpPr txBox="1"/>
          <p:nvPr/>
        </p:nvSpPr>
        <p:spPr>
          <a:xfrm>
            <a:off x="698500" y="1168400"/>
            <a:ext cx="10922000" cy="30841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400">
                <a:solidFill>
                  <a:srgbClr val="999999"/>
                </a:solidFill>
                <a:latin typeface="Calibri" panose="020F0502020204030204" pitchFamily="34" charset="0"/>
              </a:rPr>
              <a:t>Baseline | Visual: risk-baseline</a:t>
            </a:r>
          </a:p>
        </p:txBody>
      </p:sp>
    </p:spTree>
    <p:extLst>
      <p:ext uri="{BB962C8B-B14F-4D97-AF65-F5344CB8AC3E}">
        <p14:creationId xmlns:p14="http://schemas.microsoft.com/office/powerpoint/2010/main" val="32339222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62E765-AE42-A3E4-AAC0-ABB1C28F0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400" b="1">
                <a:solidFill>
                  <a:srgbClr val="FFFFFF"/>
                </a:solidFill>
                <a:latin typeface="Calibri" panose="020F0502020204030204" pitchFamily="34" charset="0"/>
              </a:rPr>
              <a:t>Priority Control Gaps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07A9DB-F72E-D548-1240-BE1C54F0C9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P2P workflow approvals and evidence capture are fragmented.</a:t>
            </a:r>
          </a:p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Reporting and bridge processes are manual and consultant-dependent.</a:t>
            </a:r>
          </a:p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Integration monitoring/failure procedures are not standardized by owner.</a:t>
            </a:r>
          </a:p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US/France process divergence increases close and control complexity.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DE415C8-980A-0408-B0ED-857F2C1231F8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28BA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532BE5-DF21-837D-CB4F-833ABEE339DC}"/>
              </a:ext>
            </a:extLst>
          </p:cNvPr>
          <p:cNvSpPr txBox="1"/>
          <p:nvPr/>
        </p:nvSpPr>
        <p:spPr>
          <a:xfrm>
            <a:off x="698500" y="1168400"/>
            <a:ext cx="10922000" cy="30841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400">
                <a:solidFill>
                  <a:srgbClr val="999999"/>
                </a:solidFill>
                <a:latin typeface="Calibri" panose="020F0502020204030204" pitchFamily="34" charset="0"/>
              </a:rPr>
              <a:t>Gaps | Visual: gap-table</a:t>
            </a:r>
          </a:p>
        </p:txBody>
      </p:sp>
    </p:spTree>
    <p:extLst>
      <p:ext uri="{BB962C8B-B14F-4D97-AF65-F5344CB8AC3E}">
        <p14:creationId xmlns:p14="http://schemas.microsoft.com/office/powerpoint/2010/main" val="2895673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59F15A-EEC5-DED6-8109-ECAAE4B58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400" b="1">
                <a:solidFill>
                  <a:srgbClr val="FFFFFF"/>
                </a:solidFill>
                <a:latin typeface="Calibri" panose="020F0502020204030204" pitchFamily="34" charset="0"/>
              </a:rPr>
              <a:t>Target Control Model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3F8A96-C492-C07B-FBCB-5D009BD458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Embed approvals, role controls, and audit logging in-system.</a:t>
            </a:r>
          </a:p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Standardize feed ownership, monitoring, and failure escalation.</a:t>
            </a:r>
          </a:p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Create traceable flow from transaction initiation to filing support.</a:t>
            </a:r>
          </a:p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Align entity-level variations under a common control framework.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9391F3C-64A8-08BD-E452-37DAEBEECD2F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28BA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E4E54C-31DD-AB12-F7A2-6090201091CF}"/>
              </a:ext>
            </a:extLst>
          </p:cNvPr>
          <p:cNvSpPr txBox="1"/>
          <p:nvPr/>
        </p:nvSpPr>
        <p:spPr>
          <a:xfrm>
            <a:off x="698500" y="1168400"/>
            <a:ext cx="10922000" cy="30841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400">
                <a:solidFill>
                  <a:srgbClr val="999999"/>
                </a:solidFill>
                <a:latin typeface="Calibri" panose="020F0502020204030204" pitchFamily="34" charset="0"/>
              </a:rPr>
              <a:t>Target | Visual: control-architecture</a:t>
            </a:r>
          </a:p>
        </p:txBody>
      </p:sp>
    </p:spTree>
    <p:extLst>
      <p:ext uri="{BB962C8B-B14F-4D97-AF65-F5344CB8AC3E}">
        <p14:creationId xmlns:p14="http://schemas.microsoft.com/office/powerpoint/2010/main" val="27160506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867780-9A87-121F-8263-E1C2B4D04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400" b="1">
                <a:solidFill>
                  <a:srgbClr val="FFFFFF"/>
                </a:solidFill>
                <a:latin typeface="Calibri" panose="020F0502020204030204" pitchFamily="34" charset="0"/>
              </a:rPr>
              <a:t>Remediation Governance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7603B2-CC29-9ABC-9CC6-32B29EE283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Single deficiency register with severity, owner, due date, and status.</a:t>
            </a:r>
          </a:p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Weekly remediation governance with monthly audit committee rollup.</a:t>
            </a:r>
          </a:p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ERP milestones tied to control-closure checkpoints.</a:t>
            </a:r>
          </a:p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Escalation triggered on slippage against critical controls.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7252B9-3351-4019-56A4-F11244B7E598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28BA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4931D6-FD97-515B-7008-6B59653D48AF}"/>
              </a:ext>
            </a:extLst>
          </p:cNvPr>
          <p:cNvSpPr txBox="1"/>
          <p:nvPr/>
        </p:nvSpPr>
        <p:spPr>
          <a:xfrm>
            <a:off x="698500" y="1168400"/>
            <a:ext cx="10922000" cy="30841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400">
                <a:solidFill>
                  <a:srgbClr val="999999"/>
                </a:solidFill>
                <a:latin typeface="Calibri" panose="020F0502020204030204" pitchFamily="34" charset="0"/>
              </a:rPr>
              <a:t>Remediation | Visual: roadmap</a:t>
            </a:r>
          </a:p>
        </p:txBody>
      </p:sp>
    </p:spTree>
    <p:extLst>
      <p:ext uri="{BB962C8B-B14F-4D97-AF65-F5344CB8AC3E}">
        <p14:creationId xmlns:p14="http://schemas.microsoft.com/office/powerpoint/2010/main" val="15397145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D0D83-260D-267D-DB52-EA6FD533C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400" b="1">
                <a:solidFill>
                  <a:srgbClr val="FFFFFF"/>
                </a:solidFill>
                <a:latin typeface="Calibri" panose="020F0502020204030204" pitchFamily="34" charset="0"/>
              </a:rPr>
              <a:t>Audit Committee Ask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7369B5-E519-C9E2-89A8-9CDFEA9A6A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Endorse control-by-design as non-negotiable ERP principle.</a:t>
            </a:r>
          </a:p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Require owner/date accountability on top control gaps.</a:t>
            </a:r>
          </a:p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Approve monthly remediation reporting format and cadence.</a:t>
            </a:r>
          </a:p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Authorize fast-track support where controls threaten timeline.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343FEC6-DE6E-1A07-A687-E58A01571206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28BA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9C6976-AE36-DEF3-EA54-8483CD72DACD}"/>
              </a:ext>
            </a:extLst>
          </p:cNvPr>
          <p:cNvSpPr txBox="1"/>
          <p:nvPr/>
        </p:nvSpPr>
        <p:spPr>
          <a:xfrm>
            <a:off x="698500" y="1168400"/>
            <a:ext cx="10922000" cy="30841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400">
                <a:solidFill>
                  <a:srgbClr val="999999"/>
                </a:solidFill>
                <a:latin typeface="Calibri" panose="020F0502020204030204" pitchFamily="34" charset="0"/>
              </a:rPr>
              <a:t>Ask | Visual: decision</a:t>
            </a:r>
          </a:p>
        </p:txBody>
      </p:sp>
    </p:spTree>
    <p:extLst>
      <p:ext uri="{BB962C8B-B14F-4D97-AF65-F5344CB8AC3E}">
        <p14:creationId xmlns:p14="http://schemas.microsoft.com/office/powerpoint/2010/main" val="7527579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B0B10-4C96-501E-4A7A-BDC5961E57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400" b="1">
                <a:solidFill>
                  <a:srgbClr val="FFFFFF"/>
                </a:solidFill>
                <a:latin typeface="Calibri" panose="020F0502020204030204" pitchFamily="34" charset="0"/>
              </a:rPr>
              <a:t>Audit Committee Decision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6F26B9-8C4C-EDCC-F617-FCE9A43499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Confirm control-by-design standard for ERP blueprint</a:t>
            </a:r>
          </a:p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Confirm owner and due-date accountability on top gaps</a:t>
            </a:r>
          </a:p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Confirm monthly remediation reporting cadence</a:t>
            </a:r>
          </a:p>
          <a:p>
            <a:r>
              <a:rPr lang="en-US" sz="2200">
                <a:solidFill>
                  <a:srgbClr val="F0F0F0"/>
                </a:solidFill>
                <a:latin typeface="Calibri" panose="020F0502020204030204" pitchFamily="34" charset="0"/>
              </a:rPr>
              <a:t>Escalate slippage on critical controls within 5 business days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B3440A-E0A3-A684-27CD-2122D8EC3491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28BA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3D817D-7607-1388-60A9-41ECCE988DD8}"/>
              </a:ext>
            </a:extLst>
          </p:cNvPr>
          <p:cNvSpPr txBox="1"/>
          <p:nvPr/>
        </p:nvSpPr>
        <p:spPr>
          <a:xfrm>
            <a:off x="698500" y="1168400"/>
            <a:ext cx="10922000" cy="30841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400">
                <a:solidFill>
                  <a:srgbClr val="999999"/>
                </a:solidFill>
                <a:latin typeface="Calibri" panose="020F0502020204030204" pitchFamily="34" charset="0"/>
              </a:rPr>
              <a:t>Approval and governance asks</a:t>
            </a:r>
          </a:p>
        </p:txBody>
      </p:sp>
    </p:spTree>
    <p:extLst>
      <p:ext uri="{BB962C8B-B14F-4D97-AF65-F5344CB8AC3E}">
        <p14:creationId xmlns:p14="http://schemas.microsoft.com/office/powerpoint/2010/main" val="15551271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337</Words>
  <Application>Microsoft Office PowerPoint</Application>
  <PresentationFormat>On-screen Show (16:10)</PresentationFormat>
  <Paragraphs>45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Calibri</vt:lpstr>
      <vt:lpstr>Office Theme</vt:lpstr>
      <vt:lpstr>Audit Committee ERP Controls Readout</vt:lpstr>
      <vt:lpstr>Executive Frame</vt:lpstr>
      <vt:lpstr>Current Control Posture</vt:lpstr>
      <vt:lpstr>Priority Control Gaps</vt:lpstr>
      <vt:lpstr>Target Control Model</vt:lpstr>
      <vt:lpstr>Remediation Governance</vt:lpstr>
      <vt:lpstr>Audit Committee Ask</vt:lpstr>
      <vt:lpstr>Audit Committee Decision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Michael Markman</dc:creator>
  <cp:lastModifiedBy>Michael Markman</cp:lastModifiedBy>
  <cp:revision>1</cp:revision>
  <dcterms:created xsi:type="dcterms:W3CDTF">2026-02-26T16:21:22Z</dcterms:created>
  <dcterms:modified xsi:type="dcterms:W3CDTF">2026-02-26T16:21:22Z</dcterms:modified>
</cp:coreProperties>
</file>