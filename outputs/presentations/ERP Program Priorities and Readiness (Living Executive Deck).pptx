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4" autoAdjust="0"/>
    <p:restoredTop sz="94660"/>
  </p:normalViewPr>
  <p:slideViewPr>
    <p:cSldViewPr snapToGrid="0">
      <p:cViewPr varScale="1">
        <p:scale>
          <a:sx n="179" d="100"/>
          <a:sy n="179" d="100"/>
        </p:scale>
        <p:origin x="891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AF43A-2709-BEEE-D42C-AB54BCEDB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B119B0-A3E2-9B94-2EBB-2F1610F2E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60A41-5402-84B8-96DA-DDB68729D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6710F-2C14-4418-B4CA-0F3FCA2B7E6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6BE23-20D1-9A4C-9FD8-985969B54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C5A05-1963-67B7-865E-7FA2FCFA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EAA-1C57-41E7-916C-DA50141B2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9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883BF-034E-14D1-A975-D0181F81D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61FA6-2C9E-CA0F-503A-E1BD75DDD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9A96D-4795-378F-8976-F03BBFDF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6710F-2C14-4418-B4CA-0F3FCA2B7E6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E2C90-0C01-CC9D-CB4A-4B0E8BBC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D4933-BB0F-A67D-EE16-1137EA8F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EAA-1C57-41E7-916C-DA50141B2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9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66E6-5A0A-1A4D-ECAA-3D4A0618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AB73E-7200-8A27-5DB9-650020A45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C15C9-7F55-CA57-091B-B448A7CF6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6710F-2C14-4418-B4CA-0F3FCA2B7E6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3B0FD-F839-9DD6-C007-F0BD57EE7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1A78E-AC08-1648-5108-C7071BA31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EAA-1C57-41E7-916C-DA50141B2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5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5CE45-2FDC-25D7-E8A0-310C8486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0AD18-9CF5-FEE3-E18E-5F3CB17CF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9643F-22EB-E6AD-1038-A56BED78F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3DC4A-0EEB-388B-00EC-7258AC4F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6710F-2C14-4418-B4CA-0F3FCA2B7E6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03F77-8FD8-2EBC-C895-0441D8149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D3AC1-0F44-107A-6F65-627967044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EAA-1C57-41E7-916C-DA50141B2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7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E2486-757D-92ED-4E71-3CF4EADEA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D8D6C-EDE8-F7BF-BD35-D281B9BCA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A1B57-45E6-340A-C88C-2D368CD00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8AD236-4898-7818-7ACA-CAAC3D669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151D2B-FD78-3995-2578-1C630A4545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CDD571-02F0-9A6F-1846-7216BC6AC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6710F-2C14-4418-B4CA-0F3FCA2B7E6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07DE1-1BEB-CA29-1345-3B6F3425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C7D2C8-A64D-A06D-124E-F261A538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EAA-1C57-41E7-916C-DA50141B2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88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E98C-21A9-11CD-20C2-2CFBE525E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BAB7AD-6DB2-428D-EE2C-0E358585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6710F-2C14-4418-B4CA-0F3FCA2B7E6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DB82C4-E2D1-D333-4BF8-C12A4B75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0BC8B-D918-756E-3BDF-186734599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EAA-1C57-41E7-916C-DA50141B2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97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62397-71CD-F862-8989-9BA7C1B38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6710F-2C14-4418-B4CA-0F3FCA2B7E6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413660-660E-1089-F064-6DBF5C9F1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EFDBF-695E-D2A8-1C91-455D056D6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EAA-1C57-41E7-916C-DA50141B2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81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6BD5-9393-ACF4-8C3E-D1006DFDC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FFD04-D82D-9439-7F0D-E9228DCC8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8F1686-1465-7D1C-3D90-0CE6B8FB6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07DB7-7146-78D9-2A47-A8D447B80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6710F-2C14-4418-B4CA-0F3FCA2B7E6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36C25-ACA4-806B-5BAF-77F3DBA78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CC4F3-CCF8-E27E-C2CF-645C2D51F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EAA-1C57-41E7-916C-DA50141B2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2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BA734-74DE-6B09-CE0C-05BD21FFE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14B646-3508-FB50-2844-B328600F1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B28D1-C50D-74C4-74E5-432041363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D5F47-97C6-2E85-BC86-508ACA4D1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6710F-2C14-4418-B4CA-0F3FCA2B7E6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83CFB-A484-23B9-4BC6-1BB15F9A1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55C57-B979-BE45-8EA7-7AC126DCB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EAA-1C57-41E7-916C-DA50141B2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93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9603B-DF0E-8AF2-8DC5-10B222A4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BB0BD-4E58-9B14-DBA1-B2910C3FB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41F1E-8366-0A06-81BE-E54BF23D4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6710F-2C14-4418-B4CA-0F3FCA2B7E6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C71C2-2DB2-F04E-3E2D-C6E8944FF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4276E-C7DC-9D89-44D8-4337B113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EAA-1C57-41E7-916C-DA50141B2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14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041BCB-6014-4FB5-72D4-0843952552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CAFD8F-CA21-45CD-35B1-BAA0C9E24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77777-953A-9C23-4A24-9AC7D433D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6710F-2C14-4418-B4CA-0F3FCA2B7E6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8DD28-9199-AAC1-D3CC-19EE696C2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EC909-450A-6FD6-CDFF-03820AC6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EAA-1C57-41E7-916C-DA50141B2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18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F547-4E0E-042A-99CC-191B337AA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97E3F-54C3-8166-B10E-DAB984F4A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16EB9-636B-8E9D-91AA-EC46CA819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6710F-2C14-4418-B4CA-0F3FCA2B7E6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162A5-251A-61DC-582C-795DD7EAF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9D377-A0FD-D315-B0C0-05F8E60C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EAA-1C57-41E7-916C-DA50141B2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3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2D04B4-6DCE-F593-8B5D-9CCFAC335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FF62A-E22D-25EA-9A66-C88FBDFCB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60303-E04A-D8BC-6C4E-8E41DBB187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F6710F-2C14-4418-B4CA-0F3FCA2B7E6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6B4D7-FD53-20EA-33D0-7A8CA64F1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5EF59-FCAB-4B57-37CC-11D4189A0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0E7EAA-1C57-41E7-916C-DA50141B2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93059-D830-D167-A0F3-049C8B8BB5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200" b="1">
                <a:solidFill>
                  <a:srgbClr val="FFFFFF"/>
                </a:solidFill>
                <a:latin typeface="Calibri" panose="020F0502020204030204" pitchFamily="34" charset="0"/>
              </a:rPr>
              <a:t>ERP Program Priorities and Readiness (Living Executive Deck)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E54950-97DC-BE5F-3ADA-8101D79007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DEDEDE"/>
                </a:solidFill>
                <a:latin typeface="Calibri" panose="020F0502020204030204" pitchFamily="34" charset="0"/>
              </a:rPr>
              <a:t>Executive / Board (broad) | Rolling (update weekly)</a:t>
            </a:r>
          </a:p>
          <a:p>
            <a:r>
              <a:rPr lang="en-US">
                <a:solidFill>
                  <a:srgbClr val="DEDEDE"/>
                </a:solidFill>
                <a:latin typeface="Calibri" panose="020F0502020204030204" pitchFamily="34" charset="0"/>
              </a:rPr>
              <a:t>Owner: Mike Markman</a:t>
            </a:r>
          </a:p>
        </p:txBody>
      </p:sp>
    </p:spTree>
    <p:extLst>
      <p:ext uri="{BB962C8B-B14F-4D97-AF65-F5344CB8AC3E}">
        <p14:creationId xmlns:p14="http://schemas.microsoft.com/office/powerpoint/2010/main" val="1690277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AF4-6D09-C302-A16F-544C2C029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Executive Frame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A7275-5367-80FE-6652-43B88F7D9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Maintain a continuously updated executive-level program deck that clearly communicates ERP priorities (P2P, Reporting, Controls), readiness posture, major decisions, and delivery risk as the program evolves.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The ERP program is a business operating-model and controls program, not only a system replacement.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Progress and risks should be reported consistently across P2P, reporting/data, and controls/auditability.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Executive governance quality and resourcing discipline determine delivery confidence more than vendor feature marketing.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6AEFCE-45A5-9EB9-BA53-D3F3CBB40F69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1777F0-6AF7-64DB-8644-4E324F8D8C9C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Executive / Board (broad) focus</a:t>
            </a:r>
          </a:p>
        </p:txBody>
      </p:sp>
    </p:spTree>
    <p:extLst>
      <p:ext uri="{BB962C8B-B14F-4D97-AF65-F5344CB8AC3E}">
        <p14:creationId xmlns:p14="http://schemas.microsoft.com/office/powerpoint/2010/main" val="1128114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6D9D6-D7B8-9A94-796A-D9AE86BCD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ERP Program Mandate and Why It Matters Now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A2069-1A86-C67E-0429-C6C1D544E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ERP/SOX is a 2026 finance priority with direct executive sponsorship.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The program is foundational to scaling finance and controls toward commercialization.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Near-term decisions should optimize execution certainty and governance, not feature theater.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F496F3-A769-B466-6D69-F9D8FEF790B3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04582-0FAC-2323-E82D-5966664BBC3A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Executive Framing | Visual: headline + context bar</a:t>
            </a:r>
          </a:p>
        </p:txBody>
      </p:sp>
    </p:spTree>
    <p:extLst>
      <p:ext uri="{BB962C8B-B14F-4D97-AF65-F5344CB8AC3E}">
        <p14:creationId xmlns:p14="http://schemas.microsoft.com/office/powerpoint/2010/main" val="1648794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4F860-D831-CCDF-AA57-3E249A4B7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Three ERP Priorities (P2P, Reporting, Controls)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3612A-E0CC-0F0C-C699-5F25E2CD6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P2P / Transaction Operations: modernize workflows, approvals, and payment control path.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Financial Reporting / Data Model: improve multi-entity, multi-GAAP, and management reporting capability.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SOX / Controls / Auditability: design traceable, testable controls and evidence retention into the future-state operating model.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6FF34B-1468-CCF3-2830-8FC19BB8DB2A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763B98-30CA-417A-D1C5-385716DED9C5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Program Focus | Visual: 3-pillar scorecard</a:t>
            </a:r>
          </a:p>
        </p:txBody>
      </p:sp>
    </p:spTree>
    <p:extLst>
      <p:ext uri="{BB962C8B-B14F-4D97-AF65-F5344CB8AC3E}">
        <p14:creationId xmlns:p14="http://schemas.microsoft.com/office/powerpoint/2010/main" val="226963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8A38-2E44-9AC3-83F1-C0DB16CBA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Baseline Reality: Manual Complexity and Control Risk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B0A73-34BD-55EF-C5D5-20FB26E33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Current workflows are fragmented across multiple systems with manual handoffs.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Reporting and bridge processes remain heavily spreadsheet/KPMG dependent.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Control evidence and ownership are inconsistent, creating scaling and audit risk.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665CC4-B260-6913-5F23-187646967820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D2F72-510C-A733-5299-CB477A1F83A6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Current State | Visual: current-state swimlane pair + pain callouts</a:t>
            </a:r>
          </a:p>
        </p:txBody>
      </p:sp>
    </p:spTree>
    <p:extLst>
      <p:ext uri="{BB962C8B-B14F-4D97-AF65-F5344CB8AC3E}">
        <p14:creationId xmlns:p14="http://schemas.microsoft.com/office/powerpoint/2010/main" val="3606562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25D6C-665C-1453-60B4-713193B95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Program Readiness, Open Decisions, and Resourcing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48D3B-55FF-80A9-691E-17A7BB7A4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Separate completed selection work from unresolved delivery/governance decisions.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Show owner-dated actions required in next 30/60/90 days.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Explicitly call out capacity constraints and mitigation plan by function.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C8E46A-8998-881E-8CC2-A85C5B48925C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2C1A5-13CF-47CE-97D2-21DEE5516528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Readiness | Visual: traffic-light + owner/date table</a:t>
            </a:r>
          </a:p>
        </p:txBody>
      </p:sp>
    </p:spTree>
    <p:extLst>
      <p:ext uri="{BB962C8B-B14F-4D97-AF65-F5344CB8AC3E}">
        <p14:creationId xmlns:p14="http://schemas.microsoft.com/office/powerpoint/2010/main" val="438156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5E5D0-1FC5-29A6-0E20-1957AD0B8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What Executives Should Review Each Update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AE540-E7D5-3F64-548D-4EB650CC2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Changes since last update (net-new evidence, decisions, risks).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Pillar status summary with confidence and major blockers.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Decision requests and milestone outlook with accountable owners.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1E6A25-7711-D6B2-0DF9-2011B30E6B4C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F6FE67-EA2D-F332-AFC9-08C3BD8CB9C3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Governance | Visual: recurring dashboard layout</a:t>
            </a:r>
          </a:p>
        </p:txBody>
      </p:sp>
    </p:spTree>
    <p:extLst>
      <p:ext uri="{BB962C8B-B14F-4D97-AF65-F5344CB8AC3E}">
        <p14:creationId xmlns:p14="http://schemas.microsoft.com/office/powerpoint/2010/main" val="3040694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8CBBD-1A38-44C3-7C39-872B75BFF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Board Decision and Actions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A4296-E60C-1927-35F3-0D94EB5CF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Confirm selection direction and implementation posture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Confirm staffing commitments for design/build/cutover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Confirm governance cadence through go-live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Authorize immediate closure of critical execution risks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B97B55-E7CE-B1B5-D454-EE85A1EF5861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7F832-9162-8063-8961-EA8A22AB5B94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Approval and governance asks</a:t>
            </a:r>
          </a:p>
        </p:txBody>
      </p:sp>
    </p:spTree>
    <p:extLst>
      <p:ext uri="{BB962C8B-B14F-4D97-AF65-F5344CB8AC3E}">
        <p14:creationId xmlns:p14="http://schemas.microsoft.com/office/powerpoint/2010/main" val="2387202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Microsoft Office PowerPoint</Application>
  <PresentationFormat>On-screen Show (16:10)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ERP Program Priorities and Readiness (Living Executive Deck)</vt:lpstr>
      <vt:lpstr>Executive Frame</vt:lpstr>
      <vt:lpstr>ERP Program Mandate and Why It Matters Now</vt:lpstr>
      <vt:lpstr>Three ERP Priorities (P2P, Reporting, Controls)</vt:lpstr>
      <vt:lpstr>Baseline Reality: Manual Complexity and Control Risk</vt:lpstr>
      <vt:lpstr>Program Readiness, Open Decisions, and Resourcing</vt:lpstr>
      <vt:lpstr>What Executives Should Review Each Update</vt:lpstr>
      <vt:lpstr>Board Decision and Actions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Markman</dc:creator>
  <cp:lastModifiedBy>Michael Markman</cp:lastModifiedBy>
  <cp:revision>1</cp:revision>
  <dcterms:created xsi:type="dcterms:W3CDTF">2026-02-26T15:37:46Z</dcterms:created>
  <dcterms:modified xsi:type="dcterms:W3CDTF">2026-02-26T15:37:46Z</dcterms:modified>
</cp:coreProperties>
</file>